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CABCED-DC03-4397-A074-A5D1FA4069AE}" v="33" dt="2026-09-26T15:20:21.7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70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YAN123 SAHU" userId="3dec31793afa8dc6" providerId="LiveId" clId="{5CEBEB97-9768-4C71-99BC-FB249B8C6A36}"/>
    <pc:docChg chg="undo custSel delSld modSld">
      <pc:chgData name="ARYAN123 SAHU" userId="3dec31793afa8dc6" providerId="LiveId" clId="{5CEBEB97-9768-4C71-99BC-FB249B8C6A36}" dt="2026-09-27T07:51:00.237" v="565" actId="14100"/>
      <pc:docMkLst>
        <pc:docMk/>
      </pc:docMkLst>
      <pc:sldChg chg="addSp delSp modSp mod">
        <pc:chgData name="ARYAN123 SAHU" userId="3dec31793afa8dc6" providerId="LiveId" clId="{5CEBEB97-9768-4C71-99BC-FB249B8C6A36}" dt="2026-09-26T15:44:32.476" v="564" actId="20577"/>
        <pc:sldMkLst>
          <pc:docMk/>
          <pc:sldMk cId="0" sldId="281"/>
        </pc:sldMkLst>
        <pc:spChg chg="add del">
          <ac:chgData name="ARYAN123 SAHU" userId="3dec31793afa8dc6" providerId="LiveId" clId="{5CEBEB97-9768-4C71-99BC-FB249B8C6A36}" dt="2026-09-26T13:43:11.384" v="287" actId="11529"/>
          <ac:spMkLst>
            <pc:docMk/>
            <pc:sldMk cId="0" sldId="281"/>
            <ac:spMk id="2" creationId="{EC672146-358B-1E25-A1D4-886291408F7A}"/>
          </ac:spMkLst>
        </pc:spChg>
        <pc:spChg chg="add del mod">
          <ac:chgData name="ARYAN123 SAHU" userId="3dec31793afa8dc6" providerId="LiveId" clId="{5CEBEB97-9768-4C71-99BC-FB249B8C6A36}" dt="2026-09-26T15:44:32.476" v="564" actId="20577"/>
          <ac:spMkLst>
            <pc:docMk/>
            <pc:sldMk cId="0" sldId="281"/>
            <ac:spMk id="3" creationId="{46D0E1B9-6A84-BA9C-A87B-74FF1721BAFE}"/>
          </ac:spMkLst>
        </pc:spChg>
        <pc:spChg chg="add del">
          <ac:chgData name="ARYAN123 SAHU" userId="3dec31793afa8dc6" providerId="LiveId" clId="{5CEBEB97-9768-4C71-99BC-FB249B8C6A36}" dt="2026-09-26T15:13:37.171" v="308" actId="11529"/>
          <ac:spMkLst>
            <pc:docMk/>
            <pc:sldMk cId="0" sldId="281"/>
            <ac:spMk id="4" creationId="{27C96C38-EE06-9E1A-9969-A102A09817E1}"/>
          </ac:spMkLst>
        </pc:spChg>
        <pc:spChg chg="add del mod">
          <ac:chgData name="ARYAN123 SAHU" userId="3dec31793afa8dc6" providerId="LiveId" clId="{5CEBEB97-9768-4C71-99BC-FB249B8C6A36}" dt="2026-09-26T15:14:30.580" v="316" actId="21"/>
          <ac:spMkLst>
            <pc:docMk/>
            <pc:sldMk cId="0" sldId="281"/>
            <ac:spMk id="5" creationId="{B6D50280-DA23-181C-6660-D91477480BCC}"/>
          </ac:spMkLst>
        </pc:spChg>
        <pc:spChg chg="add del">
          <ac:chgData name="ARYAN123 SAHU" userId="3dec31793afa8dc6" providerId="LiveId" clId="{5CEBEB97-9768-4C71-99BC-FB249B8C6A36}" dt="2026-09-26T15:14:25.554" v="314" actId="11529"/>
          <ac:spMkLst>
            <pc:docMk/>
            <pc:sldMk cId="0" sldId="281"/>
            <ac:spMk id="8" creationId="{65667EEB-B63B-5132-13F6-3C0C33EA7781}"/>
          </ac:spMkLst>
        </pc:spChg>
        <pc:spChg chg="add mod">
          <ac:chgData name="ARYAN123 SAHU" userId="3dec31793afa8dc6" providerId="LiveId" clId="{5CEBEB97-9768-4C71-99BC-FB249B8C6A36}" dt="2026-09-26T15:26:22.368" v="474" actId="207"/>
          <ac:spMkLst>
            <pc:docMk/>
            <pc:sldMk cId="0" sldId="281"/>
            <ac:spMk id="12" creationId="{4BE21E8C-12B1-11CD-33E8-71FF996AD98C}"/>
          </ac:spMkLst>
        </pc:spChg>
        <pc:spChg chg="add mod">
          <ac:chgData name="ARYAN123 SAHU" userId="3dec31793afa8dc6" providerId="LiveId" clId="{5CEBEB97-9768-4C71-99BC-FB249B8C6A36}" dt="2026-09-26T15:26:27.655" v="475" actId="207"/>
          <ac:spMkLst>
            <pc:docMk/>
            <pc:sldMk cId="0" sldId="281"/>
            <ac:spMk id="14" creationId="{0E28FC56-FB8D-85C4-AC7C-398B81C48EC2}"/>
          </ac:spMkLst>
        </pc:spChg>
        <pc:spChg chg="add del">
          <ac:chgData name="ARYAN123 SAHU" userId="3dec31793afa8dc6" providerId="LiveId" clId="{5CEBEB97-9768-4C71-99BC-FB249B8C6A36}" dt="2026-09-26T15:15:20.133" v="324" actId="11529"/>
          <ac:spMkLst>
            <pc:docMk/>
            <pc:sldMk cId="0" sldId="281"/>
            <ac:spMk id="15" creationId="{E06E2769-1D24-338D-0849-6986DEB22F34}"/>
          </ac:spMkLst>
        </pc:spChg>
        <pc:spChg chg="add mod">
          <ac:chgData name="ARYAN123 SAHU" userId="3dec31793afa8dc6" providerId="LiveId" clId="{5CEBEB97-9768-4C71-99BC-FB249B8C6A36}" dt="2026-09-26T15:28:33.758" v="497" actId="1076"/>
          <ac:spMkLst>
            <pc:docMk/>
            <pc:sldMk cId="0" sldId="281"/>
            <ac:spMk id="16" creationId="{60AAB1A7-E21D-E958-8562-E50040A5D015}"/>
          </ac:spMkLst>
        </pc:spChg>
        <pc:spChg chg="add mod">
          <ac:chgData name="ARYAN123 SAHU" userId="3dec31793afa8dc6" providerId="LiveId" clId="{5CEBEB97-9768-4C71-99BC-FB249B8C6A36}" dt="2026-09-26T15:28:37.554" v="498" actId="1076"/>
          <ac:spMkLst>
            <pc:docMk/>
            <pc:sldMk cId="0" sldId="281"/>
            <ac:spMk id="18" creationId="{D244A848-D5EB-6A1C-5108-76D0620D5839}"/>
          </ac:spMkLst>
        </pc:spChg>
        <pc:spChg chg="add mod">
          <ac:chgData name="ARYAN123 SAHU" userId="3dec31793afa8dc6" providerId="LiveId" clId="{5CEBEB97-9768-4C71-99BC-FB249B8C6A36}" dt="2026-09-26T15:28:40.700" v="499" actId="1076"/>
          <ac:spMkLst>
            <pc:docMk/>
            <pc:sldMk cId="0" sldId="281"/>
            <ac:spMk id="20" creationId="{FCDAB89E-44BA-B9D2-C2AF-2AE0AC55DCA1}"/>
          </ac:spMkLst>
        </pc:spChg>
        <pc:spChg chg="add del">
          <ac:chgData name="ARYAN123 SAHU" userId="3dec31793afa8dc6" providerId="LiveId" clId="{5CEBEB97-9768-4C71-99BC-FB249B8C6A36}" dt="2026-09-26T15:24:14.483" v="466" actId="11529"/>
          <ac:spMkLst>
            <pc:docMk/>
            <pc:sldMk cId="0" sldId="281"/>
            <ac:spMk id="21" creationId="{470C272D-4195-241D-A2D4-5223AFAF38C1}"/>
          </ac:spMkLst>
        </pc:spChg>
        <pc:spChg chg="add del">
          <ac:chgData name="ARYAN123 SAHU" userId="3dec31793afa8dc6" providerId="LiveId" clId="{5CEBEB97-9768-4C71-99BC-FB249B8C6A36}" dt="2026-09-26T15:24:52.957" v="468" actId="11529"/>
          <ac:spMkLst>
            <pc:docMk/>
            <pc:sldMk cId="0" sldId="281"/>
            <ac:spMk id="22" creationId="{9B2406BA-0961-FDB2-5FCB-B6C9A31E108F}"/>
          </ac:spMkLst>
        </pc:spChg>
        <pc:spChg chg="add mod">
          <ac:chgData name="ARYAN123 SAHU" userId="3dec31793afa8dc6" providerId="LiveId" clId="{5CEBEB97-9768-4C71-99BC-FB249B8C6A36}" dt="2026-09-26T15:28:54.749" v="500" actId="14100"/>
          <ac:spMkLst>
            <pc:docMk/>
            <pc:sldMk cId="0" sldId="281"/>
            <ac:spMk id="23" creationId="{EBF0EE69-72A6-9359-8950-4BB3A2307110}"/>
          </ac:spMkLst>
        </pc:spChg>
        <pc:spChg chg="add mod">
          <ac:chgData name="ARYAN123 SAHU" userId="3dec31793afa8dc6" providerId="LiveId" clId="{5CEBEB97-9768-4C71-99BC-FB249B8C6A36}" dt="2026-09-26T15:29:00.179" v="501" actId="1076"/>
          <ac:spMkLst>
            <pc:docMk/>
            <pc:sldMk cId="0" sldId="281"/>
            <ac:spMk id="24" creationId="{A7A7121F-3834-0B5F-2B5F-EE102B184FC1}"/>
          </ac:spMkLst>
        </pc:spChg>
        <pc:spChg chg="mod">
          <ac:chgData name="ARYAN123 SAHU" userId="3dec31793afa8dc6" providerId="LiveId" clId="{5CEBEB97-9768-4C71-99BC-FB249B8C6A36}" dt="2026-09-26T13:42:06.647" v="283" actId="255"/>
          <ac:spMkLst>
            <pc:docMk/>
            <pc:sldMk cId="0" sldId="281"/>
            <ac:spMk id="15361" creationId="{00000000-0000-0000-0000-000000000000}"/>
          </ac:spMkLst>
        </pc:spChg>
        <pc:spChg chg="del mod">
          <ac:chgData name="ARYAN123 SAHU" userId="3dec31793afa8dc6" providerId="LiveId" clId="{5CEBEB97-9768-4C71-99BC-FB249B8C6A36}" dt="2026-09-26T13:42:28.486" v="285"/>
          <ac:spMkLst>
            <pc:docMk/>
            <pc:sldMk cId="0" sldId="281"/>
            <ac:spMk id="15362" creationId="{00000000-0000-0000-0000-000000000000}"/>
          </ac:spMkLst>
        </pc:spChg>
        <pc:picChg chg="mod">
          <ac:chgData name="ARYAN123 SAHU" userId="3dec31793afa8dc6" providerId="LiveId" clId="{5CEBEB97-9768-4C71-99BC-FB249B8C6A36}" dt="2026-09-26T15:28:11.471" v="496" actId="14100"/>
          <ac:picMkLst>
            <pc:docMk/>
            <pc:sldMk cId="0" sldId="281"/>
            <ac:picMk id="11" creationId="{00000000-0000-0000-0000-000000000000}"/>
          </ac:picMkLst>
        </pc:picChg>
        <pc:picChg chg="add del">
          <ac:chgData name="ARYAN123 SAHU" userId="3dec31793afa8dc6" providerId="LiveId" clId="{5CEBEB97-9768-4C71-99BC-FB249B8C6A36}" dt="2026-09-26T12:11:27.063" v="9" actId="478"/>
          <ac:picMkLst>
            <pc:docMk/>
            <pc:sldMk cId="0" sldId="281"/>
            <ac:picMk id="12" creationId="{2BE09C0F-617B-4B78-91E2-BA0CBC59A7AF}"/>
          </ac:picMkLst>
        </pc:picChg>
      </pc:sldChg>
      <pc:sldChg chg="addSp delSp">
        <pc:chgData name="ARYAN123 SAHU" userId="3dec31793afa8dc6" providerId="LiveId" clId="{5CEBEB97-9768-4C71-99BC-FB249B8C6A36}" dt="2026-09-26T12:11:30.609" v="10" actId="478"/>
        <pc:sldMkLst>
          <pc:docMk/>
          <pc:sldMk cId="0" sldId="290"/>
        </pc:sldMkLst>
        <pc:picChg chg="add del">
          <ac:chgData name="ARYAN123 SAHU" userId="3dec31793afa8dc6" providerId="LiveId" clId="{5CEBEB97-9768-4C71-99BC-FB249B8C6A36}" dt="2026-09-26T12:11:30.609" v="10" actId="478"/>
          <ac:picMkLst>
            <pc:docMk/>
            <pc:sldMk cId="0" sldId="290"/>
            <ac:picMk id="9" creationId="{0C916F30-8F55-484A-B509-A1A7E82E1DE4}"/>
          </ac:picMkLst>
        </pc:picChg>
      </pc:sldChg>
      <pc:sldChg chg="addSp delSp modSp mod">
        <pc:chgData name="ARYAN123 SAHU" userId="3dec31793afa8dc6" providerId="LiveId" clId="{5CEBEB97-9768-4C71-99BC-FB249B8C6A36}" dt="2026-09-27T07:51:00.237" v="565" actId="14100"/>
        <pc:sldMkLst>
          <pc:docMk/>
          <pc:sldMk cId="0" sldId="291"/>
        </pc:sldMkLst>
        <pc:spChg chg="add del mod">
          <ac:chgData name="ARYAN123 SAHU" userId="3dec31793afa8dc6" providerId="LiveId" clId="{5CEBEB97-9768-4C71-99BC-FB249B8C6A36}" dt="2026-09-26T13:12:49.734" v="272"/>
          <ac:spMkLst>
            <pc:docMk/>
            <pc:sldMk cId="0" sldId="291"/>
            <ac:spMk id="3" creationId="{D7190847-D28B-213C-0E0E-91CCC57108BD}"/>
          </ac:spMkLst>
        </pc:spChg>
        <pc:spChg chg="del mod">
          <ac:chgData name="ARYAN123 SAHU" userId="3dec31793afa8dc6" providerId="LiveId" clId="{5CEBEB97-9768-4C71-99BC-FB249B8C6A36}" dt="2026-09-26T13:11:46.517" v="261" actId="478"/>
          <ac:spMkLst>
            <pc:docMk/>
            <pc:sldMk cId="0" sldId="291"/>
            <ac:spMk id="4" creationId="{00000000-0000-0000-0000-000000000000}"/>
          </ac:spMkLst>
        </pc:spChg>
        <pc:spChg chg="mod">
          <ac:chgData name="ARYAN123 SAHU" userId="3dec31793afa8dc6" providerId="LiveId" clId="{5CEBEB97-9768-4C71-99BC-FB249B8C6A36}" dt="2026-09-26T13:12:46.808" v="270" actId="207"/>
          <ac:spMkLst>
            <pc:docMk/>
            <pc:sldMk cId="0" sldId="291"/>
            <ac:spMk id="8" creationId="{00000000-0000-0000-0000-000000000000}"/>
          </ac:spMkLst>
        </pc:spChg>
        <pc:spChg chg="mod">
          <ac:chgData name="ARYAN123 SAHU" userId="3dec31793afa8dc6" providerId="LiveId" clId="{5CEBEB97-9768-4C71-99BC-FB249B8C6A36}" dt="2026-09-26T13:10:42.762" v="256" actId="207"/>
          <ac:spMkLst>
            <pc:docMk/>
            <pc:sldMk cId="0" sldId="291"/>
            <ac:spMk id="10" creationId="{00000000-0000-0000-0000-000000000000}"/>
          </ac:spMkLst>
        </pc:spChg>
        <pc:picChg chg="mod">
          <ac:chgData name="ARYAN123 SAHU" userId="3dec31793afa8dc6" providerId="LiveId" clId="{5CEBEB97-9768-4C71-99BC-FB249B8C6A36}" dt="2026-09-27T07:51:00.237" v="565" actId="14100"/>
          <ac:picMkLst>
            <pc:docMk/>
            <pc:sldMk cId="0" sldId="291"/>
            <ac:picMk id="5" creationId="{9120848B-B2B4-45BE-A961-AEC0B06CF41B}"/>
          </ac:picMkLst>
        </pc:picChg>
        <pc:picChg chg="add del">
          <ac:chgData name="ARYAN123 SAHU" userId="3dec31793afa8dc6" providerId="LiveId" clId="{5CEBEB97-9768-4C71-99BC-FB249B8C6A36}" dt="2026-09-26T12:11:22.923" v="8" actId="478"/>
          <ac:picMkLst>
            <pc:docMk/>
            <pc:sldMk cId="0" sldId="291"/>
            <ac:picMk id="11" creationId="{F9FB5B73-D3AA-4E05-BE36-1752F7062681}"/>
          </ac:picMkLst>
        </pc:picChg>
      </pc:sldChg>
      <pc:sldChg chg="addSp delSp">
        <pc:chgData name="ARYAN123 SAHU" userId="3dec31793afa8dc6" providerId="LiveId" clId="{5CEBEB97-9768-4C71-99BC-FB249B8C6A36}" dt="2026-09-26T12:11:34.154" v="11" actId="478"/>
        <pc:sldMkLst>
          <pc:docMk/>
          <pc:sldMk cId="3753387913" sldId="293"/>
        </pc:sldMkLst>
        <pc:picChg chg="add del">
          <ac:chgData name="ARYAN123 SAHU" userId="3dec31793afa8dc6" providerId="LiveId" clId="{5CEBEB97-9768-4C71-99BC-FB249B8C6A36}" dt="2026-09-26T12:11:34.154" v="11" actId="478"/>
          <ac:picMkLst>
            <pc:docMk/>
            <pc:sldMk cId="3753387913" sldId="293"/>
            <ac:picMk id="9" creationId="{5DED807E-1EB1-4BF0-B896-7ABF0A786640}"/>
          </ac:picMkLst>
        </pc:picChg>
      </pc:sldChg>
      <pc:sldChg chg="delSp">
        <pc:chgData name="ARYAN123 SAHU" userId="3dec31793afa8dc6" providerId="LiveId" clId="{5CEBEB97-9768-4C71-99BC-FB249B8C6A36}" dt="2026-09-26T12:11:37.354" v="12" actId="478"/>
        <pc:sldMkLst>
          <pc:docMk/>
          <pc:sldMk cId="2997144140" sldId="294"/>
        </pc:sldMkLst>
        <pc:picChg chg="del">
          <ac:chgData name="ARYAN123 SAHU" userId="3dec31793afa8dc6" providerId="LiveId" clId="{5CEBEB97-9768-4C71-99BC-FB249B8C6A36}" dt="2026-09-26T12:11:37.354" v="12" actId="478"/>
          <ac:picMkLst>
            <pc:docMk/>
            <pc:sldMk cId="2997144140" sldId="294"/>
            <ac:picMk id="9" creationId="{380F3E00-5B46-42A0-A890-47AC05309301}"/>
          </ac:picMkLst>
        </pc:picChg>
      </pc:sldChg>
      <pc:sldChg chg="delSp">
        <pc:chgData name="ARYAN123 SAHU" userId="3dec31793afa8dc6" providerId="LiveId" clId="{5CEBEB97-9768-4C71-99BC-FB249B8C6A36}" dt="2026-09-26T12:11:40.760" v="13" actId="478"/>
        <pc:sldMkLst>
          <pc:docMk/>
          <pc:sldMk cId="3916788613" sldId="296"/>
        </pc:sldMkLst>
        <pc:picChg chg="del">
          <ac:chgData name="ARYAN123 SAHU" userId="3dec31793afa8dc6" providerId="LiveId" clId="{5CEBEB97-9768-4C71-99BC-FB249B8C6A36}" dt="2026-09-26T12:11:40.760" v="13" actId="478"/>
          <ac:picMkLst>
            <pc:docMk/>
            <pc:sldMk cId="3916788613" sldId="296"/>
            <ac:picMk id="11" creationId="{0B4E903E-6224-4327-84B7-A72A06F39DB4}"/>
          </ac:picMkLst>
        </pc:picChg>
      </pc:sldChg>
      <pc:sldChg chg="delSp modSp del mod">
        <pc:chgData name="ARYAN123 SAHU" userId="3dec31793afa8dc6" providerId="LiveId" clId="{5CEBEB97-9768-4C71-99BC-FB249B8C6A36}" dt="2026-09-26T12:12:30.076" v="32" actId="2696"/>
        <pc:sldMkLst>
          <pc:docMk/>
          <pc:sldMk cId="1588084416" sldId="297"/>
        </pc:sldMkLst>
        <pc:spChg chg="del">
          <ac:chgData name="ARYAN123 SAHU" userId="3dec31793afa8dc6" providerId="LiveId" clId="{5CEBEB97-9768-4C71-99BC-FB249B8C6A36}" dt="2026-09-26T12:11:55.988" v="17" actId="478"/>
          <ac:spMkLst>
            <pc:docMk/>
            <pc:sldMk cId="1588084416" sldId="297"/>
            <ac:spMk id="3" creationId="{00000000-0000-0000-0000-000000000000}"/>
          </ac:spMkLst>
        </pc:spChg>
        <pc:spChg chg="del mod">
          <ac:chgData name="ARYAN123 SAHU" userId="3dec31793afa8dc6" providerId="LiveId" clId="{5CEBEB97-9768-4C71-99BC-FB249B8C6A36}" dt="2026-09-26T12:12:08.101" v="30" actId="478"/>
          <ac:spMkLst>
            <pc:docMk/>
            <pc:sldMk cId="1588084416" sldId="297"/>
            <ac:spMk id="4" creationId="{00000000-0000-0000-0000-000000000000}"/>
          </ac:spMkLst>
        </pc:spChg>
        <pc:spChg chg="del mod">
          <ac:chgData name="ARYAN123 SAHU" userId="3dec31793afa8dc6" providerId="LiveId" clId="{5CEBEB97-9768-4C71-99BC-FB249B8C6A36}" dt="2026-09-26T12:12:00.044" v="19" actId="478"/>
          <ac:spMkLst>
            <pc:docMk/>
            <pc:sldMk cId="1588084416" sldId="297"/>
            <ac:spMk id="5" creationId="{00000000-0000-0000-0000-000000000000}"/>
          </ac:spMkLst>
        </pc:spChg>
        <pc:spChg chg="del">
          <ac:chgData name="ARYAN123 SAHU" userId="3dec31793afa8dc6" providerId="LiveId" clId="{5CEBEB97-9768-4C71-99BC-FB249B8C6A36}" dt="2026-09-26T12:12:23.224" v="31" actId="478"/>
          <ac:spMkLst>
            <pc:docMk/>
            <pc:sldMk cId="1588084416" sldId="297"/>
            <ac:spMk id="6" creationId="{00000000-0000-0000-0000-000000000000}"/>
          </ac:spMkLst>
        </pc:spChg>
        <pc:spChg chg="del">
          <ac:chgData name="ARYAN123 SAHU" userId="3dec31793afa8dc6" providerId="LiveId" clId="{5CEBEB97-9768-4C71-99BC-FB249B8C6A36}" dt="2026-09-26T12:12:23.224" v="31" actId="478"/>
          <ac:spMkLst>
            <pc:docMk/>
            <pc:sldMk cId="1588084416" sldId="297"/>
            <ac:spMk id="7" creationId="{00000000-0000-0000-0000-000000000000}"/>
          </ac:spMkLst>
        </pc:spChg>
        <pc:spChg chg="del">
          <ac:chgData name="ARYAN123 SAHU" userId="3dec31793afa8dc6" providerId="LiveId" clId="{5CEBEB97-9768-4C71-99BC-FB249B8C6A36}" dt="2026-09-26T12:12:23.224" v="31" actId="478"/>
          <ac:spMkLst>
            <pc:docMk/>
            <pc:sldMk cId="1588084416" sldId="297"/>
            <ac:spMk id="10" creationId="{AD4F69D3-EEB0-4C4C-9434-B9960FB5854C}"/>
          </ac:spMkLst>
        </pc:spChg>
        <pc:spChg chg="del mod">
          <ac:chgData name="ARYAN123 SAHU" userId="3dec31793afa8dc6" providerId="LiveId" clId="{5CEBEB97-9768-4C71-99BC-FB249B8C6A36}" dt="2026-09-26T12:11:53.991" v="16" actId="478"/>
          <ac:spMkLst>
            <pc:docMk/>
            <pc:sldMk cId="1588084416" sldId="297"/>
            <ac:spMk id="12" creationId="{00000000-0000-0000-0000-000000000000}"/>
          </ac:spMkLst>
        </pc:spChg>
        <pc:picChg chg="del">
          <ac:chgData name="ARYAN123 SAHU" userId="3dec31793afa8dc6" providerId="LiveId" clId="{5CEBEB97-9768-4C71-99BC-FB249B8C6A36}" dt="2026-09-26T12:12:23.224" v="31" actId="478"/>
          <ac:picMkLst>
            <pc:docMk/>
            <pc:sldMk cId="1588084416" sldId="297"/>
            <ac:picMk id="13" creationId="{00000000-0000-0000-0000-000000000000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60163" y="2255255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778208" y="189132"/>
            <a:ext cx="7043789" cy="930922"/>
          </a:xfrm>
        </p:spPr>
        <p:txBody>
          <a:bodyPr/>
          <a:lstStyle/>
          <a:p>
            <a:r>
              <a:rPr lang="en-IN" sz="4000" dirty="0">
                <a:solidFill>
                  <a:schemeClr val="accent1"/>
                </a:solidFill>
              </a:rPr>
              <a:t>SMART INDIA HACKATHON 2026</a:t>
            </a:r>
            <a:endParaRPr lang="en-IN" sz="4000" b="1" dirty="0">
              <a:solidFill>
                <a:schemeClr val="accent1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</a:t>
            </a:r>
            <a:r>
              <a:rPr sz="1500" b="1">
                <a:solidFill>
                  <a:srgbClr val="000000"/>
                </a:solidFill>
                <a:latin typeface="Arial"/>
              </a:rPr>
              <a:t>Problem Statement ID : </a:t>
            </a:r>
            <a:r>
              <a:rPr sz="1500" b="0">
                <a:solidFill>
                  <a:srgbClr val="00B050"/>
                </a:solidFill>
                <a:latin typeface="Arial"/>
              </a:rPr>
              <a:t>26017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</a:t>
            </a:r>
            <a:r>
              <a:rPr sz="1500" b="1">
                <a:solidFill>
                  <a:srgbClr val="000000"/>
                </a:solidFill>
                <a:latin typeface="Arial"/>
              </a:rPr>
              <a:t>Problem Statement Title: </a:t>
            </a:r>
            <a:r>
              <a:rPr sz="1500" b="0">
                <a:solidFill>
                  <a:srgbClr val="00B050"/>
                </a:solidFill>
                <a:latin typeface="Arial"/>
              </a:rPr>
              <a:t>Predictive Analytics System for Early Detection of Land Acquisition Delays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</a:t>
            </a:r>
            <a:r>
              <a:rPr sz="1500" b="1">
                <a:solidFill>
                  <a:srgbClr val="000000"/>
                </a:solidFill>
                <a:latin typeface="Arial"/>
              </a:rPr>
              <a:t>Theme: </a:t>
            </a:r>
            <a:r>
              <a:rPr sz="1500" b="0">
                <a:solidFill>
                  <a:srgbClr val="00B050"/>
                </a:solidFill>
                <a:latin typeface="Arial"/>
              </a:rPr>
              <a:t>Smart Automation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</a:t>
            </a:r>
            <a:r>
              <a:rPr sz="1500" b="1">
                <a:solidFill>
                  <a:srgbClr val="000000"/>
                </a:solidFill>
                <a:latin typeface="Arial"/>
              </a:rPr>
              <a:t>PS Category: </a:t>
            </a:r>
            <a:r>
              <a:rPr sz="1500" b="0">
                <a:solidFill>
                  <a:srgbClr val="00B050"/>
                </a:solidFill>
                <a:latin typeface="Arial"/>
              </a:rPr>
              <a:t>Software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</a:t>
            </a:r>
            <a:r>
              <a:rPr sz="1500" b="1">
                <a:solidFill>
                  <a:srgbClr val="000000"/>
                </a:solidFill>
                <a:latin typeface="Arial"/>
              </a:rPr>
              <a:t>Team ID: </a:t>
            </a:r>
            <a:r>
              <a:rPr sz="1500" b="0">
                <a:solidFill>
                  <a:srgbClr val="00B050"/>
                </a:solidFill>
                <a:latin typeface="Arial"/>
              </a:rPr>
              <a:t>128333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</a:t>
            </a:r>
            <a:r>
              <a:rPr sz="1500" b="1">
                <a:solidFill>
                  <a:srgbClr val="000000"/>
                </a:solidFill>
                <a:latin typeface="Arial"/>
              </a:rPr>
              <a:t>Team Name: </a:t>
            </a:r>
            <a:r>
              <a:rPr sz="1500" b="0">
                <a:solidFill>
                  <a:srgbClr val="00B050"/>
                </a:solidFill>
                <a:latin typeface="Arial"/>
              </a:rPr>
              <a:t>FusionX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8552" y="25024"/>
            <a:ext cx="1971536" cy="9309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486526" y="80662"/>
            <a:ext cx="6251074" cy="1062337"/>
          </a:xfrm>
        </p:spPr>
        <p:txBody>
          <a:bodyPr/>
          <a:lstStyle/>
          <a:p>
            <a:pPr algn="l">
              <a:defRPr sz="2400" b="1">
                <a:solidFill>
                  <a:srgbClr val="003366"/>
                </a:solidFill>
                <a:latin typeface="Arial"/>
              </a:defRPr>
            </a:pPr>
            <a:r>
              <a:t>IDEA &amp; PROPOSED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560" y="1500"/>
            <a:ext cx="1453376" cy="68625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438912" y="1051560"/>
            <a:ext cx="2011680" cy="292608"/>
          </a:xfrm>
          <a:prstGeom prst="roundRect">
            <a:avLst/>
          </a:prstGeom>
          <a:solidFill>
            <a:srgbClr val="5A6B7C"/>
          </a:solidFill>
          <a:ln>
            <a:solidFill>
              <a:srgbClr val="46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PROBLEM EXISTING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438912" y="1371600"/>
            <a:ext cx="553212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>
              <a:spcBef>
                <a:spcPts val="200"/>
              </a:spcBef>
              <a:spcAft>
                <a:spcPts val="500"/>
              </a:spcAft>
            </a:pPr>
            <a:r>
              <a:rPr sz="1000" b="1">
                <a:solidFill>
                  <a:srgbClr val="0070C0"/>
                </a:solidFill>
                <a:latin typeface="Arial"/>
              </a:rPr>
              <a:t>➤  </a:t>
            </a:r>
            <a:r>
              <a:rPr sz="1000" b="1">
                <a:solidFill>
                  <a:srgbClr val="0070C0"/>
                </a:solidFill>
                <a:latin typeface="Arial"/>
              </a:rPr>
              <a:t>₹4,000+ Cr Escrow Lockup : </a:t>
            </a:r>
            <a:r>
              <a:rPr sz="950">
                <a:solidFill>
                  <a:srgbClr val="1E293B"/>
                </a:solidFill>
                <a:latin typeface="Arial"/>
              </a:rPr>
              <a:t>Sub-judice compensation under Section 3H stalls critical national corridors for 1,200+ days.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000" b="1">
                <a:solidFill>
                  <a:srgbClr val="0070C0"/>
                </a:solidFill>
                <a:latin typeface="Arial"/>
              </a:rPr>
              <a:t>➤  </a:t>
            </a:r>
            <a:r>
              <a:rPr sz="1000" b="1">
                <a:solidFill>
                  <a:srgbClr val="0070C0"/>
                </a:solidFill>
                <a:latin typeface="Arial"/>
              </a:rPr>
              <a:t>Section 3D Statutory Lapse : </a:t>
            </a:r>
            <a:r>
              <a:rPr sz="950">
                <a:solidFill>
                  <a:srgbClr val="1E293B"/>
                </a:solidFill>
                <a:latin typeface="Arial"/>
              </a:rPr>
              <a:t>Section 3A notifications automatically lapse at Day 365 if environmental/revenue clearances stall.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000" b="1">
                <a:solidFill>
                  <a:srgbClr val="0070C0"/>
                </a:solidFill>
                <a:latin typeface="Arial"/>
              </a:rPr>
              <a:t>➤  </a:t>
            </a:r>
            <a:r>
              <a:rPr sz="1000" b="1">
                <a:solidFill>
                  <a:srgbClr val="0070C0"/>
                </a:solidFill>
                <a:latin typeface="Arial"/>
              </a:rPr>
              <a:t>Disconnected Land Silos : </a:t>
            </a:r>
            <a:r>
              <a:rPr sz="950">
                <a:solidFill>
                  <a:srgbClr val="1E293B"/>
                </a:solidFill>
                <a:latin typeface="Arial"/>
              </a:rPr>
              <a:t>Gazette notices, e-Courts stays, cadastral Khasra maps, and civil road works operate in blind silos.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38912" y="2834640"/>
            <a:ext cx="2103120" cy="292608"/>
          </a:xfrm>
          <a:prstGeom prst="roundRect">
            <a:avLst/>
          </a:prstGeom>
          <a:solidFill>
            <a:srgbClr val="5A6B7C"/>
          </a:solidFill>
          <a:ln>
            <a:solidFill>
              <a:srgbClr val="46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PROPOSED SOLUTION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438912" y="3154680"/>
            <a:ext cx="5532120" cy="14447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>
              <a:spcBef>
                <a:spcPts val="200"/>
              </a:spcBef>
              <a:spcAft>
                <a:spcPts val="500"/>
              </a:spcAft>
            </a:pPr>
            <a:r>
              <a:rPr sz="1000" b="1">
                <a:solidFill>
                  <a:srgbClr val="0070C0"/>
                </a:solidFill>
                <a:latin typeface="Arial"/>
              </a:rPr>
              <a:t>➤  </a:t>
            </a:r>
            <a:r>
              <a:rPr sz="1000" b="1">
                <a:solidFill>
                  <a:srgbClr val="0070C0"/>
                </a:solidFill>
                <a:latin typeface="Arial"/>
              </a:rPr>
              <a:t>Decoupled Central DB (&lt;15ms) : </a:t>
            </a:r>
            <a:r>
              <a:rPr sz="950">
                <a:solidFill>
                  <a:srgbClr val="1E293B"/>
                </a:solidFill>
                <a:latin typeface="Arial"/>
              </a:rPr>
              <a:t>Pre-ingests 47 standardized statutory features across civil, revenue, and court databases.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000" b="1">
                <a:solidFill>
                  <a:srgbClr val="0070C0"/>
                </a:solidFill>
                <a:latin typeface="Arial"/>
              </a:rPr>
              <a:t>➤  </a:t>
            </a:r>
            <a:r>
              <a:rPr sz="1000" b="1">
                <a:solidFill>
                  <a:srgbClr val="0070C0"/>
                </a:solidFill>
                <a:latin typeface="Arial"/>
              </a:rPr>
              <a:t>Dual-Track Reality Engine : </a:t>
            </a:r>
            <a:r>
              <a:rPr sz="950">
                <a:solidFill>
                  <a:srgbClr val="1E293B"/>
                </a:solidFill>
                <a:latin typeface="Arial"/>
              </a:rPr>
              <a:t>Decouples physical civil road construction from court escrow disputes under Section 3D(2) vesting.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000" b="1">
                <a:solidFill>
                  <a:srgbClr val="0070C0"/>
                </a:solidFill>
                <a:latin typeface="Arial"/>
              </a:rPr>
              <a:t>➤  </a:t>
            </a:r>
            <a:r>
              <a:rPr sz="1000" b="1">
                <a:solidFill>
                  <a:srgbClr val="0070C0"/>
                </a:solidFill>
                <a:latin typeface="Arial"/>
              </a:rPr>
              <a:t>TreeSHAP Statutory XAI : </a:t>
            </a:r>
            <a:r>
              <a:rPr sz="950">
                <a:solidFill>
                  <a:srgbClr val="1E293B"/>
                </a:solidFill>
                <a:latin typeface="Arial"/>
              </a:rPr>
              <a:t>Quantifies exact additive day delays per bottleneck and automates pre-drafted DFA legal notices.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438912" y="4681728"/>
            <a:ext cx="2926080" cy="292608"/>
          </a:xfrm>
          <a:prstGeom prst="roundRect">
            <a:avLst/>
          </a:prstGeom>
          <a:solidFill>
            <a:srgbClr val="5A6B7C"/>
          </a:solidFill>
          <a:ln>
            <a:solidFill>
              <a:srgbClr val="46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UVP (UNIQUE VALUE PROPOSITION)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438912" y="5001768"/>
            <a:ext cx="5532120" cy="1417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>
              <a:spcBef>
                <a:spcPts val="200"/>
              </a:spcBef>
              <a:spcAft>
                <a:spcPts val="500"/>
              </a:spcAft>
            </a:pPr>
            <a:r>
              <a:rPr sz="1000" b="1">
                <a:solidFill>
                  <a:srgbClr val="0070C0"/>
                </a:solidFill>
                <a:latin typeface="Arial"/>
              </a:rPr>
              <a:t>➤  </a:t>
            </a:r>
            <a:r>
              <a:rPr sz="1000" b="1">
                <a:solidFill>
                  <a:srgbClr val="0070C0"/>
                </a:solidFill>
                <a:latin typeface="Arial"/>
              </a:rPr>
              <a:t>Constitutional HITL (Arts. 77 &amp; 166) : </a:t>
            </a:r>
            <a:r>
              <a:rPr sz="950">
                <a:solidFill>
                  <a:srgbClr val="1E293B"/>
                </a:solidFill>
                <a:latin typeface="Arial"/>
              </a:rPr>
              <a:t>Strict human-in-the-loop governance; zero auto-execution without Aadhaar DSC e-Sign.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000" b="1">
                <a:solidFill>
                  <a:srgbClr val="0070C0"/>
                </a:solidFill>
                <a:latin typeface="Arial"/>
              </a:rPr>
              <a:t>➤  </a:t>
            </a:r>
            <a:r>
              <a:rPr sz="1000" b="1">
                <a:solidFill>
                  <a:srgbClr val="0070C0"/>
                </a:solidFill>
                <a:latin typeface="Arial"/>
              </a:rPr>
              <a:t>340.8 km Interactive RoW GIS : </a:t>
            </a:r>
            <a:r>
              <a:rPr sz="950">
                <a:solidFill>
                  <a:srgbClr val="1E293B"/>
                </a:solidFill>
                <a:latin typeface="Arial"/>
              </a:rPr>
              <a:t>Hierarchical drill-down: Macro Alignment ➔ 8 Packages ➔ 156 Villages ➔ Khasra Plots.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000" b="1">
                <a:solidFill>
                  <a:srgbClr val="0070C0"/>
                </a:solidFill>
                <a:latin typeface="Arial"/>
              </a:rPr>
              <a:t>➤  </a:t>
            </a:r>
            <a:r>
              <a:rPr sz="1000" b="1">
                <a:solidFill>
                  <a:srgbClr val="0070C0"/>
                </a:solidFill>
                <a:latin typeface="Arial"/>
              </a:rPr>
              <a:t>SHA-256 Tamper-Proof Audit : </a:t>
            </a:r>
            <a:r>
              <a:rPr sz="950">
                <a:solidFill>
                  <a:srgbClr val="1E293B"/>
                </a:solidFill>
                <a:latin typeface="Arial"/>
              </a:rPr>
              <a:t>Cryptographic block hashing permanently seals all risk scores and SOP orders for CAG/CVC scrutiny.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6126480" y="1051560"/>
            <a:ext cx="5669280" cy="2697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TextBox 15368"/>
          <p:cNvSpPr txBox="1"/>
          <p:nvPr/>
        </p:nvSpPr>
        <p:spPr>
          <a:xfrm>
            <a:off x="6126480" y="1097280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Arial"/>
              </a:defRPr>
            </a:pPr>
            <a:r>
              <a:t>GATISHAKTI AI End-to-end workflow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6263640" y="1417320"/>
            <a:ext cx="960120" cy="365760"/>
          </a:xfrm>
          <a:prstGeom prst="roundRect">
            <a:avLst/>
          </a:prstGeom>
          <a:solidFill>
            <a:srgbClr val="F8BBD0"/>
          </a:solidFill>
          <a:ln w="127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880E4F"/>
                </a:solidFill>
              </a:defRPr>
            </a:pPr>
            <a:r>
              <a:t>Start Ingestion</a:t>
            </a:r>
          </a:p>
        </p:txBody>
      </p:sp>
      <p:sp>
        <p:nvSpPr>
          <p:cNvPr id="15371" name="Right Arrow 15370"/>
          <p:cNvSpPr/>
          <p:nvPr/>
        </p:nvSpPr>
        <p:spPr>
          <a:xfrm>
            <a:off x="7296912" y="1536192"/>
            <a:ext cx="201168" cy="128016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Rounded Rectangle 15371"/>
          <p:cNvSpPr/>
          <p:nvPr/>
        </p:nvSpPr>
        <p:spPr>
          <a:xfrm>
            <a:off x="7543800" y="1389888"/>
            <a:ext cx="1691640" cy="420624"/>
          </a:xfrm>
          <a:prstGeom prst="roundRect">
            <a:avLst/>
          </a:prstGeom>
          <a:solidFill>
            <a:srgbClr val="FFF9C4"/>
          </a:solidFill>
          <a:ln w="12700">
            <a:solidFill>
              <a:srgbClr val="FBC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5D4037"/>
                </a:solidFill>
              </a:defRPr>
            </a:pPr>
            <a:r>
              <a:t>Multi-Modal Ingestion</a:t>
            </a:r>
            <a:br/>
            <a:r>
              <a:t>(Gazette, e-Courts, Revenue)</a:t>
            </a:r>
          </a:p>
        </p:txBody>
      </p:sp>
      <p:sp>
        <p:nvSpPr>
          <p:cNvPr id="15373" name="Right Arrow 15372"/>
          <p:cNvSpPr/>
          <p:nvPr/>
        </p:nvSpPr>
        <p:spPr>
          <a:xfrm>
            <a:off x="9308592" y="1536192"/>
            <a:ext cx="201168" cy="128016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4" name="Rounded Rectangle 15373"/>
          <p:cNvSpPr/>
          <p:nvPr/>
        </p:nvSpPr>
        <p:spPr>
          <a:xfrm>
            <a:off x="9555480" y="1389888"/>
            <a:ext cx="1600200" cy="420624"/>
          </a:xfrm>
          <a:prstGeom prst="roundRect">
            <a:avLst/>
          </a:prstGeom>
          <a:solidFill>
            <a:srgbClr val="FFE082"/>
          </a:solidFill>
          <a:ln w="1270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3E2723"/>
                </a:solidFill>
              </a:defRPr>
            </a:pPr>
            <a:r>
              <a:t>Decoupled Central DB</a:t>
            </a:r>
            <a:br/>
            <a:r>
              <a:t>(47 Standardized Features)</a:t>
            </a:r>
          </a:p>
        </p:txBody>
      </p:sp>
      <p:sp>
        <p:nvSpPr>
          <p:cNvPr id="15375" name="Down Arrow 15374"/>
          <p:cNvSpPr/>
          <p:nvPr/>
        </p:nvSpPr>
        <p:spPr>
          <a:xfrm>
            <a:off x="10287000" y="1847088"/>
            <a:ext cx="128016" cy="164592"/>
          </a:xfrm>
          <a:prstGeom prst="down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Rounded Rectangle 15375"/>
          <p:cNvSpPr/>
          <p:nvPr/>
        </p:nvSpPr>
        <p:spPr>
          <a:xfrm>
            <a:off x="9400032" y="2048256"/>
            <a:ext cx="1828800" cy="402336"/>
          </a:xfrm>
          <a:prstGeom prst="roundRect">
            <a:avLst/>
          </a:prstGeom>
          <a:solidFill>
            <a:srgbClr val="FFE082"/>
          </a:solidFill>
          <a:ln w="1270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3E2723"/>
                </a:solidFill>
              </a:defRPr>
            </a:pPr>
            <a:r>
              <a:t>LightGBM + XGBoost Regressor</a:t>
            </a:r>
            <a:br/>
            <a:r>
              <a:t>(Predicts Residual Delay Days)</a:t>
            </a:r>
          </a:p>
        </p:txBody>
      </p:sp>
      <p:sp>
        <p:nvSpPr>
          <p:cNvPr id="15377" name="Left Arrow 15376"/>
          <p:cNvSpPr/>
          <p:nvPr/>
        </p:nvSpPr>
        <p:spPr>
          <a:xfrm>
            <a:off x="9162288" y="2176272"/>
            <a:ext cx="182880" cy="128016"/>
          </a:xfrm>
          <a:prstGeom prst="lef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8" name="Diamond 15377"/>
          <p:cNvSpPr/>
          <p:nvPr/>
        </p:nvSpPr>
        <p:spPr>
          <a:xfrm>
            <a:off x="7818120" y="1920240"/>
            <a:ext cx="1280160" cy="658368"/>
          </a:xfrm>
          <a:prstGeom prst="diamond">
            <a:avLst/>
          </a:prstGeom>
          <a:solidFill>
            <a:srgbClr val="1565C0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Delay Risk</a:t>
            </a:r>
            <a:br/>
            <a:r>
              <a:t>&gt; 60 Days?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7452360" y="199339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2E7D32"/>
                </a:solidFill>
              </a:defRPr>
            </a:pPr>
            <a:r>
              <a:t>No</a:t>
            </a:r>
          </a:p>
        </p:txBody>
      </p:sp>
      <p:sp>
        <p:nvSpPr>
          <p:cNvPr id="15380" name="Left Arrow 15379"/>
          <p:cNvSpPr/>
          <p:nvPr/>
        </p:nvSpPr>
        <p:spPr>
          <a:xfrm>
            <a:off x="7589520" y="2176272"/>
            <a:ext cx="182880" cy="128016"/>
          </a:xfrm>
          <a:prstGeom prst="leftArrow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1" name="Rounded Rectangle 15380"/>
          <p:cNvSpPr/>
          <p:nvPr/>
        </p:nvSpPr>
        <p:spPr>
          <a:xfrm>
            <a:off x="6263640" y="2048256"/>
            <a:ext cx="1280160" cy="402336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B5E20"/>
                </a:solidFill>
              </a:defRPr>
            </a:pPr>
            <a:r>
              <a:t>Fast-Track Notice</a:t>
            </a:r>
            <a:br/>
            <a:r>
              <a:t>(Sec 3A ➔ 3D)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8485632" y="24688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E65100"/>
                </a:solidFill>
              </a:defRPr>
            </a:pPr>
            <a:r>
              <a:t>Yes</a:t>
            </a:r>
          </a:p>
        </p:txBody>
      </p:sp>
      <p:sp>
        <p:nvSpPr>
          <p:cNvPr id="15383" name="Down Arrow 15382"/>
          <p:cNvSpPr/>
          <p:nvPr/>
        </p:nvSpPr>
        <p:spPr>
          <a:xfrm>
            <a:off x="8394192" y="2615184"/>
            <a:ext cx="128016" cy="164592"/>
          </a:xfrm>
          <a:prstGeom prst="downArrow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4" name="Rounded Rectangle 15383"/>
          <p:cNvSpPr/>
          <p:nvPr/>
        </p:nvSpPr>
        <p:spPr>
          <a:xfrm>
            <a:off x="6263640" y="2816352"/>
            <a:ext cx="1719072" cy="420624"/>
          </a:xfrm>
          <a:prstGeom prst="roundRect">
            <a:avLst/>
          </a:prstGeom>
          <a:solidFill>
            <a:srgbClr val="FFE0B2"/>
          </a:solidFill>
          <a:ln w="127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BF360C"/>
                </a:solidFill>
              </a:defRPr>
            </a:pPr>
            <a:r>
              <a:t>TreeSHAP Attribution</a:t>
            </a:r>
            <a:br/>
            <a:r>
              <a:t>+ Automated Legal DFA SOP</a:t>
            </a:r>
          </a:p>
        </p:txBody>
      </p:sp>
      <p:sp>
        <p:nvSpPr>
          <p:cNvPr id="15385" name="Right Arrow 15384"/>
          <p:cNvSpPr/>
          <p:nvPr/>
        </p:nvSpPr>
        <p:spPr>
          <a:xfrm>
            <a:off x="8046720" y="2962656"/>
            <a:ext cx="182880" cy="128016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6" name="Rounded Rectangle 15385"/>
          <p:cNvSpPr/>
          <p:nvPr/>
        </p:nvSpPr>
        <p:spPr>
          <a:xfrm>
            <a:off x="8275320" y="2816352"/>
            <a:ext cx="1783080" cy="420624"/>
          </a:xfrm>
          <a:prstGeom prst="roundRect">
            <a:avLst/>
          </a:prstGeom>
          <a:solidFill>
            <a:srgbClr val="FFECB3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4E342E"/>
                </a:solidFill>
              </a:defRPr>
            </a:pPr>
            <a:r>
              <a:t>Officer HITL Review</a:t>
            </a:r>
            <a:br/>
            <a:r>
              <a:t>+ Aadhaar DSC e-Sign</a:t>
            </a:r>
          </a:p>
        </p:txBody>
      </p:sp>
      <p:sp>
        <p:nvSpPr>
          <p:cNvPr id="15387" name="Right Arrow 15386"/>
          <p:cNvSpPr/>
          <p:nvPr/>
        </p:nvSpPr>
        <p:spPr>
          <a:xfrm>
            <a:off x="10113264" y="2962656"/>
            <a:ext cx="164592" cy="128016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8" name="Rounded Rectangle 15387"/>
          <p:cNvSpPr/>
          <p:nvPr/>
        </p:nvSpPr>
        <p:spPr>
          <a:xfrm>
            <a:off x="10332720" y="2816352"/>
            <a:ext cx="1325880" cy="420624"/>
          </a:xfrm>
          <a:prstGeom prst="roundRect">
            <a:avLst/>
          </a:prstGeom>
          <a:solidFill>
            <a:srgbClr val="F8BBD0"/>
          </a:solidFill>
          <a:ln w="127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880E4F"/>
                </a:solidFill>
              </a:defRPr>
            </a:pPr>
            <a:r>
              <a:t>CAG-Ready</a:t>
            </a:r>
            <a:br/>
            <a:r>
              <a:t>SHA-256 Ledger</a:t>
            </a:r>
          </a:p>
        </p:txBody>
      </p:sp>
      <p:sp>
        <p:nvSpPr>
          <p:cNvPr id="15389" name="Rounded Rectangle 15388"/>
          <p:cNvSpPr/>
          <p:nvPr/>
        </p:nvSpPr>
        <p:spPr>
          <a:xfrm>
            <a:off x="7589520" y="3858768"/>
            <a:ext cx="2743200" cy="310896"/>
          </a:xfrm>
          <a:prstGeom prst="roundRect">
            <a:avLst/>
          </a:prstGeom>
          <a:solidFill>
            <a:srgbClr val="4B6F44"/>
          </a:solidFill>
          <a:ln>
            <a:solidFill>
              <a:srgbClr val="385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Innovation and Uniqueness</a:t>
            </a:r>
          </a:p>
        </p:txBody>
      </p:sp>
      <p:sp>
        <p:nvSpPr>
          <p:cNvPr id="15390" name="Rounded Rectangle 15389"/>
          <p:cNvSpPr/>
          <p:nvPr/>
        </p:nvSpPr>
        <p:spPr>
          <a:xfrm>
            <a:off x="6126480" y="4224528"/>
            <a:ext cx="1051560" cy="2194560"/>
          </a:xfrm>
          <a:prstGeom prst="roundRect">
            <a:avLst/>
          </a:prstGeom>
          <a:solidFill>
            <a:srgbClr val="A8443C"/>
          </a:solidFill>
          <a:ln w="19050">
            <a:solidFill>
              <a:srgbClr val="EBB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73152" bIns="54864"/>
          <a:lstStyle/>
          <a:p>
            <a:pPr algn="ctr">
              <a:spcAft>
                <a:spcPts val="200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Decoupled DB</a:t>
            </a:r>
          </a:p>
          <a:p>
            <a:pPr algn="ctr">
              <a:spcAft>
                <a:spcPts val="400"/>
              </a:spcAft>
              <a:defRPr sz="700" b="1">
                <a:solidFill>
                  <a:srgbClr val="FFFFC8"/>
                </a:solidFill>
                <a:latin typeface="Arial"/>
              </a:defRPr>
            </a:pPr>
            <a:r>
              <a:t>[&lt;15ms Direct Query]</a:t>
            </a:r>
          </a:p>
          <a:p>
            <a:pPr algn="ctr">
              <a:spcAft>
                <a:spcPts val="400"/>
              </a:spcAft>
              <a:defRPr sz="700">
                <a:solidFill>
                  <a:srgbClr val="F5F5F5"/>
                </a:solidFill>
                <a:latin typeface="Arial"/>
              </a:defRPr>
            </a:pPr>
            <a:r>
              <a:t>Direct normalized cache of 47 statutory attributes eliminates slow manual OCR bottlenecks.</a:t>
            </a:r>
          </a:p>
        </p:txBody>
      </p:sp>
      <p:sp>
        <p:nvSpPr>
          <p:cNvPr id="15391" name="Rounded Rectangle 15390"/>
          <p:cNvSpPr/>
          <p:nvPr/>
        </p:nvSpPr>
        <p:spPr>
          <a:xfrm>
            <a:off x="6199632" y="6071616"/>
            <a:ext cx="90525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BB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A8443C"/>
                </a:solidFill>
                <a:latin typeface="Arial"/>
              </a:defRPr>
            </a:pPr>
            <a:r>
              <a:t>⚡ Fast Cache</a:t>
            </a:r>
          </a:p>
        </p:txBody>
      </p:sp>
      <p:sp>
        <p:nvSpPr>
          <p:cNvPr id="15392" name="Rounded Rectangle 15391"/>
          <p:cNvSpPr/>
          <p:nvPr/>
        </p:nvSpPr>
        <p:spPr>
          <a:xfrm>
            <a:off x="7278624" y="4224528"/>
            <a:ext cx="1051560" cy="2194560"/>
          </a:xfrm>
          <a:prstGeom prst="roundRect">
            <a:avLst/>
          </a:prstGeom>
          <a:solidFill>
            <a:srgbClr val="A66B24"/>
          </a:solidFill>
          <a:ln w="19050">
            <a:solidFill>
              <a:srgbClr val="F0C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73152" bIns="54864"/>
          <a:lstStyle/>
          <a:p>
            <a:pPr algn="ctr">
              <a:spcAft>
                <a:spcPts val="200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Dual-Track ML</a:t>
            </a:r>
          </a:p>
          <a:p>
            <a:pPr algn="ctr">
              <a:spcAft>
                <a:spcPts val="400"/>
              </a:spcAft>
              <a:defRPr sz="700" b="1">
                <a:solidFill>
                  <a:srgbClr val="FFFFC8"/>
                </a:solidFill>
                <a:latin typeface="Arial"/>
              </a:defRPr>
            </a:pPr>
            <a:r>
              <a:t>[Civil vs Legal]</a:t>
            </a:r>
          </a:p>
          <a:p>
            <a:pPr algn="ctr">
              <a:spcAft>
                <a:spcPts val="400"/>
              </a:spcAft>
              <a:defRPr sz="700">
                <a:solidFill>
                  <a:srgbClr val="F5F5F5"/>
                </a:solidFill>
                <a:latin typeface="Arial"/>
              </a:defRPr>
            </a:pPr>
            <a:r>
              <a:t>Decouples active physical road works from sub-judice court disputes under Sec 3D(2) vesting.</a:t>
            </a:r>
          </a:p>
        </p:txBody>
      </p:sp>
      <p:sp>
        <p:nvSpPr>
          <p:cNvPr id="15393" name="Rounded Rectangle 15392"/>
          <p:cNvSpPr/>
          <p:nvPr/>
        </p:nvSpPr>
        <p:spPr>
          <a:xfrm>
            <a:off x="7351776" y="6071616"/>
            <a:ext cx="90525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C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A66B24"/>
                </a:solidFill>
                <a:latin typeface="Arial"/>
              </a:defRPr>
            </a:pPr>
            <a:r>
              <a:t>⚖️ Sec 3D(2)</a:t>
            </a:r>
          </a:p>
        </p:txBody>
      </p:sp>
      <p:sp>
        <p:nvSpPr>
          <p:cNvPr id="15394" name="Rounded Rectangle 15393"/>
          <p:cNvSpPr/>
          <p:nvPr/>
        </p:nvSpPr>
        <p:spPr>
          <a:xfrm>
            <a:off x="8430768" y="4224528"/>
            <a:ext cx="1051560" cy="2194560"/>
          </a:xfrm>
          <a:prstGeom prst="roundRect">
            <a:avLst/>
          </a:prstGeom>
          <a:solidFill>
            <a:srgbClr val="767E34"/>
          </a:solidFill>
          <a:ln w="19050">
            <a:solidFill>
              <a:srgbClr val="D7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73152" bIns="54864"/>
          <a:lstStyle/>
          <a:p>
            <a:pPr algn="ctr">
              <a:spcAft>
                <a:spcPts val="200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TreeSHAP XAI</a:t>
            </a:r>
          </a:p>
          <a:p>
            <a:pPr algn="ctr">
              <a:spcAft>
                <a:spcPts val="400"/>
              </a:spcAft>
              <a:defRPr sz="700" b="1">
                <a:solidFill>
                  <a:srgbClr val="FFFFC8"/>
                </a:solidFill>
                <a:latin typeface="Arial"/>
              </a:defRPr>
            </a:pPr>
            <a:r>
              <a:t>[Statutory Attribution]</a:t>
            </a:r>
          </a:p>
          <a:p>
            <a:pPr algn="ctr">
              <a:spcAft>
                <a:spcPts val="400"/>
              </a:spcAft>
              <a:defRPr sz="700">
                <a:solidFill>
                  <a:srgbClr val="F5F5F5"/>
                </a:solidFill>
                <a:latin typeface="Arial"/>
              </a:defRPr>
            </a:pPr>
            <a:r>
              <a:t>Quantifies exact additive day delays per bottleneck and automates pre-drafted legal DFA SOPs.</a:t>
            </a:r>
          </a:p>
        </p:txBody>
      </p:sp>
      <p:sp>
        <p:nvSpPr>
          <p:cNvPr id="15395" name="Rounded Rectangle 15394"/>
          <p:cNvSpPr/>
          <p:nvPr/>
        </p:nvSpPr>
        <p:spPr>
          <a:xfrm>
            <a:off x="8503920" y="6071616"/>
            <a:ext cx="90525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767E34"/>
                </a:solidFill>
                <a:latin typeface="Arial"/>
              </a:defRPr>
            </a:pPr>
            <a:r>
              <a:t>🔍 Factor XAI</a:t>
            </a:r>
          </a:p>
        </p:txBody>
      </p:sp>
      <p:sp>
        <p:nvSpPr>
          <p:cNvPr id="15396" name="Rounded Rectangle 15395"/>
          <p:cNvSpPr/>
          <p:nvPr/>
        </p:nvSpPr>
        <p:spPr>
          <a:xfrm>
            <a:off x="9582912" y="4224528"/>
            <a:ext cx="1051560" cy="2194560"/>
          </a:xfrm>
          <a:prstGeom prst="roundRect">
            <a:avLst/>
          </a:prstGeom>
          <a:solidFill>
            <a:srgbClr val="C45537"/>
          </a:solidFill>
          <a:ln w="19050">
            <a:solidFill>
              <a:srgbClr val="F5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73152" bIns="54864"/>
          <a:lstStyle/>
          <a:p>
            <a:pPr algn="ctr">
              <a:spcAft>
                <a:spcPts val="200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340.8km GIS</a:t>
            </a:r>
          </a:p>
          <a:p>
            <a:pPr algn="ctr">
              <a:spcAft>
                <a:spcPts val="400"/>
              </a:spcAft>
              <a:defRPr sz="700" b="1">
                <a:solidFill>
                  <a:srgbClr val="FFFFC8"/>
                </a:solidFill>
                <a:latin typeface="Arial"/>
              </a:defRPr>
            </a:pPr>
            <a:r>
              <a:t>[Corridor Telemetry]</a:t>
            </a:r>
          </a:p>
          <a:p>
            <a:pPr algn="ctr">
              <a:spcAft>
                <a:spcPts val="400"/>
              </a:spcAft>
              <a:defRPr sz="700">
                <a:solidFill>
                  <a:srgbClr val="F5F5F5"/>
                </a:solidFill>
                <a:latin typeface="Arial"/>
              </a:defRPr>
            </a:pPr>
            <a:r>
              <a:t>Hierarchical drill-down: 8 Packages, 156 Villages, and Khasra plots with chainage telemetry.</a:t>
            </a:r>
          </a:p>
        </p:txBody>
      </p:sp>
      <p:sp>
        <p:nvSpPr>
          <p:cNvPr id="15397" name="Rounded Rectangle 15396"/>
          <p:cNvSpPr/>
          <p:nvPr/>
        </p:nvSpPr>
        <p:spPr>
          <a:xfrm>
            <a:off x="9656064" y="6071616"/>
            <a:ext cx="90525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5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C45537"/>
                </a:solidFill>
                <a:latin typeface="Arial"/>
              </a:defRPr>
            </a:pPr>
            <a:r>
              <a:t>🗺️ RoW GIS</a:t>
            </a:r>
          </a:p>
        </p:txBody>
      </p:sp>
      <p:sp>
        <p:nvSpPr>
          <p:cNvPr id="15398" name="Rounded Rectangle 15397"/>
          <p:cNvSpPr/>
          <p:nvPr/>
        </p:nvSpPr>
        <p:spPr>
          <a:xfrm>
            <a:off x="10735056" y="4224528"/>
            <a:ext cx="1051560" cy="2194560"/>
          </a:xfrm>
          <a:prstGeom prst="roundRect">
            <a:avLst/>
          </a:prstGeom>
          <a:solidFill>
            <a:srgbClr val="546E7A"/>
          </a:solidFill>
          <a:ln w="19050">
            <a:solidFill>
              <a:srgbClr val="BE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73152" bIns="54864"/>
          <a:lstStyle/>
          <a:p>
            <a:pPr algn="ctr">
              <a:spcAft>
                <a:spcPts val="200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Const. HITL</a:t>
            </a:r>
          </a:p>
          <a:p>
            <a:pPr algn="ctr">
              <a:spcAft>
                <a:spcPts val="400"/>
              </a:spcAft>
              <a:defRPr sz="700" b="1">
                <a:solidFill>
                  <a:srgbClr val="FFFFC8"/>
                </a:solidFill>
                <a:latin typeface="Arial"/>
              </a:defRPr>
            </a:pPr>
            <a:r>
              <a:t>[Arts. 77 &amp; 166]</a:t>
            </a:r>
          </a:p>
          <a:p>
            <a:pPr algn="ctr">
              <a:spcAft>
                <a:spcPts val="400"/>
              </a:spcAft>
              <a:defRPr sz="700">
                <a:solidFill>
                  <a:srgbClr val="F5F5F5"/>
                </a:solidFill>
                <a:latin typeface="Arial"/>
              </a:defRPr>
            </a:pPr>
            <a:r>
              <a:t>Aadhaar DSC e-Sign validation with immutable SHA-256 cryptographic audit trails for CAG.</a:t>
            </a:r>
          </a:p>
        </p:txBody>
      </p:sp>
      <p:sp>
        <p:nvSpPr>
          <p:cNvPr id="15399" name="Rounded Rectangle 15398"/>
          <p:cNvSpPr/>
          <p:nvPr/>
        </p:nvSpPr>
        <p:spPr>
          <a:xfrm>
            <a:off x="10808208" y="6071616"/>
            <a:ext cx="90525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546E7A"/>
                </a:solidFill>
                <a:latin typeface="Arial"/>
              </a:defRPr>
            </a:pPr>
            <a:r>
              <a:t>🛡️ SHA-256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>
                <a:solidFill>
                  <a:srgbClr val="003366"/>
                </a:solidFill>
                <a:latin typeface="Arial"/>
              </a:defRPr>
            </a:pPr>
            <a: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11480" y="1024128"/>
            <a:ext cx="8641080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097280"/>
            <a:ext cx="1874519" cy="365760"/>
          </a:xfrm>
          <a:prstGeom prst="roundRect">
            <a:avLst/>
          </a:prstGeom>
          <a:solidFill>
            <a:srgbClr val="E3F2FD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D47A1"/>
                </a:solidFill>
                <a:latin typeface="Arial"/>
              </a:defRPr>
            </a:pPr>
            <a:r>
              <a:t>Zone 1: Users &amp; External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57200" y="1536192"/>
            <a:ext cx="1874519" cy="1691640"/>
          </a:xfrm>
          <a:prstGeom prst="roundRect">
            <a:avLst/>
          </a:prstGeom>
          <a:solidFill>
            <a:srgbClr val="F0F7FF"/>
          </a:solidFill>
          <a:ln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lIns="585216" rIns="54864"/>
          <a:lstStyle/>
          <a:p>
            <a:pPr algn="ctr">
              <a:spcAft>
                <a:spcPts val="200"/>
              </a:spcAft>
              <a:defRPr sz="850" b="1">
                <a:solidFill>
                  <a:srgbClr val="1976D2"/>
                </a:solidFill>
                <a:latin typeface="Arial"/>
              </a:defRPr>
            </a:pPr>
            <a:r>
              <a:t>External Portals</a:t>
            </a:r>
          </a:p>
          <a:p>
            <a:pPr>
              <a:spcAft>
                <a:spcPts val="15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e-Courts WSDL API</a:t>
            </a:r>
          </a:p>
          <a:p>
            <a:pPr>
              <a:spcAft>
                <a:spcPts val="15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BhoomiRashi MoRTH</a:t>
            </a:r>
          </a:p>
          <a:p>
            <a:pPr>
              <a:spcAft>
                <a:spcPts val="15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State Jamabandi GIS</a:t>
            </a:r>
          </a:p>
          <a:p>
            <a:pPr>
              <a:spcAft>
                <a:spcPts val="15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PM GatiShakti NMP</a:t>
            </a:r>
          </a:p>
        </p:txBody>
      </p:sp>
      <p:pic>
        <p:nvPicPr>
          <p:cNvPr id="17413" name="Picture 17412" descr="cloud_porta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591056"/>
            <a:ext cx="438912" cy="293193"/>
          </a:xfrm>
          <a:prstGeom prst="rect">
            <a:avLst/>
          </a:prstGeom>
        </p:spPr>
      </p:pic>
      <p:sp>
        <p:nvSpPr>
          <p:cNvPr id="17414" name="Rounded Rectangle 17413"/>
          <p:cNvSpPr/>
          <p:nvPr/>
        </p:nvSpPr>
        <p:spPr>
          <a:xfrm>
            <a:off x="457200" y="3310128"/>
            <a:ext cx="1874519" cy="1755648"/>
          </a:xfrm>
          <a:prstGeom prst="roundRect">
            <a:avLst/>
          </a:prstGeom>
          <a:solidFill>
            <a:srgbClr val="F0F7FF"/>
          </a:solidFill>
          <a:ln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lIns="585216" rIns="54864"/>
          <a:lstStyle/>
          <a:p>
            <a:pPr algn="ctr">
              <a:spcAft>
                <a:spcPts val="200"/>
              </a:spcAft>
              <a:defRPr sz="850" b="1">
                <a:solidFill>
                  <a:srgbClr val="1976D2"/>
                </a:solidFill>
                <a:latin typeface="Arial"/>
              </a:defRPr>
            </a:pPr>
            <a:r>
              <a:t>Statutory Roles</a:t>
            </a:r>
          </a:p>
          <a:p>
            <a:pPr>
              <a:spcAft>
                <a:spcPts val="15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MoRTH &amp; NPG Lead</a:t>
            </a:r>
          </a:p>
          <a:p>
            <a:pPr>
              <a:spcAft>
                <a:spcPts val="15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NHAI Project Director</a:t>
            </a:r>
          </a:p>
          <a:p>
            <a:pPr>
              <a:spcAft>
                <a:spcPts val="15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CALA (Land Officer)</a:t>
            </a:r>
          </a:p>
          <a:p>
            <a:pPr>
              <a:spcAft>
                <a:spcPts val="15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Field Tehsildars</a:t>
            </a:r>
          </a:p>
          <a:p>
            <a:pPr>
              <a:spcAft>
                <a:spcPts val="15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Landowner Farmers</a:t>
            </a:r>
          </a:p>
        </p:txBody>
      </p:sp>
      <p:pic>
        <p:nvPicPr>
          <p:cNvPr id="17415" name="Picture 17414" descr="officer_ava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383280"/>
            <a:ext cx="420624" cy="420624"/>
          </a:xfrm>
          <a:prstGeom prst="rect">
            <a:avLst/>
          </a:prstGeom>
        </p:spPr>
      </p:pic>
      <p:sp>
        <p:nvSpPr>
          <p:cNvPr id="17416" name="Right Arrow 17415"/>
          <p:cNvSpPr/>
          <p:nvPr/>
        </p:nvSpPr>
        <p:spPr>
          <a:xfrm>
            <a:off x="2359152" y="3264408"/>
            <a:ext cx="164592" cy="128016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2560320" y="1097280"/>
            <a:ext cx="1965960" cy="365760"/>
          </a:xfrm>
          <a:prstGeom prst="roundRect">
            <a:avLst/>
          </a:prstGeom>
          <a:solidFill>
            <a:srgbClr val="E8F5E9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B5E20"/>
                </a:solidFill>
                <a:latin typeface="Arial"/>
              </a:defRPr>
            </a:pPr>
            <a:r>
              <a:t>Zone 2: Frontend (React 19)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2560320" y="1536192"/>
            <a:ext cx="1965960" cy="3529584"/>
          </a:xfrm>
          <a:prstGeom prst="roundRect">
            <a:avLst/>
          </a:prstGeom>
          <a:solidFill>
            <a:srgbClr val="F1F8F2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2615184" y="1591056"/>
            <a:ext cx="1856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2E7D32"/>
                </a:solidFill>
                <a:latin typeface="Arial"/>
              </a:defRPr>
            </a:pPr>
            <a:r>
              <a:t>Predictive Dashboard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Real-time residual delay days, risk gauges &amp; project cards.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2615184" y="2276856"/>
            <a:ext cx="1856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2E7D32"/>
                </a:solidFill>
                <a:latin typeface="Arial"/>
              </a:defRPr>
            </a:pPr>
            <a:r>
              <a:t>340.8 km RoW GIS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Leaflet GeoJSON EPSG:4326 drilldown across 8 packages &amp; plots.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2615184" y="2962656"/>
            <a:ext cx="1856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2E7D32"/>
                </a:solidFill>
                <a:latin typeface="Arial"/>
              </a:defRPr>
            </a:pPr>
            <a:r>
              <a:t>TreeSHAP Waterfall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Visual factor attributions explaining statutory delay causes.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2615184" y="3648456"/>
            <a:ext cx="1856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2E7D32"/>
                </a:solidFill>
                <a:latin typeface="Arial"/>
              </a:defRPr>
            </a:pPr>
            <a:r>
              <a:t>Prescriptive DFA SOP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Automated legal notice drafts for Sec 3D/3G fast-tracking.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2615184" y="4334256"/>
            <a:ext cx="1856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2E7D32"/>
                </a:solidFill>
                <a:latin typeface="Arial"/>
              </a:defRPr>
            </a:pPr>
            <a:r>
              <a:t>Constitutional HITL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4-tier RBAC + Aadhaar DSC e-Sign gateway (Arts. 77/166).</a:t>
            </a:r>
          </a:p>
        </p:txBody>
      </p:sp>
      <p:sp>
        <p:nvSpPr>
          <p:cNvPr id="17424" name="Left-Right Arrow 17423"/>
          <p:cNvSpPr/>
          <p:nvPr/>
        </p:nvSpPr>
        <p:spPr>
          <a:xfrm>
            <a:off x="4553712" y="3264408"/>
            <a:ext cx="182880" cy="128016"/>
          </a:xfrm>
          <a:prstGeom prst="left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4773168" y="1097280"/>
            <a:ext cx="2011680" cy="365760"/>
          </a:xfrm>
          <a:prstGeom prst="roundRect">
            <a:avLst/>
          </a:prstGeom>
          <a:solidFill>
            <a:srgbClr val="EDE7F6"/>
          </a:solidFill>
          <a:ln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4527A0"/>
                </a:solidFill>
                <a:latin typeface="Arial"/>
              </a:defRPr>
            </a:pPr>
            <a:r>
              <a:t>Zone 3: Backend (FastAPI)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773168" y="1536192"/>
            <a:ext cx="2011680" cy="3529584"/>
          </a:xfrm>
          <a:prstGeom prst="roundRect">
            <a:avLst/>
          </a:prstGeom>
          <a:solidFill>
            <a:srgbClr val="F6F3FB"/>
          </a:solidFill>
          <a:ln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4828032" y="1591056"/>
            <a:ext cx="190195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1C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6A1B9A"/>
                </a:solidFill>
                <a:latin typeface="Arial"/>
              </a:defRPr>
            </a:pPr>
            <a:r>
              <a:t>REST API Gateway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Point 11 compliant: async request routing, OpenAPI 3.0 &amp; auth.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4828032" y="2276856"/>
            <a:ext cx="190195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1C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6A1B9A"/>
                </a:solidFill>
                <a:latin typeface="Arial"/>
              </a:defRPr>
            </a:pPr>
            <a:r>
              <a:t>Decoupled Central DB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&lt;15ms cached responses for 47 standardized statutory features.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4828032" y="2962656"/>
            <a:ext cx="190195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1C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6A1B9A"/>
                </a:solidFill>
                <a:latin typeface="Arial"/>
              </a:defRPr>
            </a:pPr>
            <a:r>
              <a:t>Dual-Track Engine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Decouples physical civil road works from legal escrow disputes.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4828032" y="3648456"/>
            <a:ext cx="190195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1C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6A1B9A"/>
                </a:solidFill>
                <a:latin typeface="Arial"/>
              </a:defRPr>
            </a:pPr>
            <a:r>
              <a:t>Statutory DFA Engine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Generates legally binding Section 3A, 3D, 3G, 3H notice drafts.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4828032" y="4334256"/>
            <a:ext cx="190195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1C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6A1B9A"/>
                </a:solidFill>
                <a:latin typeface="Arial"/>
              </a:defRPr>
            </a:pPr>
            <a:r>
              <a:t>SHA-256 Ledger Service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Cryptographic block hashing ensuring immutable CAG audit trail.</a:t>
            </a:r>
          </a:p>
        </p:txBody>
      </p:sp>
      <p:sp>
        <p:nvSpPr>
          <p:cNvPr id="17432" name="Left-Right Arrow 17431"/>
          <p:cNvSpPr/>
          <p:nvPr/>
        </p:nvSpPr>
        <p:spPr>
          <a:xfrm>
            <a:off x="6803136" y="3264408"/>
            <a:ext cx="182880" cy="128016"/>
          </a:xfrm>
          <a:prstGeom prst="left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Rounded Rectangle 17432"/>
          <p:cNvSpPr/>
          <p:nvPr/>
        </p:nvSpPr>
        <p:spPr>
          <a:xfrm>
            <a:off x="7022592" y="1097280"/>
            <a:ext cx="1965960" cy="365760"/>
          </a:xfrm>
          <a:prstGeom prst="roundRect">
            <a:avLst/>
          </a:prstGeom>
          <a:solidFill>
            <a:srgbClr val="E0F7FA"/>
          </a:solidFill>
          <a:ln>
            <a:solidFill>
              <a:srgbClr val="80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838F"/>
                </a:solidFill>
                <a:latin typeface="Arial"/>
              </a:defRPr>
            </a:pPr>
            <a:r>
              <a:t>Zone 4: AI &amp; ML Engine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7022592" y="1536192"/>
            <a:ext cx="1965960" cy="3529584"/>
          </a:xfrm>
          <a:prstGeom prst="roundRect">
            <a:avLst/>
          </a:prstGeom>
          <a:solidFill>
            <a:srgbClr val="F0FBFC"/>
          </a:solidFill>
          <a:ln>
            <a:solidFill>
              <a:srgbClr val="80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Rounded Rectangle 17434"/>
          <p:cNvSpPr/>
          <p:nvPr/>
        </p:nvSpPr>
        <p:spPr>
          <a:xfrm>
            <a:off x="7077456" y="1591056"/>
            <a:ext cx="1856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00838F"/>
                </a:solidFill>
                <a:latin typeface="Arial"/>
              </a:defRPr>
            </a:pPr>
            <a:r>
              <a:t>Ensemble ML Predictor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LightGBM + XGBoost 2.1 regressors predict residual delay days.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7077456" y="2276856"/>
            <a:ext cx="1856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00838F"/>
                </a:solidFill>
                <a:latin typeface="Arial"/>
              </a:defRPr>
            </a:pPr>
            <a:r>
              <a:t>TreeSHAP Attribution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Micro-level factor attribution quantifying additive day delays.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7077456" y="2962656"/>
            <a:ext cx="1856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00838F"/>
                </a:solidFill>
                <a:latin typeface="Arial"/>
              </a:defRPr>
            </a:pPr>
            <a:r>
              <a:t>Kaplan-Meier Survival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Probabilistic time-to-lapse modeling for 365-day Sec 3D deadlines.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7077456" y="3648456"/>
            <a:ext cx="1856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00838F"/>
                </a:solidFill>
                <a:latin typeface="Arial"/>
              </a:defRPr>
            </a:pPr>
            <a:r>
              <a:t>Prescriptive Rule Core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Statutory threshold trigger engine activating specific SOP orders.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7077456" y="4334256"/>
            <a:ext cx="1856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00838F"/>
                </a:solidFill>
                <a:latin typeface="Arial"/>
              </a:defRPr>
            </a:pPr>
            <a:r>
              <a:t>Central DB (&lt;15ms)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High-speed normalized SQLite/PostgreSQL storage across 47 attributes.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411480" y="5285232"/>
            <a:ext cx="8641080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Rounded Rectangle 17440"/>
          <p:cNvSpPr/>
          <p:nvPr/>
        </p:nvSpPr>
        <p:spPr>
          <a:xfrm>
            <a:off x="475488" y="5376672"/>
            <a:ext cx="1371600" cy="694944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Core Technology</a:t>
            </a:r>
            <a:br/>
            <a:r>
              <a:t>Stack &amp; Engine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1901952" y="5358384"/>
            <a:ext cx="740664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387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18288" rIns="18288" bIns="36576"/>
          <a:lstStyle/>
          <a:p>
            <a:pPr algn="ctr">
              <a:defRPr sz="650" b="1">
                <a:solidFill>
                  <a:srgbClr val="0F172A"/>
                </a:solidFill>
                <a:latin typeface="Arial"/>
              </a:defRPr>
            </a:pPr>
            <a:r>
              <a:t>Python 3.13</a:t>
            </a:r>
          </a:p>
          <a:p>
            <a:pPr algn="ctr">
              <a:defRPr sz="550">
                <a:solidFill>
                  <a:srgbClr val="64748B"/>
                </a:solidFill>
                <a:latin typeface="Arial"/>
              </a:defRPr>
            </a:pPr>
            <a:r>
              <a:t>FastAPI Core</a:t>
            </a:r>
          </a:p>
        </p:txBody>
      </p:sp>
      <p:pic>
        <p:nvPicPr>
          <p:cNvPr id="17443" name="Picture 17442" descr="python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1408" y="5394960"/>
            <a:ext cx="301752" cy="301752"/>
          </a:xfrm>
          <a:prstGeom prst="rect">
            <a:avLst/>
          </a:prstGeom>
        </p:spPr>
      </p:pic>
      <p:sp>
        <p:nvSpPr>
          <p:cNvPr id="17444" name="Rounded Rectangle 17443"/>
          <p:cNvSpPr/>
          <p:nvPr/>
        </p:nvSpPr>
        <p:spPr>
          <a:xfrm>
            <a:off x="2697480" y="5358384"/>
            <a:ext cx="740664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18288" rIns="18288" bIns="36576"/>
          <a:lstStyle/>
          <a:p>
            <a:pPr algn="ctr">
              <a:defRPr sz="650" b="1">
                <a:solidFill>
                  <a:srgbClr val="0F172A"/>
                </a:solidFill>
                <a:latin typeface="Arial"/>
              </a:defRPr>
            </a:pPr>
            <a:r>
              <a:t>FastAPI</a:t>
            </a:r>
          </a:p>
          <a:p>
            <a:pPr algn="ctr">
              <a:defRPr sz="550">
                <a:solidFill>
                  <a:srgbClr val="64748B"/>
                </a:solidFill>
                <a:latin typeface="Arial"/>
              </a:defRPr>
            </a:pPr>
            <a:r>
              <a:t>REST Gateway</a:t>
            </a:r>
          </a:p>
        </p:txBody>
      </p:sp>
      <p:pic>
        <p:nvPicPr>
          <p:cNvPr id="17445" name="Picture 17444" descr="fastapi_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6936" y="5394960"/>
            <a:ext cx="301752" cy="301752"/>
          </a:xfrm>
          <a:prstGeom prst="rect">
            <a:avLst/>
          </a:prstGeom>
        </p:spPr>
      </p:pic>
      <p:sp>
        <p:nvSpPr>
          <p:cNvPr id="17446" name="Rounded Rectangle 17445"/>
          <p:cNvSpPr/>
          <p:nvPr/>
        </p:nvSpPr>
        <p:spPr>
          <a:xfrm>
            <a:off x="3493008" y="5358384"/>
            <a:ext cx="740664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0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18288" rIns="18288" bIns="36576"/>
          <a:lstStyle/>
          <a:p>
            <a:pPr algn="ctr">
              <a:defRPr sz="650" b="1">
                <a:solidFill>
                  <a:srgbClr val="0F172A"/>
                </a:solidFill>
                <a:latin typeface="Arial"/>
              </a:defRPr>
            </a:pPr>
            <a:r>
              <a:t>React 19</a:t>
            </a:r>
          </a:p>
          <a:p>
            <a:pPr algn="ctr">
              <a:defRPr sz="550">
                <a:solidFill>
                  <a:srgbClr val="64748B"/>
                </a:solidFill>
                <a:latin typeface="Arial"/>
              </a:defRPr>
            </a:pPr>
            <a:r>
              <a:t>Vite Frontend</a:t>
            </a:r>
          </a:p>
        </p:txBody>
      </p:sp>
      <p:pic>
        <p:nvPicPr>
          <p:cNvPr id="17447" name="Picture 17446" descr="react_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2464" y="5394960"/>
            <a:ext cx="301752" cy="301752"/>
          </a:xfrm>
          <a:prstGeom prst="rect">
            <a:avLst/>
          </a:prstGeom>
        </p:spPr>
      </p:pic>
      <p:sp>
        <p:nvSpPr>
          <p:cNvPr id="17448" name="Rounded Rectangle 17447"/>
          <p:cNvSpPr/>
          <p:nvPr/>
        </p:nvSpPr>
        <p:spPr>
          <a:xfrm>
            <a:off x="4288536" y="5358384"/>
            <a:ext cx="740664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18288" rIns="18288" bIns="36576"/>
          <a:lstStyle/>
          <a:p>
            <a:pPr algn="ctr">
              <a:defRPr sz="650" b="1">
                <a:solidFill>
                  <a:srgbClr val="0F172A"/>
                </a:solidFill>
                <a:latin typeface="Arial"/>
              </a:defRPr>
            </a:pPr>
            <a:r>
              <a:t>XGBoost 2.1</a:t>
            </a:r>
          </a:p>
          <a:p>
            <a:pPr algn="ctr">
              <a:defRPr sz="550">
                <a:solidFill>
                  <a:srgbClr val="64748B"/>
                </a:solidFill>
                <a:latin typeface="Arial"/>
              </a:defRPr>
            </a:pPr>
            <a:r>
              <a:t>ML Regressor</a:t>
            </a:r>
          </a:p>
        </p:txBody>
      </p:sp>
      <p:pic>
        <p:nvPicPr>
          <p:cNvPr id="17449" name="Picture 17448" descr="xgboost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7992" y="5394960"/>
            <a:ext cx="301752" cy="301752"/>
          </a:xfrm>
          <a:prstGeom prst="rect">
            <a:avLst/>
          </a:prstGeom>
        </p:spPr>
      </p:pic>
      <p:sp>
        <p:nvSpPr>
          <p:cNvPr id="17450" name="Rounded Rectangle 17449"/>
          <p:cNvSpPr/>
          <p:nvPr/>
        </p:nvSpPr>
        <p:spPr>
          <a:xfrm>
            <a:off x="5084064" y="5358384"/>
            <a:ext cx="740664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18288" rIns="18288" bIns="36576"/>
          <a:lstStyle/>
          <a:p>
            <a:pPr algn="ctr">
              <a:defRPr sz="650" b="1">
                <a:solidFill>
                  <a:srgbClr val="0F172A"/>
                </a:solidFill>
                <a:latin typeface="Arial"/>
              </a:defRPr>
            </a:pPr>
            <a:r>
              <a:t>LightGBM</a:t>
            </a:r>
          </a:p>
          <a:p>
            <a:pPr algn="ctr">
              <a:defRPr sz="550">
                <a:solidFill>
                  <a:srgbClr val="64748B"/>
                </a:solidFill>
                <a:latin typeface="Arial"/>
              </a:defRPr>
            </a:pPr>
            <a:r>
              <a:t>Ensemble Trees</a:t>
            </a:r>
          </a:p>
        </p:txBody>
      </p:sp>
      <p:pic>
        <p:nvPicPr>
          <p:cNvPr id="17451" name="Picture 17450" descr="lightgbm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3520" y="5394960"/>
            <a:ext cx="301752" cy="301752"/>
          </a:xfrm>
          <a:prstGeom prst="rect">
            <a:avLst/>
          </a:prstGeom>
        </p:spPr>
      </p:pic>
      <p:sp>
        <p:nvSpPr>
          <p:cNvPr id="17452" name="Rounded Rectangle 17451"/>
          <p:cNvSpPr/>
          <p:nvPr/>
        </p:nvSpPr>
        <p:spPr>
          <a:xfrm>
            <a:off x="5879592" y="5358384"/>
            <a:ext cx="740664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18288" rIns="18288" bIns="36576"/>
          <a:lstStyle/>
          <a:p>
            <a:pPr algn="ctr">
              <a:defRPr sz="650" b="1">
                <a:solidFill>
                  <a:srgbClr val="0F172A"/>
                </a:solidFill>
                <a:latin typeface="Arial"/>
              </a:defRPr>
            </a:pPr>
            <a:r>
              <a:t>TreeSHAP</a:t>
            </a:r>
          </a:p>
          <a:p>
            <a:pPr algn="ctr">
              <a:defRPr sz="550">
                <a:solidFill>
                  <a:srgbClr val="64748B"/>
                </a:solidFill>
                <a:latin typeface="Arial"/>
              </a:defRPr>
            </a:pPr>
            <a:r>
              <a:t>Statutory XAI</a:t>
            </a:r>
          </a:p>
        </p:txBody>
      </p:sp>
      <p:pic>
        <p:nvPicPr>
          <p:cNvPr id="17453" name="Picture 17452" descr="shap_log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9048" y="5394960"/>
            <a:ext cx="301752" cy="301752"/>
          </a:xfrm>
          <a:prstGeom prst="rect">
            <a:avLst/>
          </a:prstGeom>
        </p:spPr>
      </p:pic>
      <p:sp>
        <p:nvSpPr>
          <p:cNvPr id="17454" name="Rounded Rectangle 17453"/>
          <p:cNvSpPr/>
          <p:nvPr/>
        </p:nvSpPr>
        <p:spPr>
          <a:xfrm>
            <a:off x="6675120" y="5358384"/>
            <a:ext cx="740664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74A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18288" rIns="18288" bIns="36576"/>
          <a:lstStyle/>
          <a:p>
            <a:pPr algn="ctr">
              <a:defRPr sz="650" b="1">
                <a:solidFill>
                  <a:srgbClr val="0F172A"/>
                </a:solidFill>
                <a:latin typeface="Arial"/>
              </a:defRPr>
            </a:pPr>
            <a:r>
              <a:t>Leaflet GIS</a:t>
            </a:r>
          </a:p>
          <a:p>
            <a:pPr algn="ctr">
              <a:defRPr sz="550">
                <a:solidFill>
                  <a:srgbClr val="64748B"/>
                </a:solidFill>
                <a:latin typeface="Arial"/>
              </a:defRPr>
            </a:pPr>
            <a:r>
              <a:t>EPSG:4326 Maps</a:t>
            </a:r>
          </a:p>
        </p:txBody>
      </p:sp>
      <p:pic>
        <p:nvPicPr>
          <p:cNvPr id="17455" name="Picture 17454" descr="leaflet_log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94576" y="5394960"/>
            <a:ext cx="301752" cy="301752"/>
          </a:xfrm>
          <a:prstGeom prst="rect">
            <a:avLst/>
          </a:prstGeom>
        </p:spPr>
      </p:pic>
      <p:sp>
        <p:nvSpPr>
          <p:cNvPr id="17456" name="Rounded Rectangle 17455"/>
          <p:cNvSpPr/>
          <p:nvPr/>
        </p:nvSpPr>
        <p:spPr>
          <a:xfrm>
            <a:off x="7470648" y="5358384"/>
            <a:ext cx="740664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33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18288" rIns="18288" bIns="36576"/>
          <a:lstStyle/>
          <a:p>
            <a:pPr algn="ctr">
              <a:defRPr sz="650" b="1">
                <a:solidFill>
                  <a:srgbClr val="0F172A"/>
                </a:solidFill>
                <a:latin typeface="Arial"/>
              </a:defRPr>
            </a:pPr>
            <a:r>
              <a:t>PostgreSQL</a:t>
            </a:r>
          </a:p>
          <a:p>
            <a:pPr algn="ctr">
              <a:defRPr sz="550">
                <a:solidFill>
                  <a:srgbClr val="64748B"/>
                </a:solidFill>
                <a:latin typeface="Arial"/>
              </a:defRPr>
            </a:pPr>
            <a:r>
              <a:t>&lt;15ms DB Cache</a:t>
            </a:r>
          </a:p>
        </p:txBody>
      </p:sp>
      <p:pic>
        <p:nvPicPr>
          <p:cNvPr id="17457" name="Picture 17456" descr="postgresql_logo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0104" y="5394960"/>
            <a:ext cx="301752" cy="301752"/>
          </a:xfrm>
          <a:prstGeom prst="rect">
            <a:avLst/>
          </a:prstGeom>
        </p:spPr>
      </p:pic>
      <p:sp>
        <p:nvSpPr>
          <p:cNvPr id="17458" name="Rounded Rectangle 17457"/>
          <p:cNvSpPr/>
          <p:nvPr/>
        </p:nvSpPr>
        <p:spPr>
          <a:xfrm>
            <a:off x="8266176" y="5358384"/>
            <a:ext cx="740664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18288" rIns="18288" bIns="36576"/>
          <a:lstStyle/>
          <a:p>
            <a:pPr algn="ctr">
              <a:defRPr sz="650" b="1">
                <a:solidFill>
                  <a:srgbClr val="0F172A"/>
                </a:solidFill>
                <a:latin typeface="Arial"/>
              </a:defRPr>
            </a:pPr>
            <a:r>
              <a:t>SHA-256</a:t>
            </a:r>
          </a:p>
          <a:p>
            <a:pPr algn="ctr">
              <a:defRPr sz="550">
                <a:solidFill>
                  <a:srgbClr val="64748B"/>
                </a:solidFill>
                <a:latin typeface="Arial"/>
              </a:defRPr>
            </a:pPr>
            <a:r>
              <a:t>Audit Ledger</a:t>
            </a:r>
          </a:p>
        </p:txBody>
      </p:sp>
      <p:pic>
        <p:nvPicPr>
          <p:cNvPr id="17459" name="Picture 17458" descr="sha256_logo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85632" y="5394960"/>
            <a:ext cx="301752" cy="301752"/>
          </a:xfrm>
          <a:prstGeom prst="rect">
            <a:avLst/>
          </a:prstGeom>
        </p:spPr>
      </p:pic>
      <p:sp>
        <p:nvSpPr>
          <p:cNvPr id="17460" name="Rounded Rectangle 17459"/>
          <p:cNvSpPr/>
          <p:nvPr/>
        </p:nvSpPr>
        <p:spPr>
          <a:xfrm>
            <a:off x="9189720" y="1024128"/>
            <a:ext cx="2560320" cy="5138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TextBox 17460"/>
          <p:cNvSpPr txBox="1"/>
          <p:nvPr/>
        </p:nvSpPr>
        <p:spPr>
          <a:xfrm>
            <a:off x="9189720" y="1078992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C2185B"/>
                </a:solidFill>
                <a:latin typeface="Arial"/>
              </a:defRPr>
            </a:pPr>
            <a:r>
              <a:t>Implementation Process</a:t>
            </a:r>
          </a:p>
        </p:txBody>
      </p:sp>
      <p:sp>
        <p:nvSpPr>
          <p:cNvPr id="17462" name="Rectangle 17461"/>
          <p:cNvSpPr/>
          <p:nvPr/>
        </p:nvSpPr>
        <p:spPr>
          <a:xfrm>
            <a:off x="9537192" y="1572768"/>
            <a:ext cx="36576" cy="429768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63" name="Picture 17462" descr="step1_inges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36024" y="1536192"/>
            <a:ext cx="420624" cy="420624"/>
          </a:xfrm>
          <a:prstGeom prst="rect">
            <a:avLst/>
          </a:prstGeom>
        </p:spPr>
      </p:pic>
      <p:sp>
        <p:nvSpPr>
          <p:cNvPr id="17464" name="TextBox 17463"/>
          <p:cNvSpPr txBox="1"/>
          <p:nvPr/>
        </p:nvSpPr>
        <p:spPr>
          <a:xfrm>
            <a:off x="9811512" y="1463040"/>
            <a:ext cx="1883664" cy="731520"/>
          </a:xfrm>
          <a:prstGeom prst="rect">
            <a:avLst/>
          </a:prstGeom>
          <a:noFill/>
        </p:spPr>
        <p:txBody>
          <a:bodyPr wrap="square" anchor="t" lIns="18288" rIns="18288" tIns="36576" bIns="18288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0695C"/>
                </a:solidFill>
                <a:latin typeface="Arial"/>
              </a:defRPr>
            </a:pPr>
            <a:r>
              <a:t>1. Multi-Modal Ingestion</a:t>
            </a:r>
          </a:p>
          <a:p>
            <a:pPr>
              <a:defRPr sz="700">
                <a:solidFill>
                  <a:srgbClr val="475569"/>
                </a:solidFill>
                <a:latin typeface="Arial"/>
              </a:defRPr>
            </a:pPr>
            <a:r>
              <a:t>Gazette PDFs, e-Courts stays, cadastral Jamabandi records &amp; BhoomiRashi data parsed into pipeline.</a:t>
            </a:r>
          </a:p>
        </p:txBody>
      </p:sp>
      <p:pic>
        <p:nvPicPr>
          <p:cNvPr id="17465" name="Picture 17464" descr="step2_centraldb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36024" y="2295144"/>
            <a:ext cx="420624" cy="420624"/>
          </a:xfrm>
          <a:prstGeom prst="rect">
            <a:avLst/>
          </a:prstGeom>
        </p:spPr>
      </p:pic>
      <p:sp>
        <p:nvSpPr>
          <p:cNvPr id="17466" name="TextBox 17465"/>
          <p:cNvSpPr txBox="1"/>
          <p:nvPr/>
        </p:nvSpPr>
        <p:spPr>
          <a:xfrm>
            <a:off x="9811512" y="2221992"/>
            <a:ext cx="1883664" cy="731520"/>
          </a:xfrm>
          <a:prstGeom prst="rect">
            <a:avLst/>
          </a:prstGeom>
          <a:noFill/>
        </p:spPr>
        <p:txBody>
          <a:bodyPr wrap="square" anchor="t" lIns="18288" rIns="18288" tIns="36576" bIns="18288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263238"/>
                </a:solidFill>
                <a:latin typeface="Arial"/>
              </a:defRPr>
            </a:pPr>
            <a:r>
              <a:t>2. Decoupled Central DB</a:t>
            </a:r>
          </a:p>
          <a:p>
            <a:pPr>
              <a:defRPr sz="700">
                <a:solidFill>
                  <a:srgbClr val="475569"/>
                </a:solidFill>
                <a:latin typeface="Arial"/>
              </a:defRPr>
            </a:pPr>
            <a:r>
              <a:t>Normalizes 47 statutory attributes into high-speed SQLite/PostgreSQL cache with &lt;15ms queries.</a:t>
            </a:r>
          </a:p>
        </p:txBody>
      </p:sp>
      <p:pic>
        <p:nvPicPr>
          <p:cNvPr id="17467" name="Picture 17466" descr="step3_ml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36024" y="3054096"/>
            <a:ext cx="420624" cy="420624"/>
          </a:xfrm>
          <a:prstGeom prst="rect">
            <a:avLst/>
          </a:prstGeom>
        </p:spPr>
      </p:pic>
      <p:sp>
        <p:nvSpPr>
          <p:cNvPr id="17468" name="TextBox 17467"/>
          <p:cNvSpPr txBox="1"/>
          <p:nvPr/>
        </p:nvSpPr>
        <p:spPr>
          <a:xfrm>
            <a:off x="9811512" y="2980944"/>
            <a:ext cx="1883664" cy="731520"/>
          </a:xfrm>
          <a:prstGeom prst="rect">
            <a:avLst/>
          </a:prstGeom>
          <a:noFill/>
        </p:spPr>
        <p:txBody>
          <a:bodyPr wrap="square" anchor="t" lIns="18288" rIns="18288" tIns="36576" bIns="18288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E65100"/>
                </a:solidFill>
                <a:latin typeface="Arial"/>
              </a:defRPr>
            </a:pPr>
            <a:r>
              <a:t>3. Ensemble ML Inference</a:t>
            </a:r>
          </a:p>
          <a:p>
            <a:pPr>
              <a:defRPr sz="700">
                <a:solidFill>
                  <a:srgbClr val="475569"/>
                </a:solidFill>
                <a:latin typeface="Arial"/>
              </a:defRPr>
            </a:pPr>
            <a:r>
              <a:t>XGBoost 2.1 &amp; LightGBM regressors predict residual acquisition days &amp; statutory lapse risks.</a:t>
            </a:r>
          </a:p>
        </p:txBody>
      </p:sp>
      <p:pic>
        <p:nvPicPr>
          <p:cNvPr id="17469" name="Picture 17468" descr="step4_shap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36024" y="3813048"/>
            <a:ext cx="420624" cy="420624"/>
          </a:xfrm>
          <a:prstGeom prst="rect">
            <a:avLst/>
          </a:prstGeom>
        </p:spPr>
      </p:pic>
      <p:sp>
        <p:nvSpPr>
          <p:cNvPr id="17470" name="TextBox 17469"/>
          <p:cNvSpPr txBox="1"/>
          <p:nvPr/>
        </p:nvSpPr>
        <p:spPr>
          <a:xfrm>
            <a:off x="9811512" y="3739896"/>
            <a:ext cx="1883664" cy="731520"/>
          </a:xfrm>
          <a:prstGeom prst="rect">
            <a:avLst/>
          </a:prstGeom>
          <a:noFill/>
        </p:spPr>
        <p:txBody>
          <a:bodyPr wrap="square" anchor="t" lIns="18288" rIns="18288" tIns="36576" bIns="18288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33691E"/>
                </a:solidFill>
                <a:latin typeface="Arial"/>
              </a:defRPr>
            </a:pPr>
            <a:r>
              <a:t>4. TreeSHAP Attribution</a:t>
            </a:r>
          </a:p>
          <a:p>
            <a:pPr>
              <a:defRPr sz="700">
                <a:solidFill>
                  <a:srgbClr val="475569"/>
                </a:solidFill>
                <a:latin typeface="Arial"/>
              </a:defRPr>
            </a:pPr>
            <a:r>
              <a:t>Deconstructs prediction into exact additive marginal delay days per statutory obstacle.</a:t>
            </a:r>
          </a:p>
        </p:txBody>
      </p:sp>
      <p:pic>
        <p:nvPicPr>
          <p:cNvPr id="17471" name="Picture 17470" descr="step5_dfa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36024" y="4572000"/>
            <a:ext cx="420624" cy="420624"/>
          </a:xfrm>
          <a:prstGeom prst="rect">
            <a:avLst/>
          </a:prstGeom>
        </p:spPr>
      </p:pic>
      <p:sp>
        <p:nvSpPr>
          <p:cNvPr id="17472" name="TextBox 17471"/>
          <p:cNvSpPr txBox="1"/>
          <p:nvPr/>
        </p:nvSpPr>
        <p:spPr>
          <a:xfrm>
            <a:off x="9811512" y="4498848"/>
            <a:ext cx="1883664" cy="731520"/>
          </a:xfrm>
          <a:prstGeom prst="rect">
            <a:avLst/>
          </a:prstGeom>
          <a:noFill/>
        </p:spPr>
        <p:txBody>
          <a:bodyPr wrap="square" anchor="t" lIns="18288" rIns="18288" tIns="36576" bIns="18288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BF360C"/>
                </a:solidFill>
                <a:latin typeface="Arial"/>
              </a:defRPr>
            </a:pPr>
            <a:r>
              <a:t>5. Prescriptive Legal DFA</a:t>
            </a:r>
          </a:p>
          <a:p>
            <a:pPr>
              <a:defRPr sz="700">
                <a:solidFill>
                  <a:srgbClr val="475569"/>
                </a:solidFill>
                <a:latin typeface="Arial"/>
              </a:defRPr>
            </a:pPr>
            <a:r>
              <a:t>Automatically drafts statutory Section 3D, 3G &amp; 3H compliance orders for nodal officers.</a:t>
            </a:r>
          </a:p>
        </p:txBody>
      </p:sp>
      <p:pic>
        <p:nvPicPr>
          <p:cNvPr id="17473" name="Picture 17472" descr="step6_esign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36024" y="5330952"/>
            <a:ext cx="420624" cy="420624"/>
          </a:xfrm>
          <a:prstGeom prst="rect">
            <a:avLst/>
          </a:prstGeom>
        </p:spPr>
      </p:pic>
      <p:sp>
        <p:nvSpPr>
          <p:cNvPr id="17474" name="TextBox 17473"/>
          <p:cNvSpPr txBox="1"/>
          <p:nvPr/>
        </p:nvSpPr>
        <p:spPr>
          <a:xfrm>
            <a:off x="9811512" y="5257800"/>
            <a:ext cx="1883664" cy="731520"/>
          </a:xfrm>
          <a:prstGeom prst="rect">
            <a:avLst/>
          </a:prstGeom>
          <a:noFill/>
        </p:spPr>
        <p:txBody>
          <a:bodyPr wrap="square" anchor="t" lIns="18288" rIns="18288" tIns="36576" bIns="18288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880E4F"/>
                </a:solidFill>
                <a:latin typeface="Arial"/>
              </a:defRPr>
            </a:pPr>
            <a:r>
              <a:t>6. HITL e-Sign &amp; Audit</a:t>
            </a:r>
          </a:p>
          <a:p>
            <a:pPr>
              <a:defRPr sz="700">
                <a:solidFill>
                  <a:srgbClr val="475569"/>
                </a:solidFill>
                <a:latin typeface="Arial"/>
              </a:defRPr>
            </a:pPr>
            <a:r>
              <a:t>Nodal officer validates order via Aadhaar DSC; seals tamper-proof SHA-256 block ledger for CAG.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71500" y="-47626"/>
            <a:ext cx="11010900" cy="1171575"/>
          </a:xfrm>
        </p:spPr>
        <p:txBody>
          <a:bodyPr/>
          <a:lstStyle/>
          <a:p>
            <a:pPr algn="l">
              <a:defRPr sz="2400" b="1">
                <a:solidFill>
                  <a:srgbClr val="003366"/>
                </a:solidFill>
                <a:latin typeface="Arial"/>
              </a:defRPr>
            </a:pPr>
            <a: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38912" y="1051560"/>
            <a:ext cx="5559552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1" name="Picture 17410" descr="feasibility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1161288"/>
            <a:ext cx="329184" cy="329184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950976" y="1143000"/>
            <a:ext cx="4114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070C0"/>
                </a:solidFill>
                <a:latin typeface="Arial"/>
              </a:defRPr>
            </a:pPr>
            <a:r>
              <a:t>FEASIBILITY :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85216" y="1508760"/>
            <a:ext cx="5266944" cy="2606040"/>
          </a:xfrm>
          <a:prstGeom prst="rect">
            <a:avLst/>
          </a:prstGeom>
          <a:noFill/>
        </p:spPr>
        <p:txBody>
          <a:bodyPr wrap="square" anchor="t" tIns="18288" lIns="36576" rIns="36576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Technical :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>
                <a:solidFill>
                  <a:srgbClr val="0070C0"/>
                </a:solidFill>
                <a:latin typeface="Arial"/>
              </a:rPr>
              <a:t>•  </a:t>
            </a:r>
            <a:r>
              <a:rPr sz="850" b="1">
                <a:solidFill>
                  <a:srgbClr val="0070C0"/>
                </a:solidFill>
                <a:latin typeface="Arial"/>
              </a:rPr>
              <a:t>Proven Decoupled Stack : </a:t>
            </a:r>
            <a:r>
              <a:rPr sz="850">
                <a:solidFill>
                  <a:srgbClr val="334155"/>
                </a:solidFill>
                <a:latin typeface="Arial"/>
              </a:rPr>
              <a:t>Python 3.13, FastAPI, React 19, LightGBM, PostgreSQL — queries execute in &lt;15ms.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>
                <a:solidFill>
                  <a:srgbClr val="0070C0"/>
                </a:solidFill>
                <a:latin typeface="Arial"/>
              </a:rPr>
              <a:t>•  </a:t>
            </a:r>
            <a:r>
              <a:rPr sz="850" b="1">
                <a:solidFill>
                  <a:srgbClr val="0070C0"/>
                </a:solidFill>
                <a:latin typeface="Arial"/>
              </a:rPr>
              <a:t>Statutory Compliance : </a:t>
            </a:r>
            <a:r>
              <a:rPr sz="850">
                <a:solidFill>
                  <a:srgbClr val="334155"/>
                </a:solidFill>
                <a:latin typeface="Arial"/>
              </a:rPr>
              <a:t>100% compliant with National Highways Act 1956 (§ 3A–3H) and RFCTLARR Act 2013.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Innovation :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>
                <a:solidFill>
                  <a:srgbClr val="0070C0"/>
                </a:solidFill>
                <a:latin typeface="Arial"/>
              </a:rPr>
              <a:t>•  </a:t>
            </a:r>
            <a:r>
              <a:rPr sz="850" b="1">
                <a:solidFill>
                  <a:srgbClr val="0070C0"/>
                </a:solidFill>
                <a:latin typeface="Arial"/>
              </a:rPr>
              <a:t>Dual-Track Reality Engine : </a:t>
            </a:r>
            <a:r>
              <a:rPr sz="850">
                <a:solidFill>
                  <a:srgbClr val="334155"/>
                </a:solidFill>
                <a:latin typeface="Arial"/>
              </a:rPr>
              <a:t>Decouples physical civil road construction from court escrow disputes under Sec 3D(2) vesting.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Operational :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>
                <a:solidFill>
                  <a:srgbClr val="0070C0"/>
                </a:solidFill>
                <a:latin typeface="Arial"/>
              </a:rPr>
              <a:t>•  </a:t>
            </a:r>
            <a:r>
              <a:rPr sz="850" b="1">
                <a:solidFill>
                  <a:srgbClr val="0070C0"/>
                </a:solidFill>
                <a:latin typeface="Arial"/>
              </a:rPr>
              <a:t>Plug-and-Play Integration : </a:t>
            </a:r>
            <a:r>
              <a:rPr sz="850">
                <a:solidFill>
                  <a:srgbClr val="334155"/>
                </a:solidFill>
                <a:latin typeface="Arial"/>
              </a:rPr>
              <a:t>Point 11 compliant REST API Gateway integrates directly into existing NHAI / BhoomiRashi systems.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Economic :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>
                <a:solidFill>
                  <a:srgbClr val="0070C0"/>
                </a:solidFill>
                <a:latin typeface="Arial"/>
              </a:rPr>
              <a:t>•  </a:t>
            </a:r>
            <a:r>
              <a:rPr sz="850" b="1">
                <a:solidFill>
                  <a:srgbClr val="0070C0"/>
                </a:solidFill>
                <a:latin typeface="Arial"/>
              </a:rPr>
              <a:t>Zero Recurring Licensing : </a:t>
            </a:r>
            <a:r>
              <a:rPr sz="850">
                <a:solidFill>
                  <a:srgbClr val="334155"/>
                </a:solidFill>
                <a:latin typeface="Arial"/>
              </a:rPr>
              <a:t>Built on 100% open-source software stack with no proprietary per-seat vendor fees.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199632" y="1051560"/>
            <a:ext cx="5559552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5" name="Picture 17414" descr="viability_bad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161288"/>
            <a:ext cx="329184" cy="329184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6711696" y="1143000"/>
            <a:ext cx="4114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59669"/>
                </a:solidFill>
                <a:latin typeface="Arial"/>
              </a:defRPr>
            </a:pPr>
            <a:r>
              <a:t>VIABILITY :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345936" y="1508760"/>
            <a:ext cx="5266944" cy="2606040"/>
          </a:xfrm>
          <a:prstGeom prst="rect">
            <a:avLst/>
          </a:prstGeom>
          <a:noFill/>
        </p:spPr>
        <p:txBody>
          <a:bodyPr wrap="square" anchor="t" tIns="18288" lIns="36576" rIns="36576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National Market &amp; Scale :  </a:t>
            </a:r>
            <a:r>
              <a:rPr sz="850">
                <a:solidFill>
                  <a:srgbClr val="334155"/>
                </a:solidFill>
                <a:latin typeface="Arial"/>
              </a:rPr>
              <a:t>₹4,000+ Cr in stalled Section 3H escrow funds across 1,200+ km of national highway corridors; directly unfreezes national CAPEX.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Policy &amp; Statutory Alignment :  </a:t>
            </a:r>
            <a:r>
              <a:rPr sz="850">
                <a:solidFill>
                  <a:srgbClr val="334155"/>
                </a:solidFill>
                <a:latin typeface="Arial"/>
              </a:rPr>
              <a:t>Perfectly synergizes with PM GatiShakti National Master Plan, Cabinet Secretariat guidelines, and digital land modernization.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Investment &amp; National ROI :  </a:t>
            </a:r>
            <a:r>
              <a:rPr sz="850">
                <a:solidFill>
                  <a:srgbClr val="334155"/>
                </a:solidFill>
                <a:latin typeface="Arial"/>
              </a:rPr>
              <a:t>Eliminates contractor idling compensation claims (saving ₹4.5 Cr per month per delayed package); instantaneous fiscal breakeven.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Scalability &amp; Interstate Adoption :  </a:t>
            </a:r>
            <a:r>
              <a:rPr sz="850">
                <a:solidFill>
                  <a:srgbClr val="334155"/>
                </a:solidFill>
                <a:latin typeface="Arial"/>
              </a:rPr>
              <a:t>Scales horizontally across all 28 States and 8 Union Territories via universal state-land ontological harmonizer.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38912" y="4297680"/>
            <a:ext cx="5559552" cy="18105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9" name="Picture 17418" descr="challenge_bad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" y="4407408"/>
            <a:ext cx="292608" cy="292608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932688" y="43891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070C0"/>
                </a:solidFill>
                <a:latin typeface="Arial"/>
              </a:defRPr>
            </a:pPr>
            <a:r>
              <a:t>TECHNICAL CHALLENGES :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585216" y="4736592"/>
            <a:ext cx="5266944" cy="1335024"/>
          </a:xfrm>
          <a:prstGeom prst="rect">
            <a:avLst/>
          </a:prstGeom>
          <a:noFill/>
        </p:spPr>
        <p:txBody>
          <a:bodyPr wrap="square" anchor="t" lIns="36576" rIns="36576" tIns="18288">
            <a:spAutoFit/>
          </a:bodyPr>
          <a:lstStyle/>
          <a:p>
            <a:pPr>
              <a:spcAft>
                <a:spcPts val="400"/>
              </a:spcAft>
            </a:pPr>
            <a:r>
              <a:rPr b="1" sz="900">
                <a:solidFill>
                  <a:srgbClr val="0F172A"/>
                </a:solidFill>
              </a:rPr>
              <a:t>Risk : </a:t>
            </a:r>
            <a:r>
              <a:rPr sz="850">
                <a:solidFill>
                  <a:srgbClr val="334155"/>
                </a:solidFill>
              </a:rPr>
              <a:t>Heterogeneous state land nomenclature (Khasra, Khatauni, Jamabandi) and missing cadastral coordinate data.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0070C0"/>
                </a:solidFill>
              </a:rPr>
              <a:t>Mitigation : </a:t>
            </a:r>
            <a:r>
              <a:rPr sz="850">
                <a:solidFill>
                  <a:srgbClr val="334155"/>
                </a:solidFill>
              </a:rPr>
              <a:t>Universal Ontological Harmonizer normalizes all 47 state parameters into unified schema with automated missing-value imputation.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199632" y="4297680"/>
            <a:ext cx="5559552" cy="18105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3" name="Picture 17422" descr="governance_bad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936" y="4407408"/>
            <a:ext cx="292608" cy="292608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6693408" y="43891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59669"/>
                </a:solidFill>
                <a:latin typeface="Arial"/>
              </a:defRPr>
            </a:pPr>
            <a:r>
              <a:t>STATUTORY &amp; ADOPTION CHALLENGES :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345936" y="4736592"/>
            <a:ext cx="5266944" cy="1335024"/>
          </a:xfrm>
          <a:prstGeom prst="rect">
            <a:avLst/>
          </a:prstGeom>
          <a:noFill/>
        </p:spPr>
        <p:txBody>
          <a:bodyPr wrap="square" anchor="t" lIns="36576" rIns="36576" tIns="18288">
            <a:spAutoFit/>
          </a:bodyPr>
          <a:lstStyle/>
          <a:p>
            <a:pPr>
              <a:spcAft>
                <a:spcPts val="400"/>
              </a:spcAft>
            </a:pPr>
            <a:r>
              <a:rPr b="1" sz="900">
                <a:solidFill>
                  <a:srgbClr val="0F172A"/>
                </a:solidFill>
              </a:rPr>
              <a:t>Risk : </a:t>
            </a:r>
            <a:r>
              <a:rPr sz="850">
                <a:solidFill>
                  <a:srgbClr val="334155"/>
                </a:solidFill>
              </a:rPr>
              <a:t>Bureaucratic apprehension towards automated 'black-box' decisions and pending Section 3H court litigation stays.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059669"/>
                </a:solidFill>
              </a:rPr>
              <a:t>Mitigation : </a:t>
            </a:r>
            <a:r>
              <a:rPr sz="850">
                <a:solidFill>
                  <a:srgbClr val="334155"/>
                </a:solidFill>
              </a:rPr>
              <a:t>Constitutional HITL preserves sovereign statutory authority under Articles 77 &amp; 166 with Aadhaar DSC e-Sign, backed by TreeSHAP explainability.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>
                <a:solidFill>
                  <a:srgbClr val="003366"/>
                </a:solidFill>
                <a:latin typeface="Arial"/>
              </a:defRPr>
            </a:pPr>
            <a:r>
              <a:t>IMPACTS &amp;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38912" y="1051560"/>
            <a:ext cx="685800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1" name="Picture 17410" descr="economic_imp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1197864"/>
            <a:ext cx="438912" cy="438912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1097280" y="1161288"/>
            <a:ext cx="6080760" cy="841248"/>
          </a:xfrm>
          <a:prstGeom prst="rect">
            <a:avLst/>
          </a:prstGeom>
          <a:noFill/>
        </p:spPr>
        <p:txBody>
          <a:bodyPr wrap="square" anchor="t" lIns="18288" rIns="18288" tIns="18288">
            <a:spAutoFit/>
          </a:bodyPr>
          <a:lstStyle/>
          <a:p>
            <a:r>
              <a:rPr sz="950" b="1">
                <a:solidFill>
                  <a:srgbClr val="1E3A8A"/>
                </a:solidFill>
                <a:latin typeface="Arial"/>
              </a:rPr>
              <a:t>•  </a:t>
            </a:r>
            <a:r>
              <a:rPr sz="950" b="1">
                <a:solidFill>
                  <a:srgbClr val="0F172A"/>
                </a:solidFill>
                <a:latin typeface="Arial"/>
              </a:rPr>
              <a:t>The Economic &amp; Infrastructure Impact : </a:t>
            </a:r>
            <a:r>
              <a:rPr sz="850">
                <a:solidFill>
                  <a:srgbClr val="334155"/>
                </a:solidFill>
                <a:latin typeface="Arial"/>
              </a:rPr>
              <a:t>Stalled national highway projects lock up over ₹4,000+ Crore in Section 3H escrow litigation and incur massive contractor idling claims. GatiShakti AI compresses acquisition cycles by 35%–45%, directly unfreezing capital and accelerating national logistics commissioning.</a:t>
            </a:r>
          </a:p>
        </p:txBody>
      </p:sp>
      <p:pic>
        <p:nvPicPr>
          <p:cNvPr id="17413" name="Picture 17412" descr="governance_imp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2130552"/>
            <a:ext cx="438912" cy="438912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1097280" y="2093976"/>
            <a:ext cx="6080760" cy="841248"/>
          </a:xfrm>
          <a:prstGeom prst="rect">
            <a:avLst/>
          </a:prstGeom>
          <a:noFill/>
        </p:spPr>
        <p:txBody>
          <a:bodyPr wrap="square" anchor="t" lIns="18288" rIns="18288" tIns="18288">
            <a:spAutoFit/>
          </a:bodyPr>
          <a:lstStyle/>
          <a:p>
            <a:r>
              <a:rPr sz="950" b="1">
                <a:solidFill>
                  <a:srgbClr val="065F46"/>
                </a:solidFill>
                <a:latin typeface="Arial"/>
              </a:rPr>
              <a:t>•  </a:t>
            </a:r>
            <a:r>
              <a:rPr sz="950" b="1">
                <a:solidFill>
                  <a:srgbClr val="0F172A"/>
                </a:solidFill>
                <a:latin typeface="Arial"/>
              </a:rPr>
              <a:t>Statutory &amp; Governance Transformation : </a:t>
            </a:r>
            <a:r>
              <a:rPr sz="850">
                <a:solidFill>
                  <a:srgbClr val="334155"/>
                </a:solidFill>
                <a:latin typeface="Arial"/>
              </a:rPr>
              <a:t>Enforces zero Section 3D statutory lapses by deploying an autonomous 310-day countdown watchdog. Constitutional HITL architecture preserves sovereign officer authority under Articles 77 &amp; 166 via Aadhaar DSC e-Sign, backed by an immutable SHA-256 ledger ready for CAG &amp; CVC scrutiny.</a:t>
            </a:r>
          </a:p>
        </p:txBody>
      </p:sp>
      <p:pic>
        <p:nvPicPr>
          <p:cNvPr id="17415" name="Picture 17414" descr="social_impa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" y="3063240"/>
            <a:ext cx="438912" cy="438912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1097280" y="3026664"/>
            <a:ext cx="6080760" cy="841248"/>
          </a:xfrm>
          <a:prstGeom prst="rect">
            <a:avLst/>
          </a:prstGeom>
          <a:noFill/>
        </p:spPr>
        <p:txBody>
          <a:bodyPr wrap="square" anchor="t" lIns="18288" rIns="18288" tIns="18288">
            <a:spAutoFit/>
          </a:bodyPr>
          <a:lstStyle/>
          <a:p>
            <a:r>
              <a:rPr sz="950" b="1">
                <a:solidFill>
                  <a:srgbClr val="92400E"/>
                </a:solidFill>
                <a:latin typeface="Arial"/>
              </a:rPr>
              <a:t>•  </a:t>
            </a:r>
            <a:r>
              <a:rPr sz="950" b="1">
                <a:solidFill>
                  <a:srgbClr val="0F172A"/>
                </a:solidFill>
                <a:latin typeface="Arial"/>
              </a:rPr>
              <a:t>Social &amp; Landowner Empowerment : </a:t>
            </a:r>
            <a:r>
              <a:rPr sz="850">
                <a:solidFill>
                  <a:srgbClr val="334155"/>
                </a:solidFill>
                <a:latin typeface="Arial"/>
              </a:rPr>
              <a:t>Resolves farmer compensation disputes under Section 3H transparently. Automated Draft for Approval (DFA) SOP notices eliminate multi-year procedural delays, ensuring timely, dispute-free direct-benefit disbursements to affected rural families.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7424927" y="1051560"/>
            <a:ext cx="4315968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ectangle 17417"/>
          <p:cNvSpPr/>
          <p:nvPr/>
        </p:nvSpPr>
        <p:spPr>
          <a:xfrm>
            <a:off x="7424927" y="1051560"/>
            <a:ext cx="4315968" cy="329184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Feature Comparison                         Existing Silos    GatiShakti AI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7424927" y="1719072"/>
            <a:ext cx="4315968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7516367" y="1435608"/>
            <a:ext cx="2423160" cy="256032"/>
          </a:xfrm>
          <a:prstGeom prst="rect">
            <a:avLst/>
          </a:prstGeom>
          <a:noFill/>
        </p:spPr>
        <p:txBody>
          <a:bodyPr wrap="none" anchor="ctr" tIns="9144" lIns="18288">
            <a:spAutoFit/>
          </a:bodyPr>
          <a:lstStyle/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Predictive Delay ML Scoring</a:t>
            </a:r>
          </a:p>
        </p:txBody>
      </p:sp>
      <p:pic>
        <p:nvPicPr>
          <p:cNvPr id="17421" name="Picture 17420" descr="table_cro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79" y="1463040"/>
            <a:ext cx="182880" cy="182880"/>
          </a:xfrm>
          <a:prstGeom prst="rect">
            <a:avLst/>
          </a:prstGeom>
        </p:spPr>
      </p:pic>
      <p:pic>
        <p:nvPicPr>
          <p:cNvPr id="17422" name="Picture 17421" descr="table_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5679" y="1463040"/>
            <a:ext cx="182880" cy="182880"/>
          </a:xfrm>
          <a:prstGeom prst="rect">
            <a:avLst/>
          </a:prstGeom>
        </p:spPr>
      </p:pic>
      <p:sp>
        <p:nvSpPr>
          <p:cNvPr id="17423" name="Rectangle 17422"/>
          <p:cNvSpPr/>
          <p:nvPr/>
        </p:nvSpPr>
        <p:spPr>
          <a:xfrm>
            <a:off x="7443215" y="1719072"/>
            <a:ext cx="4279392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ectangle 17423"/>
          <p:cNvSpPr/>
          <p:nvPr/>
        </p:nvSpPr>
        <p:spPr>
          <a:xfrm>
            <a:off x="7424927" y="2039112"/>
            <a:ext cx="4315968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7516367" y="1755648"/>
            <a:ext cx="2423160" cy="256032"/>
          </a:xfrm>
          <a:prstGeom prst="rect">
            <a:avLst/>
          </a:prstGeom>
          <a:noFill/>
        </p:spPr>
        <p:txBody>
          <a:bodyPr wrap="none" anchor="ctr" tIns="9144" lIns="18288">
            <a:spAutoFit/>
          </a:bodyPr>
          <a:lstStyle/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Sec 3D 365-Day Lapse Watchdog</a:t>
            </a:r>
          </a:p>
        </p:txBody>
      </p:sp>
      <p:pic>
        <p:nvPicPr>
          <p:cNvPr id="17426" name="Picture 17425" descr="table_cro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79" y="1783080"/>
            <a:ext cx="182880" cy="182880"/>
          </a:xfrm>
          <a:prstGeom prst="rect">
            <a:avLst/>
          </a:prstGeom>
        </p:spPr>
      </p:pic>
      <p:pic>
        <p:nvPicPr>
          <p:cNvPr id="17427" name="Picture 17426" descr="table_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5679" y="1783080"/>
            <a:ext cx="182880" cy="182880"/>
          </a:xfrm>
          <a:prstGeom prst="rect">
            <a:avLst/>
          </a:prstGeom>
        </p:spPr>
      </p:pic>
      <p:sp>
        <p:nvSpPr>
          <p:cNvPr id="17428" name="Rectangle 17427"/>
          <p:cNvSpPr/>
          <p:nvPr/>
        </p:nvSpPr>
        <p:spPr>
          <a:xfrm>
            <a:off x="7424927" y="2359152"/>
            <a:ext cx="4315968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7516367" y="2075688"/>
            <a:ext cx="2423160" cy="256032"/>
          </a:xfrm>
          <a:prstGeom prst="rect">
            <a:avLst/>
          </a:prstGeom>
          <a:noFill/>
        </p:spPr>
        <p:txBody>
          <a:bodyPr wrap="none" anchor="ctr" tIns="9144" lIns="18288">
            <a:spAutoFit/>
          </a:bodyPr>
          <a:lstStyle/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Decoupled Central DB (&lt;15ms)</a:t>
            </a:r>
          </a:p>
        </p:txBody>
      </p:sp>
      <p:pic>
        <p:nvPicPr>
          <p:cNvPr id="17430" name="Picture 17429" descr="table_cro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79" y="2103120"/>
            <a:ext cx="182880" cy="182880"/>
          </a:xfrm>
          <a:prstGeom prst="rect">
            <a:avLst/>
          </a:prstGeom>
        </p:spPr>
      </p:pic>
      <p:pic>
        <p:nvPicPr>
          <p:cNvPr id="17431" name="Picture 17430" descr="table_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5679" y="2103120"/>
            <a:ext cx="182880" cy="182880"/>
          </a:xfrm>
          <a:prstGeom prst="rect">
            <a:avLst/>
          </a:prstGeom>
        </p:spPr>
      </p:pic>
      <p:sp>
        <p:nvSpPr>
          <p:cNvPr id="17432" name="Rectangle 17431"/>
          <p:cNvSpPr/>
          <p:nvPr/>
        </p:nvSpPr>
        <p:spPr>
          <a:xfrm>
            <a:off x="7443215" y="2359152"/>
            <a:ext cx="4279392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Rectangle 17432"/>
          <p:cNvSpPr/>
          <p:nvPr/>
        </p:nvSpPr>
        <p:spPr>
          <a:xfrm>
            <a:off x="7424927" y="2679192"/>
            <a:ext cx="4315968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7516367" y="2395728"/>
            <a:ext cx="2423160" cy="256032"/>
          </a:xfrm>
          <a:prstGeom prst="rect">
            <a:avLst/>
          </a:prstGeom>
          <a:noFill/>
        </p:spPr>
        <p:txBody>
          <a:bodyPr wrap="none" anchor="ctr" tIns="9144" lIns="18288">
            <a:spAutoFit/>
          </a:bodyPr>
          <a:lstStyle/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Dual-Track Reality Engine (Sec 3D2)</a:t>
            </a:r>
          </a:p>
        </p:txBody>
      </p:sp>
      <p:pic>
        <p:nvPicPr>
          <p:cNvPr id="17435" name="Picture 17434" descr="table_cro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79" y="2423160"/>
            <a:ext cx="182880" cy="182880"/>
          </a:xfrm>
          <a:prstGeom prst="rect">
            <a:avLst/>
          </a:prstGeom>
        </p:spPr>
      </p:pic>
      <p:pic>
        <p:nvPicPr>
          <p:cNvPr id="17436" name="Picture 17435" descr="table_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5679" y="2423160"/>
            <a:ext cx="182880" cy="182880"/>
          </a:xfrm>
          <a:prstGeom prst="rect">
            <a:avLst/>
          </a:prstGeom>
        </p:spPr>
      </p:pic>
      <p:sp>
        <p:nvSpPr>
          <p:cNvPr id="17437" name="Rectangle 17436"/>
          <p:cNvSpPr/>
          <p:nvPr/>
        </p:nvSpPr>
        <p:spPr>
          <a:xfrm>
            <a:off x="7424927" y="2999232"/>
            <a:ext cx="4315968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7516367" y="2715768"/>
            <a:ext cx="2423160" cy="256032"/>
          </a:xfrm>
          <a:prstGeom prst="rect">
            <a:avLst/>
          </a:prstGeom>
          <a:noFill/>
        </p:spPr>
        <p:txBody>
          <a:bodyPr wrap="none" anchor="ctr" tIns="9144" lIns="18288">
            <a:spAutoFit/>
          </a:bodyPr>
          <a:lstStyle/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Statutory Factor XAI (TreeSHAP)</a:t>
            </a:r>
          </a:p>
        </p:txBody>
      </p:sp>
      <p:pic>
        <p:nvPicPr>
          <p:cNvPr id="17439" name="Picture 17438" descr="table_cro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79" y="2743200"/>
            <a:ext cx="182880" cy="182880"/>
          </a:xfrm>
          <a:prstGeom prst="rect">
            <a:avLst/>
          </a:prstGeom>
        </p:spPr>
      </p:pic>
      <p:pic>
        <p:nvPicPr>
          <p:cNvPr id="17440" name="Picture 17439" descr="table_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5679" y="2743200"/>
            <a:ext cx="182880" cy="182880"/>
          </a:xfrm>
          <a:prstGeom prst="rect">
            <a:avLst/>
          </a:prstGeom>
        </p:spPr>
      </p:pic>
      <p:sp>
        <p:nvSpPr>
          <p:cNvPr id="17441" name="Rectangle 17440"/>
          <p:cNvSpPr/>
          <p:nvPr/>
        </p:nvSpPr>
        <p:spPr>
          <a:xfrm>
            <a:off x="7443215" y="2999232"/>
            <a:ext cx="4279392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Rectangle 17441"/>
          <p:cNvSpPr/>
          <p:nvPr/>
        </p:nvSpPr>
        <p:spPr>
          <a:xfrm>
            <a:off x="7424927" y="3319272"/>
            <a:ext cx="4315968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7516367" y="3035808"/>
            <a:ext cx="2423160" cy="256032"/>
          </a:xfrm>
          <a:prstGeom prst="rect">
            <a:avLst/>
          </a:prstGeom>
          <a:noFill/>
        </p:spPr>
        <p:txBody>
          <a:bodyPr wrap="none" anchor="ctr" tIns="9144" lIns="18288">
            <a:spAutoFit/>
          </a:bodyPr>
          <a:lstStyle/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Automated Prescriptive DFA SOPs</a:t>
            </a:r>
          </a:p>
        </p:txBody>
      </p:sp>
      <p:pic>
        <p:nvPicPr>
          <p:cNvPr id="17444" name="Picture 17443" descr="table_cro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79" y="3063240"/>
            <a:ext cx="182880" cy="182880"/>
          </a:xfrm>
          <a:prstGeom prst="rect">
            <a:avLst/>
          </a:prstGeom>
        </p:spPr>
      </p:pic>
      <p:pic>
        <p:nvPicPr>
          <p:cNvPr id="17445" name="Picture 17444" descr="table_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5679" y="3063240"/>
            <a:ext cx="182880" cy="182880"/>
          </a:xfrm>
          <a:prstGeom prst="rect">
            <a:avLst/>
          </a:prstGeom>
        </p:spPr>
      </p:pic>
      <p:sp>
        <p:nvSpPr>
          <p:cNvPr id="17446" name="Rectangle 17445"/>
          <p:cNvSpPr/>
          <p:nvPr/>
        </p:nvSpPr>
        <p:spPr>
          <a:xfrm>
            <a:off x="7424927" y="3639312"/>
            <a:ext cx="4315968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7" name="TextBox 17446"/>
          <p:cNvSpPr txBox="1"/>
          <p:nvPr/>
        </p:nvSpPr>
        <p:spPr>
          <a:xfrm>
            <a:off x="7516367" y="3355848"/>
            <a:ext cx="2423160" cy="256032"/>
          </a:xfrm>
          <a:prstGeom prst="rect">
            <a:avLst/>
          </a:prstGeom>
          <a:noFill/>
        </p:spPr>
        <p:txBody>
          <a:bodyPr wrap="none" anchor="ctr" tIns="9144" lIns="18288">
            <a:spAutoFit/>
          </a:bodyPr>
          <a:lstStyle/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Constitutional HITL &amp; Aadhaar DSC</a:t>
            </a:r>
          </a:p>
        </p:txBody>
      </p:sp>
      <p:pic>
        <p:nvPicPr>
          <p:cNvPr id="17448" name="Picture 17447" descr="table_cro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79" y="3383280"/>
            <a:ext cx="182880" cy="182880"/>
          </a:xfrm>
          <a:prstGeom prst="rect">
            <a:avLst/>
          </a:prstGeom>
        </p:spPr>
      </p:pic>
      <p:pic>
        <p:nvPicPr>
          <p:cNvPr id="17449" name="Picture 17448" descr="table_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5679" y="3383280"/>
            <a:ext cx="182880" cy="182880"/>
          </a:xfrm>
          <a:prstGeom prst="rect">
            <a:avLst/>
          </a:prstGeom>
        </p:spPr>
      </p:pic>
      <p:sp>
        <p:nvSpPr>
          <p:cNvPr id="17450" name="Rectangle 17449"/>
          <p:cNvSpPr/>
          <p:nvPr/>
        </p:nvSpPr>
        <p:spPr>
          <a:xfrm>
            <a:off x="7443215" y="3639312"/>
            <a:ext cx="4279392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Rectangle 17450"/>
          <p:cNvSpPr/>
          <p:nvPr/>
        </p:nvSpPr>
        <p:spPr>
          <a:xfrm>
            <a:off x="7424927" y="3959352"/>
            <a:ext cx="4315968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TextBox 17451"/>
          <p:cNvSpPr txBox="1"/>
          <p:nvPr/>
        </p:nvSpPr>
        <p:spPr>
          <a:xfrm>
            <a:off x="7516367" y="3675888"/>
            <a:ext cx="2423160" cy="256032"/>
          </a:xfrm>
          <a:prstGeom prst="rect">
            <a:avLst/>
          </a:prstGeom>
          <a:noFill/>
        </p:spPr>
        <p:txBody>
          <a:bodyPr wrap="none" anchor="ctr" tIns="9144" lIns="18288">
            <a:spAutoFit/>
          </a:bodyPr>
          <a:lstStyle/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CAG / CVC Tamper-Proof Audit</a:t>
            </a:r>
          </a:p>
        </p:txBody>
      </p:sp>
      <p:pic>
        <p:nvPicPr>
          <p:cNvPr id="17453" name="Picture 17452" descr="table_cro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79" y="3703320"/>
            <a:ext cx="182880" cy="182880"/>
          </a:xfrm>
          <a:prstGeom prst="rect">
            <a:avLst/>
          </a:prstGeom>
        </p:spPr>
      </p:pic>
      <p:pic>
        <p:nvPicPr>
          <p:cNvPr id="17454" name="Picture 17453" descr="table_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5679" y="3703320"/>
            <a:ext cx="182880" cy="182880"/>
          </a:xfrm>
          <a:prstGeom prst="rect">
            <a:avLst/>
          </a:prstGeom>
        </p:spPr>
      </p:pic>
      <p:sp>
        <p:nvSpPr>
          <p:cNvPr id="17455" name="Rounded Rectangle 17454"/>
          <p:cNvSpPr/>
          <p:nvPr/>
        </p:nvSpPr>
        <p:spPr>
          <a:xfrm>
            <a:off x="438912" y="4160520"/>
            <a:ext cx="11301984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E293B"/>
                </a:solidFill>
                <a:latin typeface="Arial"/>
              </a:defRPr>
            </a:pPr>
            <a:r>
              <a:t>HOW GATISHAKTI AI DELIVERS MULTI-STAKEHOLDER VALUE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438912" y="4526280"/>
            <a:ext cx="3621024" cy="16642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Rounded Rectangle 17456"/>
          <p:cNvSpPr/>
          <p:nvPr/>
        </p:nvSpPr>
        <p:spPr>
          <a:xfrm>
            <a:off x="512064" y="4599432"/>
            <a:ext cx="3474720" cy="2743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MODE 1: NHAI PROJECT DIRECTOR (PD)</a:t>
            </a:r>
          </a:p>
        </p:txBody>
      </p:sp>
      <p:pic>
        <p:nvPicPr>
          <p:cNvPr id="17458" name="Picture 17457" descr="nhai_pd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4617720"/>
            <a:ext cx="219456" cy="219456"/>
          </a:xfrm>
          <a:prstGeom prst="rect">
            <a:avLst/>
          </a:prstGeom>
        </p:spPr>
      </p:pic>
      <p:sp>
        <p:nvSpPr>
          <p:cNvPr id="17459" name="TextBox 17458"/>
          <p:cNvSpPr txBox="1"/>
          <p:nvPr/>
        </p:nvSpPr>
        <p:spPr>
          <a:xfrm>
            <a:off x="530352" y="4892040"/>
            <a:ext cx="3438144" cy="1252728"/>
          </a:xfrm>
          <a:prstGeom prst="rect">
            <a:avLst/>
          </a:prstGeom>
          <a:noFill/>
        </p:spPr>
        <p:txBody>
          <a:bodyPr wrap="square" anchor="t" lIns="36576" rIns="36576" tIns="18288">
            <a:spAutoFit/>
          </a:bodyPr>
          <a:lstStyle/>
          <a:p>
            <a:pPr>
              <a:spcAft>
                <a:spcPts val="200"/>
              </a:spcAft>
            </a:pPr>
            <a:r>
              <a:rPr sz="750" b="1">
                <a:solidFill>
                  <a:srgbClr val="0070C0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For : </a:t>
            </a:r>
            <a:r>
              <a:rPr sz="720">
                <a:solidFill>
                  <a:srgbClr val="334155"/>
                </a:solidFill>
                <a:latin typeface="Arial"/>
              </a:rPr>
              <a:t>Highway corridor civil works &amp; contract delivery</a:t>
            </a:r>
          </a:p>
          <a:p>
            <a:pPr>
              <a:spcAft>
                <a:spcPts val="200"/>
              </a:spcAft>
            </a:pPr>
            <a:r>
              <a:rPr sz="750" b="1">
                <a:solidFill>
                  <a:srgbClr val="0070C0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Process : </a:t>
            </a:r>
            <a:r>
              <a:rPr sz="720">
                <a:solidFill>
                  <a:srgbClr val="334155"/>
                </a:solidFill>
                <a:latin typeface="Arial"/>
              </a:rPr>
              <a:t>Corridor RoW tracking ➔ Auto delay alerts ➔ SOP issuance</a:t>
            </a:r>
          </a:p>
          <a:p>
            <a:pPr>
              <a:spcAft>
                <a:spcPts val="200"/>
              </a:spcAft>
            </a:pPr>
            <a:r>
              <a:rPr sz="750" b="1">
                <a:solidFill>
                  <a:srgbClr val="0070C0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Time Saved : </a:t>
            </a:r>
            <a:r>
              <a:rPr sz="720">
                <a:solidFill>
                  <a:srgbClr val="334155"/>
                </a:solidFill>
                <a:latin typeface="Arial"/>
              </a:rPr>
              <a:t>4 to 8 months saved per 40 km construction package</a:t>
            </a:r>
          </a:p>
          <a:p>
            <a:pPr>
              <a:spcAft>
                <a:spcPts val="200"/>
              </a:spcAft>
            </a:pPr>
            <a:r>
              <a:rPr sz="750" b="1">
                <a:solidFill>
                  <a:srgbClr val="0070C0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Impact Metric : </a:t>
            </a:r>
            <a:r>
              <a:rPr sz="720">
                <a:solidFill>
                  <a:srgbClr val="334155"/>
                </a:solidFill>
                <a:latin typeface="Arial"/>
              </a:rPr>
              <a:t>Saves ₹4.5 Cr/month in idling compensation claims</a:t>
            </a:r>
          </a:p>
          <a:p>
            <a:pPr>
              <a:spcAft>
                <a:spcPts val="200"/>
              </a:spcAft>
            </a:pPr>
            <a:r>
              <a:rPr sz="750" b="1">
                <a:solidFill>
                  <a:srgbClr val="0070C0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Best For : </a:t>
            </a:r>
            <a:r>
              <a:rPr sz="720">
                <a:solidFill>
                  <a:srgbClr val="334155"/>
                </a:solidFill>
                <a:latin typeface="Arial"/>
              </a:rPr>
              <a:t>EPC contractor coordination &amp; physical road execution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4279392" y="4526280"/>
            <a:ext cx="3621024" cy="16642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Rounded Rectangle 17460"/>
          <p:cNvSpPr/>
          <p:nvPr/>
        </p:nvSpPr>
        <p:spPr>
          <a:xfrm>
            <a:off x="4352544" y="4599432"/>
            <a:ext cx="3474720" cy="2743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MODE 2: CALA &amp; REVENUE NODAL OFFICERS</a:t>
            </a:r>
          </a:p>
        </p:txBody>
      </p:sp>
      <p:pic>
        <p:nvPicPr>
          <p:cNvPr id="17462" name="Picture 17461" descr="cala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9120" y="4617720"/>
            <a:ext cx="219456" cy="219456"/>
          </a:xfrm>
          <a:prstGeom prst="rect">
            <a:avLst/>
          </a:prstGeom>
        </p:spPr>
      </p:pic>
      <p:sp>
        <p:nvSpPr>
          <p:cNvPr id="17463" name="TextBox 17462"/>
          <p:cNvSpPr txBox="1"/>
          <p:nvPr/>
        </p:nvSpPr>
        <p:spPr>
          <a:xfrm>
            <a:off x="4370832" y="4892040"/>
            <a:ext cx="3438144" cy="1252728"/>
          </a:xfrm>
          <a:prstGeom prst="rect">
            <a:avLst/>
          </a:prstGeom>
          <a:noFill/>
        </p:spPr>
        <p:txBody>
          <a:bodyPr wrap="square" anchor="t" lIns="36576" rIns="36576" tIns="18288">
            <a:spAutoFit/>
          </a:bodyPr>
          <a:lstStyle/>
          <a:p>
            <a:pPr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For : </a:t>
            </a:r>
            <a:r>
              <a:rPr sz="720">
                <a:solidFill>
                  <a:srgbClr val="334155"/>
                </a:solidFill>
                <a:latin typeface="Arial"/>
              </a:rPr>
              <a:t>Competent Authority for Land Acquisition &amp; Revenue inquiries</a:t>
            </a:r>
          </a:p>
          <a:p>
            <a:pPr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Process : </a:t>
            </a:r>
            <a:r>
              <a:rPr sz="720">
                <a:solidFill>
                  <a:srgbClr val="334155"/>
                </a:solidFill>
                <a:latin typeface="Arial"/>
              </a:rPr>
              <a:t>Cadastral plot mapping ➔ TreeSHAP bottleneck analysis ➔ DSC e-Sign</a:t>
            </a:r>
          </a:p>
          <a:p>
            <a:pPr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Time Saved : </a:t>
            </a:r>
            <a:r>
              <a:rPr sz="720">
                <a:solidFill>
                  <a:srgbClr val="334155"/>
                </a:solidFill>
                <a:latin typeface="Arial"/>
              </a:rPr>
              <a:t>65% faster Section 3D &amp; 3G DFA notice preparation</a:t>
            </a:r>
          </a:p>
          <a:p>
            <a:pPr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Impact Metric : </a:t>
            </a:r>
            <a:r>
              <a:rPr sz="720">
                <a:solidFill>
                  <a:srgbClr val="334155"/>
                </a:solidFill>
                <a:latin typeface="Arial"/>
              </a:rPr>
              <a:t>Zero statutory lapses across 156 corridor villages</a:t>
            </a:r>
          </a:p>
          <a:p>
            <a:pPr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Best For : </a:t>
            </a:r>
            <a:r>
              <a:rPr sz="720">
                <a:solidFill>
                  <a:srgbClr val="334155"/>
                </a:solidFill>
                <a:latin typeface="Arial"/>
              </a:rPr>
              <a:t>Khasra verification, award inquiry &amp; statutory compliance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8119872" y="4526280"/>
            <a:ext cx="3621024" cy="16642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5" name="Rounded Rectangle 17464"/>
          <p:cNvSpPr/>
          <p:nvPr/>
        </p:nvSpPr>
        <p:spPr>
          <a:xfrm>
            <a:off x="8193024" y="4599432"/>
            <a:ext cx="347472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MODE 3: MoRTH &amp; NATIONAL APEX LEADERSHIP</a:t>
            </a:r>
          </a:p>
        </p:txBody>
      </p:sp>
      <p:pic>
        <p:nvPicPr>
          <p:cNvPr id="17466" name="Picture 17465" descr="morth_ic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9600" y="4617720"/>
            <a:ext cx="219456" cy="219456"/>
          </a:xfrm>
          <a:prstGeom prst="rect">
            <a:avLst/>
          </a:prstGeom>
        </p:spPr>
      </p:pic>
      <p:sp>
        <p:nvSpPr>
          <p:cNvPr id="17467" name="TextBox 17466"/>
          <p:cNvSpPr txBox="1"/>
          <p:nvPr/>
        </p:nvSpPr>
        <p:spPr>
          <a:xfrm>
            <a:off x="8211312" y="4892040"/>
            <a:ext cx="3438144" cy="1252728"/>
          </a:xfrm>
          <a:prstGeom prst="rect">
            <a:avLst/>
          </a:prstGeom>
          <a:noFill/>
        </p:spPr>
        <p:txBody>
          <a:bodyPr wrap="square" anchor="t" lIns="36576" rIns="36576" tIns="18288">
            <a:spAutoFit/>
          </a:bodyPr>
          <a:lstStyle/>
          <a:p>
            <a:pPr>
              <a:spcAft>
                <a:spcPts val="200"/>
              </a:spcAft>
            </a:pPr>
            <a:r>
              <a:rPr sz="750" b="1">
                <a:solidFill>
                  <a:srgbClr val="059669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For : </a:t>
            </a:r>
            <a:r>
              <a:rPr sz="720">
                <a:solidFill>
                  <a:srgbClr val="334155"/>
                </a:solidFill>
                <a:latin typeface="Arial"/>
              </a:rPr>
              <a:t>Ministry Leadership &amp; Network Planning Group (NMP)</a:t>
            </a:r>
          </a:p>
          <a:p>
            <a:pPr>
              <a:spcAft>
                <a:spcPts val="200"/>
              </a:spcAft>
            </a:pPr>
            <a:r>
              <a:rPr sz="750" b="1">
                <a:solidFill>
                  <a:srgbClr val="059669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Process : </a:t>
            </a:r>
            <a:r>
              <a:rPr sz="720">
                <a:solidFill>
                  <a:srgbClr val="334155"/>
                </a:solidFill>
                <a:latin typeface="Arial"/>
              </a:rPr>
              <a:t>Macro corridor analytics ➔ Multi-modal telemetry ➔ Fund clearance</a:t>
            </a:r>
          </a:p>
          <a:p>
            <a:pPr>
              <a:spcAft>
                <a:spcPts val="200"/>
              </a:spcAft>
            </a:pPr>
            <a:r>
              <a:rPr sz="750" b="1">
                <a:solidFill>
                  <a:srgbClr val="059669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Time Saved : </a:t>
            </a:r>
            <a:r>
              <a:rPr sz="720">
                <a:solidFill>
                  <a:srgbClr val="334155"/>
                </a:solidFill>
                <a:latin typeface="Arial"/>
              </a:rPr>
              <a:t>Real-time national telemetry replacing monthly physical reviews</a:t>
            </a:r>
          </a:p>
          <a:p>
            <a:pPr>
              <a:spcAft>
                <a:spcPts val="200"/>
              </a:spcAft>
            </a:pPr>
            <a:r>
              <a:rPr sz="750" b="1">
                <a:solidFill>
                  <a:srgbClr val="059669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Impact Metric : </a:t>
            </a:r>
            <a:r>
              <a:rPr sz="720">
                <a:solidFill>
                  <a:srgbClr val="334155"/>
                </a:solidFill>
                <a:latin typeface="Arial"/>
              </a:rPr>
              <a:t>₹4,000+ Crore in stalled escrow funds unfrozen</a:t>
            </a:r>
          </a:p>
          <a:p>
            <a:pPr>
              <a:spcAft>
                <a:spcPts val="200"/>
              </a:spcAft>
            </a:pPr>
            <a:r>
              <a:rPr sz="750" b="1">
                <a:solidFill>
                  <a:srgbClr val="059669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Best For : </a:t>
            </a:r>
            <a:r>
              <a:rPr sz="720">
                <a:solidFill>
                  <a:srgbClr val="334155"/>
                </a:solidFill>
                <a:latin typeface="Arial"/>
              </a:rPr>
              <a:t>National infrastructure prioritization &amp; CAG/CVC audit compliance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4852" y="-95250"/>
            <a:ext cx="8496300" cy="1143000"/>
          </a:xfrm>
        </p:spPr>
        <p:txBody>
          <a:bodyPr/>
          <a:lstStyle/>
          <a:p>
            <a:pPr algn="l">
              <a:defRPr sz="2400" b="1">
                <a:solidFill>
                  <a:srgbClr val="003366"/>
                </a:solidFill>
                <a:latin typeface="Arial"/>
              </a:defRPr>
            </a:pPr>
            <a: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38912" y="1051560"/>
            <a:ext cx="11301984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1" name="Picture 17410" descr="statutory_book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1161288"/>
            <a:ext cx="384048" cy="384048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1060704" y="1106424"/>
            <a:ext cx="10570464" cy="1261872"/>
          </a:xfrm>
          <a:prstGeom prst="rect">
            <a:avLst/>
          </a:prstGeom>
          <a:noFill/>
        </p:spPr>
        <p:txBody>
          <a:bodyPr wrap="square" anchor="t" lIns="18288" rIns="36576" tIns="18288">
            <a:spAutoFit/>
          </a:bodyPr>
          <a:lstStyle/>
          <a:p>
            <a:pPr>
              <a:spcBef>
                <a:spcPts val="150"/>
              </a:spcBef>
              <a:spcAft>
                <a:spcPts val="250"/>
              </a:spcAft>
            </a:pPr>
            <a:r>
              <a:rPr sz="850" b="1">
                <a:solidFill>
                  <a:srgbClr val="0070C0"/>
                </a:solidFill>
                <a:latin typeface="Arial"/>
              </a:rPr>
              <a:t>•  </a:t>
            </a:r>
            <a:r>
              <a:rPr sz="850" b="1">
                <a:solidFill>
                  <a:srgbClr val="0F172A"/>
                </a:solidFill>
                <a:latin typeface="Arial"/>
              </a:rPr>
              <a:t>The National Highways Act, 1956 &amp; RFCTLARR Act, 2013 : </a:t>
            </a:r>
            <a:r>
              <a:rPr sz="800">
                <a:solidFill>
                  <a:srgbClr val="334155"/>
                </a:solidFill>
                <a:latin typeface="Arial"/>
              </a:rPr>
              <a:t>Foundational Indian statutory frameworks governing land acquisition (§ 3A to 3H) and mandatory 365-day Section 3D lapse timelines. Full Details : NH Act 1956 / RFCTLARR 2013 / PM GatiShakti Framework</a:t>
            </a:r>
          </a:p>
          <a:p>
            <a:pPr>
              <a:spcBef>
                <a:spcPts val="150"/>
              </a:spcBef>
              <a:spcAft>
                <a:spcPts val="250"/>
              </a:spcAft>
            </a:pPr>
            <a:r>
              <a:rPr sz="850" b="1">
                <a:solidFill>
                  <a:srgbClr val="0070C0"/>
                </a:solidFill>
                <a:latin typeface="Arial"/>
              </a:rPr>
              <a:t>•  </a:t>
            </a:r>
            <a:r>
              <a:rPr sz="850" b="1">
                <a:solidFill>
                  <a:srgbClr val="0F172A"/>
                </a:solidFill>
                <a:latin typeface="Arial"/>
              </a:rPr>
              <a:t>Explainable AI (XAI) &amp; TreeSHAP : </a:t>
            </a:r>
            <a:r>
              <a:rPr sz="800">
                <a:solidFill>
                  <a:srgbClr val="334155"/>
                </a:solidFill>
                <a:latin typeface="Arial"/>
              </a:rPr>
              <a:t>Lundberg &amp; Lee (NeurIPS 2017) foundational game-theoretic feature attribution; Chen &amp; Guestrin (KDD 2016) XGBoost gradient boosted trees. Links : NeurIPS 2017 / XGBoost KDD 2016</a:t>
            </a:r>
          </a:p>
          <a:p>
            <a:pPr>
              <a:spcBef>
                <a:spcPts val="150"/>
              </a:spcBef>
              <a:spcAft>
                <a:spcPts val="250"/>
              </a:spcAft>
            </a:pPr>
            <a:r>
              <a:rPr sz="850" b="1">
                <a:solidFill>
                  <a:srgbClr val="0070C0"/>
                </a:solidFill>
                <a:latin typeface="Arial"/>
              </a:rPr>
              <a:t>•  </a:t>
            </a:r>
            <a:r>
              <a:rPr sz="850" b="1">
                <a:solidFill>
                  <a:srgbClr val="0F172A"/>
                </a:solidFill>
                <a:latin typeface="Arial"/>
              </a:rPr>
              <a:t>Constitutional Governance &amp; Audit Rigor : </a:t>
            </a:r>
            <a:r>
              <a:rPr sz="800">
                <a:solidFill>
                  <a:srgbClr val="334155"/>
                </a:solidFill>
                <a:latin typeface="Arial"/>
              </a:rPr>
              <a:t>Adherence to Articles 77 &amp; 166 of the Constitution of India; CVC &amp; CAG compliance guidelines for digital infrastructure procurement. Links : MoRTH Directives / CAG Guidelines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38912" y="2542032"/>
            <a:ext cx="5166360" cy="1463040"/>
          </a:xfrm>
          <a:prstGeom prst="roundRect">
            <a:avLst/>
          </a:prstGeom>
          <a:solidFill>
            <a:srgbClr val="F0F7FF"/>
          </a:solidFill>
          <a:ln w="1524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438912" y="2615184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70C0"/>
                </a:solidFill>
                <a:latin typeface="Arial"/>
              </a:defRPr>
            </a:pPr>
            <a:r>
              <a:t>SOLUTIONS ALREADY EXIST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85216" y="2889504"/>
            <a:ext cx="4873752" cy="1060704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>
              <a:spcAft>
                <a:spcPts val="400"/>
              </a:spcAft>
            </a:pPr>
            <a:r>
              <a:rPr sz="850">
                <a:solidFill>
                  <a:srgbClr val="334155"/>
                </a:solidFill>
                <a:latin typeface="Arial"/>
              </a:rPr>
              <a:t>•  Most are fragmented, physical paper-based registers, isolated cadastral maps, or slow manual OCR tools built with zero statutory delay prediction.
</a:t>
            </a:r>
          </a:p>
          <a:p>
            <a:r>
              <a:rPr sz="850" b="1">
                <a:solidFill>
                  <a:srgbClr val="0F172A"/>
                </a:solidFill>
                <a:latin typeface="Arial"/>
              </a:rPr>
              <a:t>•  EXISTING SYSTEMS :  </a:t>
            </a:r>
            <a:r>
              <a:rPr sz="850">
                <a:solidFill>
                  <a:srgbClr val="0070C0"/>
                </a:solidFill>
                <a:latin typeface="Arial"/>
              </a:rPr>
              <a:t>BhoomiRashi  /  e-Courts WSDL  /  State Bhulekh  /  Tarang</a:t>
            </a:r>
          </a:p>
        </p:txBody>
      </p:sp>
      <p:sp>
        <p:nvSpPr>
          <p:cNvPr id="17416" name="Right Arrow 17415"/>
          <p:cNvSpPr/>
          <p:nvPr/>
        </p:nvSpPr>
        <p:spPr>
          <a:xfrm>
            <a:off x="5715000" y="3090672"/>
            <a:ext cx="384048" cy="292608"/>
          </a:xfrm>
          <a:prstGeom prst="rightArrow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6208776" y="2542032"/>
            <a:ext cx="5532120" cy="1463040"/>
          </a:xfrm>
          <a:prstGeom prst="roundRect">
            <a:avLst/>
          </a:prstGeom>
          <a:solidFill>
            <a:srgbClr val="F0F7FF"/>
          </a:solidFill>
          <a:ln w="1524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6208776" y="2615184"/>
            <a:ext cx="5532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70C0"/>
                </a:solidFill>
                <a:latin typeface="Arial"/>
              </a:defRPr>
            </a:pPr>
            <a:r>
              <a:t>OUR SOLUTION STANDS OUT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336792" y="2889504"/>
            <a:ext cx="5276088" cy="1060704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 </a:t>
            </a:r>
            <a:r>
              <a:rPr sz="800" b="1">
                <a:solidFill>
                  <a:srgbClr val="0F172A"/>
                </a:solidFill>
                <a:latin typeface="Arial"/>
              </a:rPr>
              <a:t>Decoupled Central DB : </a:t>
            </a:r>
            <a:r>
              <a:rPr sz="800">
                <a:solidFill>
                  <a:srgbClr val="334155"/>
                </a:solidFill>
                <a:latin typeface="Arial"/>
              </a:rPr>
              <a:t>&lt;15ms normalized query cache across 47 standardized attributes.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 </a:t>
            </a:r>
            <a:r>
              <a:rPr sz="800" b="1">
                <a:solidFill>
                  <a:srgbClr val="0F172A"/>
                </a:solidFill>
                <a:latin typeface="Arial"/>
              </a:rPr>
              <a:t>Dual-Track Reality Engine : </a:t>
            </a:r>
            <a:r>
              <a:rPr sz="800">
                <a:solidFill>
                  <a:srgbClr val="334155"/>
                </a:solidFill>
                <a:latin typeface="Arial"/>
              </a:rPr>
              <a:t>Separates active physical road works from court escrow disputes.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 </a:t>
            </a:r>
            <a:r>
              <a:rPr sz="800" b="1">
                <a:solidFill>
                  <a:srgbClr val="0F172A"/>
                </a:solidFill>
                <a:latin typeface="Arial"/>
              </a:rPr>
              <a:t>TreeSHAP Statutory XAI : </a:t>
            </a:r>
            <a:r>
              <a:rPr sz="800">
                <a:solidFill>
                  <a:srgbClr val="334155"/>
                </a:solidFill>
                <a:latin typeface="Arial"/>
              </a:rPr>
              <a:t>Quantifies exact additive day delays &amp; auto-generates legal DFA SOP notices.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•  </a:t>
            </a:r>
            <a:r>
              <a:rPr sz="800" b="1">
                <a:solidFill>
                  <a:srgbClr val="0F172A"/>
                </a:solidFill>
                <a:latin typeface="Arial"/>
              </a:rPr>
              <a:t>Constitutional HITL &amp; Audit : </a:t>
            </a:r>
            <a:r>
              <a:rPr sz="800">
                <a:solidFill>
                  <a:srgbClr val="334155"/>
                </a:solidFill>
                <a:latin typeface="Arial"/>
              </a:rPr>
              <a:t>Aadhaar DSC e-Sign validation + SHA-256 tamper-proof ledger for CAG.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38912" y="4114800"/>
            <a:ext cx="11301984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585216" y="4187952"/>
            <a:ext cx="3840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70C0"/>
                </a:solidFill>
                <a:latin typeface="Arial"/>
              </a:defRPr>
            </a:pPr>
            <a:r>
              <a:t>PROJECT RESOURCES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585216" y="4498848"/>
            <a:ext cx="3931920" cy="1600200"/>
          </a:xfrm>
          <a:prstGeom prst="rect">
            <a:avLst/>
          </a:prstGeom>
          <a:noFill/>
        </p:spPr>
        <p:txBody>
          <a:bodyPr wrap="square" anchor="t" lIns="18288" rIns="36576" tIns="18288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850" b="1">
                <a:solidFill>
                  <a:srgbClr val="0F172A"/>
                </a:solidFill>
                <a:latin typeface="Arial"/>
              </a:rPr>
              <a:t>GitHub Repository : </a:t>
            </a:r>
            <a:r>
              <a:rPr sz="800">
                <a:solidFill>
                  <a:srgbClr val="0070C0"/>
                </a:solidFill>
                <a:latin typeface="Arial"/>
              </a:rPr>
              <a:t>github.com/AryanSahu321/Land_Aquisition_Delay_pridictor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850" b="1">
                <a:solidFill>
                  <a:srgbClr val="0F172A"/>
                </a:solidFill>
                <a:latin typeface="Arial"/>
              </a:rPr>
              <a:t>REST API Gateway : </a:t>
            </a:r>
            <a:r>
              <a:rPr sz="800">
                <a:solidFill>
                  <a:srgbClr val="0070C0"/>
                </a:solidFill>
                <a:latin typeface="Arial"/>
              </a:rPr>
              <a:t>Live OpenAPI 3.0 swagger endpoints for government integration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850" b="1">
                <a:solidFill>
                  <a:srgbClr val="0F172A"/>
                </a:solidFill>
                <a:latin typeface="Arial"/>
              </a:rPr>
              <a:t>Interactive RoW GIS : </a:t>
            </a:r>
            <a:r>
              <a:rPr sz="800">
                <a:solidFill>
                  <a:srgbClr val="0070C0"/>
                </a:solidFill>
                <a:latin typeface="Arial"/>
              </a:rPr>
              <a:t>Full Purvanchal 340.8 km corridor with Khasra cadastral plots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850" b="1">
                <a:solidFill>
                  <a:srgbClr val="0F172A"/>
                </a:solidFill>
                <a:latin typeface="Arial"/>
              </a:rPr>
              <a:t>Audit Verification : </a:t>
            </a:r>
            <a:r>
              <a:rPr sz="800">
                <a:solidFill>
                  <a:srgbClr val="0070C0"/>
                </a:solidFill>
                <a:latin typeface="Arial"/>
              </a:rPr>
              <a:t>SHA-256 cryptographic block integrity ledger for CAG review</a:t>
            </a:r>
          </a:p>
        </p:txBody>
      </p:sp>
      <p:pic>
        <p:nvPicPr>
          <p:cNvPr id="17423" name="Picture 17422" descr="ui_gis_corrid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4206240"/>
            <a:ext cx="3383280" cy="1874519"/>
          </a:xfrm>
          <a:prstGeom prst="rect">
            <a:avLst/>
          </a:prstGeom>
        </p:spPr>
      </p:pic>
      <p:pic>
        <p:nvPicPr>
          <p:cNvPr id="17424" name="Picture 17423" descr="ui_predictive_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9872" y="4206240"/>
            <a:ext cx="3520440" cy="187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8111</TotalTime>
  <Words>176</Words>
  <Application>Microsoft Office PowerPoint</Application>
  <PresentationFormat>Widescreen</PresentationFormat>
  <Paragraphs>40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RAKSHASCAN AI Border Identity Screening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ARYAN123 SAHU</cp:lastModifiedBy>
  <cp:revision>151</cp:revision>
  <dcterms:created xsi:type="dcterms:W3CDTF">2013-12-12T18:46:50Z</dcterms:created>
  <dcterms:modified xsi:type="dcterms:W3CDTF">2026-09-27T07:51:10Z</dcterms:modified>
  <cp:category/>
</cp:coreProperties>
</file>