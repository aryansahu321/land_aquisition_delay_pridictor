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8"/>
    <a:srgbClr val="FFFFFF"/>
    <a:srgbClr val="975CCB"/>
    <a:srgbClr val="FF7474"/>
    <a:srgbClr val="FFD03B"/>
    <a:srgbClr val="63A4F7"/>
    <a:srgbClr val="29B95C"/>
    <a:srgbClr val="A3DBFF"/>
    <a:srgbClr val="D4F3C9"/>
    <a:srgbClr val="D0E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1DB3E-F48F-4F55-A814-44FA602734DF}" v="134" dt="2026-09-27T10:31:10.132"/>
    <p1510:client id="{C1CABCED-DC03-4397-A074-A5D1FA4069AE}" v="33" dt="2026-09-26T15:20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www.mha.gov.in/sites/default/files/AnnualreportEnglish_04102023.pdf" TargetMode="External"/><Relationship Id="rId5" Type="http://schemas.openxmlformats.org/officeDocument/2006/relationships/hyperlink" Target="https://www.mha.gov.in/sites/default/files/AnnualReport202122_24112022%5B1%5D.pdf" TargetMode="External"/><Relationship Id="rId6" Type="http://schemas.openxmlformats.org/officeDocument/2006/relationships/hyperlink" Target="https://www.mha.gov.in/sites/default/files/AnnualReport_17_18.pdf" TargetMode="External"/><Relationship Id="rId7" Type="http://schemas.openxmlformats.org/officeDocument/2006/relationships/hyperlink" Target="https://www.icao.int/publications/pages/publication.aspx?docnum=9303" TargetMode="External"/><Relationship Id="rId8" Type="http://schemas.openxmlformats.org/officeDocument/2006/relationships/hyperlink" Target="https://www.icao.int/publications/doc-series/doc-9303" TargetMode="External"/><Relationship Id="rId9" Type="http://schemas.openxmlformats.org/officeDocument/2006/relationships/hyperlink" Target="https://www.frontex.europa.eu/media-centre/news/news-release/an-integrated-approach-to-combat-document-and-identity-fraud-29m6RJ" TargetMode="External"/><Relationship Id="rId10" Type="http://schemas.openxmlformats.org/officeDocument/2006/relationships/hyperlink" Target="https://www.mha.gov.in/sites/default/files/2024-04/250882_english_01042024_0.pdf" TargetMode="External"/><Relationship Id="rId11" Type="http://schemas.openxmlformats.org/officeDocument/2006/relationships/hyperlink" Target="https://openaccess.thecvf.com/content_CVPR_2019/papers/Deng_ArcFace_Additive_Angular_Margin_Loss_for_Deep_Face_Recognition_CVPR_2019_paper.pdf" TargetMode="External"/><Relationship Id="rId12" Type="http://schemas.openxmlformats.org/officeDocument/2006/relationships/hyperlink" Target="https://rakshascan-ai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78208" y="189132"/>
            <a:ext cx="7043789" cy="930922"/>
          </a:xfrm>
        </p:spPr>
        <p:txBody>
          <a:bodyPr/>
          <a:lstStyle/>
          <a:p>
            <a:r>
              <a:rPr lang="en-IN" sz="4000" dirty="0">
                <a:solidFill>
                  <a:schemeClr val="accent1"/>
                </a:solidFill>
              </a:rPr>
              <a:t>SMART INDIA HACKATHON 2026</a:t>
            </a:r>
            <a:endParaRPr lang="en-IN" sz="4000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52" y="25024"/>
            <a:ext cx="1971536" cy="9309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C6AFA-57A3-EEAC-FE38-1079C6FB981F}"/>
              </a:ext>
            </a:extLst>
          </p:cNvPr>
          <p:cNvSpPr txBox="1"/>
          <p:nvPr/>
        </p:nvSpPr>
        <p:spPr>
          <a:xfrm>
            <a:off x="331286" y="2076450"/>
            <a:ext cx="59245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ID : </a:t>
            </a:r>
            <a:r>
              <a:rPr sz="1500" b="0">
                <a:solidFill>
                  <a:srgbClr val="00B050"/>
                </a:solidFill>
                <a:latin typeface="Arial"/>
              </a:rPr>
              <a:t>26017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Title: </a:t>
            </a:r>
            <a:r>
              <a:rPr sz="1500" b="0">
                <a:solidFill>
                  <a:srgbClr val="00B050"/>
                </a:solidFill>
                <a:latin typeface="Arial"/>
              </a:rPr>
              <a:t>Predictive Analytics System for Early Detection of Land Acquisition Delays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Theme: </a:t>
            </a:r>
            <a:r>
              <a:rPr sz="1500" b="0">
                <a:solidFill>
                  <a:srgbClr val="00B050"/>
                </a:solidFill>
                <a:latin typeface="Arial"/>
              </a:rPr>
              <a:t>Smart Automation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PS Category: </a:t>
            </a:r>
            <a:r>
              <a:rPr sz="1500" b="0">
                <a:solidFill>
                  <a:srgbClr val="00B050"/>
                </a:solidFill>
                <a:latin typeface="Arial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ID: </a:t>
            </a:r>
            <a:r>
              <a:rPr sz="1500" b="0">
                <a:solidFill>
                  <a:srgbClr val="00B050"/>
                </a:solidFill>
                <a:latin typeface="Arial"/>
              </a:rPr>
              <a:t>128333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Name: </a:t>
            </a:r>
            <a:r>
              <a:rPr sz="1500" b="0">
                <a:solidFill>
                  <a:srgbClr val="00B050"/>
                </a:solidFill>
                <a:latin typeface="Arial"/>
              </a:rPr>
              <a:t>FusionX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9B1-06F7-84C1-FE36-C10550AC30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7323150" y="16713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86526" y="80662"/>
            <a:ext cx="6251074" cy="1062337"/>
          </a:xfrm>
        </p:spPr>
        <p:txBody>
          <a:bodyPr/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dirty="0"/>
              <a:t>RAKSHASCAN AI: Border Identity Screening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1500"/>
            <a:ext cx="1453376" cy="68625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25196" y="1097597"/>
            <a:ext cx="7040880" cy="15538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spcBef>
                <a:spcPts val="0"/>
              </a:spcBef>
            </a:pPr>
            <a:r>
              <a:rPr sz="950" b="1" dirty="0">
                <a:solidFill>
                  <a:srgbClr val="1E3A8A"/>
                </a:solidFill>
                <a:latin typeface="Calibri"/>
              </a:rPr>
              <a:t>• </a:t>
            </a:r>
            <a:r>
              <a:rPr lang="en-IN" sz="950" b="1" dirty="0">
                <a:solidFill>
                  <a:srgbClr val="1E3A8A"/>
                </a:solidFill>
                <a:latin typeface="Calibri"/>
              </a:rPr>
              <a:t>Human Limitation </a:t>
            </a:r>
            <a:r>
              <a:rPr sz="950" b="1" dirty="0">
                <a:solidFill>
                  <a:schemeClr val="tx1"/>
                </a:solidFill>
                <a:latin typeface="Calibri"/>
              </a:rPr>
              <a:t>: </a:t>
            </a:r>
            <a:r>
              <a:rPr sz="950" dirty="0">
                <a:solidFill>
                  <a:schemeClr val="tx1"/>
                </a:solidFill>
                <a:latin typeface="Calibri"/>
              </a:rPr>
              <a:t>Manual checks take 3–5 mins/person; 3,500+ daily crossers face long delays and 14–20% human fatigue error.</a:t>
            </a:r>
          </a:p>
          <a:p>
            <a:pPr>
              <a:spcBef>
                <a:spcPts val="200"/>
              </a:spcBef>
            </a:pPr>
            <a:r>
              <a:rPr sz="950" b="1" dirty="0">
                <a:solidFill>
                  <a:srgbClr val="1E3A8A"/>
                </a:solidFill>
                <a:latin typeface="Calibri"/>
              </a:rPr>
              <a:t>• Invisible Micro-Forgeries: </a:t>
            </a:r>
            <a:r>
              <a:rPr sz="950" dirty="0">
                <a:solidFill>
                  <a:schemeClr val="tx1"/>
                </a:solidFill>
                <a:latin typeface="Calibri"/>
              </a:rPr>
              <a:t>Human eyes cannot catch razor-cut photo swaps, altered DOBs, or forged seals on </a:t>
            </a:r>
            <a:r>
              <a:rPr sz="950" dirty="0" err="1">
                <a:solidFill>
                  <a:schemeClr val="tx1"/>
                </a:solidFill>
                <a:latin typeface="Calibri"/>
              </a:rPr>
              <a:t>Nagarikta</a:t>
            </a:r>
            <a:r>
              <a:rPr sz="950" dirty="0">
                <a:solidFill>
                  <a:schemeClr val="tx1"/>
                </a:solidFill>
                <a:latin typeface="Calibri"/>
              </a:rPr>
              <a:t> &amp; Voter IDs.</a:t>
            </a:r>
          </a:p>
          <a:p>
            <a:pPr>
              <a:spcBef>
                <a:spcPts val="200"/>
              </a:spcBef>
            </a:pPr>
            <a:r>
              <a:rPr sz="950" b="1" dirty="0">
                <a:solidFill>
                  <a:srgbClr val="1E3A8A"/>
                </a:solidFill>
                <a:latin typeface="Calibri"/>
              </a:rPr>
              <a:t>• Remote Telecom Blackouts</a:t>
            </a:r>
            <a:r>
              <a:rPr sz="950" b="1" dirty="0">
                <a:solidFill>
                  <a:schemeClr val="tx1"/>
                </a:solidFill>
                <a:latin typeface="Calibri"/>
              </a:rPr>
              <a:t>: </a:t>
            </a:r>
            <a:r>
              <a:rPr lang="en-IN" sz="950" dirty="0">
                <a:solidFill>
                  <a:schemeClr val="tx1"/>
                </a:solidFill>
                <a:latin typeface="Calibri"/>
              </a:rPr>
              <a:t>Land</a:t>
            </a:r>
            <a:r>
              <a:rPr lang="en-IN" sz="950" b="1" dirty="0">
                <a:solidFill>
                  <a:schemeClr val="tx1"/>
                </a:solidFill>
                <a:latin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</a:rPr>
              <a:t>borders </a:t>
            </a:r>
            <a:r>
              <a:rPr lang="en-IN" sz="950" dirty="0">
                <a:solidFill>
                  <a:schemeClr val="tx1"/>
                </a:solidFill>
                <a:latin typeface="Calibri"/>
              </a:rPr>
              <a:t>checkpoints have poor internet connectivity </a:t>
            </a:r>
            <a:r>
              <a:rPr sz="950" dirty="0">
                <a:solidFill>
                  <a:schemeClr val="tx1"/>
                </a:solidFill>
                <a:latin typeface="Calibri"/>
              </a:rPr>
              <a:t>paralyze conventional cloud-dependent</a:t>
            </a:r>
            <a:r>
              <a:rPr lang="en-IN" sz="950" dirty="0">
                <a:solidFill>
                  <a:schemeClr val="tx1"/>
                </a:solidFill>
                <a:latin typeface="Calibri"/>
              </a:rPr>
              <a:t> system</a:t>
            </a:r>
            <a:r>
              <a:rPr sz="950" dirty="0">
                <a:solidFill>
                  <a:schemeClr val="tx1"/>
                </a:solidFill>
                <a:latin typeface="Calibri"/>
              </a:rPr>
              <a:t>.</a:t>
            </a:r>
            <a:endParaRPr lang="en-IN" sz="950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lang="en-IN" sz="950" b="1" dirty="0">
                <a:solidFill>
                  <a:srgbClr val="1E3A8A"/>
                </a:solidFill>
              </a:rPr>
              <a:t>• Multi Script Document Verification: </a:t>
            </a:r>
            <a:r>
              <a:rPr lang="en-IN" sz="950" b="1" dirty="0">
                <a:solidFill>
                  <a:schemeClr val="tx1"/>
                </a:solidFill>
              </a:rPr>
              <a:t> </a:t>
            </a:r>
            <a:r>
              <a:rPr lang="en-IN" sz="950" dirty="0">
                <a:solidFill>
                  <a:schemeClr val="tx1"/>
                </a:solidFill>
              </a:rPr>
              <a:t>Sashastra Seema Bal(SSB)</a:t>
            </a:r>
            <a:r>
              <a:rPr lang="en-IN" sz="950" b="1" dirty="0">
                <a:solidFill>
                  <a:schemeClr val="tx1"/>
                </a:solidFill>
              </a:rPr>
              <a:t> </a:t>
            </a:r>
            <a:r>
              <a:rPr lang="en-IN" sz="950" dirty="0">
                <a:solidFill>
                  <a:schemeClr val="tx1"/>
                </a:solidFill>
              </a:rPr>
              <a:t>must inspect documents in English, Hindi, Nepali, Bhutanese which manually struggle to Standardise and there are 10+ types of id proofs that travellers can show. (high risk is third party nationals who use Indo-Nepali treaty to bypass strict checks ).</a:t>
            </a:r>
          </a:p>
          <a:p>
            <a:pPr>
              <a:spcBef>
                <a:spcPts val="200"/>
              </a:spcBef>
            </a:pPr>
            <a:r>
              <a:rPr lang="en-IN" sz="950" b="1" dirty="0">
                <a:solidFill>
                  <a:srgbClr val="1E3A8A"/>
                </a:solidFill>
              </a:rPr>
              <a:t>•Existing Systems: </a:t>
            </a:r>
            <a:r>
              <a:rPr lang="en-IN" sz="950" dirty="0">
                <a:solidFill>
                  <a:schemeClr val="tx1"/>
                </a:solidFill>
              </a:rPr>
              <a:t>Verify documents but expensive, closed, do not cover all documents, Explainable Risk scoring, offline architecture.</a:t>
            </a:r>
            <a:br>
              <a:rPr lang="en-IN" sz="950" dirty="0">
                <a:solidFill>
                  <a:schemeClr val="tx1"/>
                </a:solidFill>
              </a:rPr>
            </a:br>
            <a:endParaRPr lang="en-IN" sz="95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5363" name="Rounded Rectangle 15362"/>
          <p:cNvSpPr/>
          <p:nvPr/>
        </p:nvSpPr>
        <p:spPr>
          <a:xfrm>
            <a:off x="585216" y="859536"/>
            <a:ext cx="20116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EXISTING PROBLEM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2727419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Capture and classification </a:t>
            </a:r>
            <a:endParaRPr sz="800" dirty="0"/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3546338"/>
            <a:ext cx="7040880" cy="11586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spcBef>
                <a:spcPts val="0"/>
              </a:spcBef>
            </a:pPr>
            <a:r>
              <a:rPr sz="900" b="1" dirty="0">
                <a:solidFill>
                  <a:srgbClr val="1E3A8A"/>
                </a:solidFill>
                <a:latin typeface="Calibri"/>
              </a:rPr>
              <a:t>•</a:t>
            </a:r>
            <a:r>
              <a:rPr lang="en-IN" sz="900" b="1" dirty="0">
                <a:solidFill>
                  <a:srgbClr val="1E3A8A"/>
                </a:solidFill>
                <a:latin typeface="Calibri"/>
              </a:rPr>
              <a:t>Flexible Field choice(PC booth or Mobile +PC):</a:t>
            </a:r>
            <a:r>
              <a:rPr lang="en-IN" sz="900" dirty="0">
                <a:solidFill>
                  <a:srgbClr val="1E293B"/>
                </a:solidFill>
              </a:rPr>
              <a:t>  </a:t>
            </a:r>
            <a:r>
              <a:rPr lang="en-IN" sz="900" dirty="0">
                <a:solidFill>
                  <a:schemeClr val="tx1"/>
                </a:solidFill>
              </a:rPr>
              <a:t>Uses scanner and camera at fixed ICP gate and at patrolling phone capture and run its own ONNX INT8 runtime + 50,000 local/frequent traveller cache right inside phone, but when pair with PC then have database of 10 Lakhs.(offline)</a:t>
            </a:r>
            <a:endParaRPr lang="en-IN" sz="9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r>
              <a:rPr lang="en-IN" sz="900" b="1" dirty="0">
                <a:solidFill>
                  <a:srgbClr val="1E3A8A"/>
                </a:solidFill>
                <a:latin typeface="Calibri"/>
              </a:rPr>
              <a:t>• Smart Secondary Inspection: </a:t>
            </a:r>
            <a:r>
              <a:rPr lang="en-IN" sz="900" dirty="0">
                <a:solidFill>
                  <a:schemeClr val="tx1"/>
                </a:solidFill>
              </a:rPr>
              <a:t>Automatically clear genuine travellers but, when risk score is high or foreign visa needs verification divert them to central database lookup  and officer inspection.</a:t>
            </a:r>
          </a:p>
          <a:p>
            <a:pPr>
              <a:spcBef>
                <a:spcPts val="0"/>
              </a:spcBef>
            </a:pPr>
            <a:r>
              <a:rPr lang="en-IN" sz="900" b="1" dirty="0">
                <a:solidFill>
                  <a:srgbClr val="1E3A8A"/>
                </a:solidFill>
              </a:rPr>
              <a:t>• Temper-Proof Audit Trail: </a:t>
            </a:r>
            <a:r>
              <a:rPr lang="en-IN" sz="900" dirty="0">
                <a:solidFill>
                  <a:schemeClr val="tx1"/>
                </a:solidFill>
              </a:rPr>
              <a:t>every scan chains any altering breaks hash chain, prevent inside bribery and generate court-admissible forensics.</a:t>
            </a:r>
          </a:p>
          <a:p>
            <a:pPr>
              <a:spcBef>
                <a:spcPts val="0"/>
              </a:spcBef>
            </a:pPr>
            <a:r>
              <a:rPr lang="en-IN" sz="900" b="1" dirty="0">
                <a:solidFill>
                  <a:srgbClr val="1E3A8A"/>
                </a:solidFill>
              </a:rPr>
              <a:t>• Central Sync &amp; Continuous AI Retraining: </a:t>
            </a:r>
            <a:r>
              <a:rPr lang="en-IN" sz="900" dirty="0">
                <a:solidFill>
                  <a:schemeClr val="tx1"/>
                </a:solidFill>
              </a:rPr>
              <a:t>n Syncs only anonymized, flagged fraud patterns(DPDP compliant) to central cloud when online, retraining models on new forgery tactics and pushing light weight updates back to edge devices.</a:t>
            </a:r>
          </a:p>
          <a:p>
            <a:pPr>
              <a:spcBef>
                <a:spcPts val="0"/>
              </a:spcBef>
            </a:pPr>
            <a:endParaRPr lang="en-IN" sz="9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3343817"/>
            <a:ext cx="20116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PROPOSED SOLUTION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57200" y="4937760"/>
            <a:ext cx="7040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spcBef>
                <a:spcPts val="0"/>
              </a:spcBef>
            </a:pPr>
            <a:r>
              <a:rPr lang="en-IN" sz="900" b="1" dirty="0">
                <a:solidFill>
                  <a:srgbClr val="059669"/>
                </a:solidFill>
                <a:latin typeface="Calibri"/>
              </a:rPr>
              <a:t>• </a:t>
            </a:r>
            <a:r>
              <a:rPr sz="900" b="1" dirty="0">
                <a:solidFill>
                  <a:srgbClr val="059669"/>
                </a:solidFill>
                <a:latin typeface="Calibri"/>
              </a:rPr>
              <a:t>100% Offline Edge Intelligence: </a:t>
            </a:r>
            <a:r>
              <a:rPr sz="900" dirty="0">
                <a:solidFill>
                  <a:srgbClr val="1E293B"/>
                </a:solidFill>
                <a:latin typeface="Calibri"/>
              </a:rPr>
              <a:t>Complete verification in &lt;2.4s using a 10-Lakh local resident cache—zero internet needed.</a:t>
            </a:r>
          </a:p>
          <a:p>
            <a:pPr>
              <a:spcBef>
                <a:spcPts val="150"/>
              </a:spcBef>
            </a:pPr>
            <a:r>
              <a:rPr sz="900" b="1" dirty="0">
                <a:solidFill>
                  <a:srgbClr val="059669"/>
                </a:solidFill>
                <a:latin typeface="Calibri"/>
              </a:rPr>
              <a:t>• Treaty-Aware Bilateral Policy: </a:t>
            </a:r>
            <a:r>
              <a:rPr sz="900" dirty="0">
                <a:solidFill>
                  <a:srgbClr val="1E293B"/>
                </a:solidFill>
                <a:latin typeface="Calibri"/>
              </a:rPr>
              <a:t>First system tailored for 1950/1949 treaties—validates Voter IDs &amp; </a:t>
            </a:r>
            <a:r>
              <a:rPr sz="900" dirty="0" err="1">
                <a:solidFill>
                  <a:srgbClr val="1E293B"/>
                </a:solidFill>
                <a:latin typeface="Calibri"/>
              </a:rPr>
              <a:t>Nagarikta</a:t>
            </a:r>
            <a:r>
              <a:rPr sz="900" dirty="0">
                <a:solidFill>
                  <a:srgbClr val="1E293B"/>
                </a:solidFill>
                <a:latin typeface="Calibri"/>
              </a:rPr>
              <a:t> that airport e-gates reject.</a:t>
            </a:r>
          </a:p>
          <a:p>
            <a:pPr>
              <a:spcBef>
                <a:spcPts val="150"/>
              </a:spcBef>
            </a:pPr>
            <a:r>
              <a:rPr sz="900" b="1" dirty="0">
                <a:solidFill>
                  <a:srgbClr val="059669"/>
                </a:solidFill>
                <a:latin typeface="Calibri"/>
              </a:rPr>
              <a:t>• Dual-Mode Operational Agility: </a:t>
            </a:r>
            <a:r>
              <a:rPr sz="900" dirty="0">
                <a:solidFill>
                  <a:srgbClr val="1E293B"/>
                </a:solidFill>
                <a:latin typeface="Calibri"/>
              </a:rPr>
              <a:t>Powers both high-throughput ICP booth turnstiles and rugged mobile jawans on porous border patrols.</a:t>
            </a:r>
          </a:p>
          <a:p>
            <a:pPr>
              <a:spcBef>
                <a:spcPts val="150"/>
              </a:spcBef>
            </a:pPr>
            <a:r>
              <a:rPr sz="900" b="1" dirty="0">
                <a:solidFill>
                  <a:srgbClr val="059669"/>
                </a:solidFill>
                <a:latin typeface="Calibri"/>
              </a:rPr>
              <a:t>• Court-Admissible Cryptographic Proof: </a:t>
            </a:r>
            <a:r>
              <a:rPr sz="900" dirty="0">
                <a:solidFill>
                  <a:srgbClr val="1E293B"/>
                </a:solidFill>
                <a:latin typeface="Calibri"/>
              </a:rPr>
              <a:t>Generates 0–100 risk scores with ELA tampering heatmaps and immutable SHA-256 chains under BSA Sec 63</a:t>
            </a:r>
            <a:r>
              <a:rPr lang="en-IN" sz="900" dirty="0">
                <a:solidFill>
                  <a:srgbClr val="1E293B"/>
                </a:solidFill>
                <a:latin typeface="Calibri"/>
              </a:rPr>
              <a:t>, Audit Trail</a:t>
            </a:r>
            <a:r>
              <a:rPr sz="900" dirty="0">
                <a:solidFill>
                  <a:srgbClr val="1E293B"/>
                </a:solidFill>
                <a:latin typeface="Calibri"/>
              </a:rPr>
              <a:t>.</a:t>
            </a:r>
            <a:endParaRPr lang="en-IN" sz="90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150"/>
              </a:spcBef>
            </a:pPr>
            <a:endParaRPr sz="9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371" name="Rounded Rectangle 15370"/>
          <p:cNvSpPr/>
          <p:nvPr/>
        </p:nvSpPr>
        <p:spPr>
          <a:xfrm>
            <a:off x="457200" y="4762171"/>
            <a:ext cx="274320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UVP (UNIQUE VALUE PROPOSITION)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792807" y="854964"/>
            <a:ext cx="2148261" cy="292608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ARCHITECTURE PIPELINE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8421385-23F2-9C75-4879-2C53CB4AE281}"/>
              </a:ext>
            </a:extLst>
          </p:cNvPr>
          <p:cNvCxnSpPr>
            <a:cxnSpLocks/>
            <a:stCxn id="15364" idx="3"/>
          </p:cNvCxnSpPr>
          <p:nvPr/>
        </p:nvCxnSpPr>
        <p:spPr>
          <a:xfrm flipV="1">
            <a:off x="1274064" y="2965925"/>
            <a:ext cx="182880" cy="571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5363">
            <a:extLst>
              <a:ext uri="{FF2B5EF4-FFF2-40B4-BE49-F238E27FC236}">
                <a16:creationId xmlns:a16="http://schemas.microsoft.com/office/drawing/2014/main" id="{CB26A1B0-F8C8-CC21-6648-FCCE55566979}"/>
              </a:ext>
            </a:extLst>
          </p:cNvPr>
          <p:cNvSpPr/>
          <p:nvPr/>
        </p:nvSpPr>
        <p:spPr>
          <a:xfrm>
            <a:off x="1450848" y="2733134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1E3A8A"/>
                </a:solidFill>
                <a:latin typeface="Calibri"/>
              </a:defRPr>
            </a:pPr>
            <a:r>
              <a:rPr lang="en-IN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OCR &amp; MRZ Reading</a:t>
            </a:r>
          </a:p>
        </p:txBody>
      </p:sp>
      <p:sp>
        <p:nvSpPr>
          <p:cNvPr id="21" name="Rounded Rectangle 15363">
            <a:extLst>
              <a:ext uri="{FF2B5EF4-FFF2-40B4-BE49-F238E27FC236}">
                <a16:creationId xmlns:a16="http://schemas.microsoft.com/office/drawing/2014/main" id="{66821AA6-4DEB-5DB4-2CE9-C505E62176C6}"/>
              </a:ext>
            </a:extLst>
          </p:cNvPr>
          <p:cNvSpPr/>
          <p:nvPr/>
        </p:nvSpPr>
        <p:spPr>
          <a:xfrm>
            <a:off x="2394846" y="2721642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Rule Validation </a:t>
            </a:r>
            <a:endParaRPr sz="800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2B1D145D-0FC1-52FF-DFD5-EFEB67DEDC98}"/>
              </a:ext>
            </a:extLst>
          </p:cNvPr>
          <p:cNvCxnSpPr>
            <a:cxnSpLocks/>
          </p:cNvCxnSpPr>
          <p:nvPr/>
        </p:nvCxnSpPr>
        <p:spPr>
          <a:xfrm flipV="1">
            <a:off x="2275332" y="2971640"/>
            <a:ext cx="182880" cy="5715"/>
          </a:xfrm>
          <a:prstGeom prst="curvedConnector3">
            <a:avLst>
              <a:gd name="adj1" fmla="val 9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5363">
            <a:extLst>
              <a:ext uri="{FF2B5EF4-FFF2-40B4-BE49-F238E27FC236}">
                <a16:creationId xmlns:a16="http://schemas.microsoft.com/office/drawing/2014/main" id="{799C6A1A-7262-7074-5E55-51A6D8A9110F}"/>
              </a:ext>
            </a:extLst>
          </p:cNvPr>
          <p:cNvSpPr/>
          <p:nvPr/>
        </p:nvSpPr>
        <p:spPr>
          <a:xfrm>
            <a:off x="3354324" y="2715927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Local Database Verification</a:t>
            </a:r>
            <a:endParaRPr sz="800" dirty="0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5384844E-7DB7-A439-734B-62949DFDA315}"/>
              </a:ext>
            </a:extLst>
          </p:cNvPr>
          <p:cNvCxnSpPr>
            <a:cxnSpLocks/>
          </p:cNvCxnSpPr>
          <p:nvPr/>
        </p:nvCxnSpPr>
        <p:spPr>
          <a:xfrm flipV="1">
            <a:off x="3228714" y="2960148"/>
            <a:ext cx="182880" cy="5715"/>
          </a:xfrm>
          <a:prstGeom prst="curvedConnector3">
            <a:avLst>
              <a:gd name="adj1" fmla="val 9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15363">
            <a:extLst>
              <a:ext uri="{FF2B5EF4-FFF2-40B4-BE49-F238E27FC236}">
                <a16:creationId xmlns:a16="http://schemas.microsoft.com/office/drawing/2014/main" id="{DD3A4D99-24D3-D0C3-BEE5-44EB405B8FBF}"/>
              </a:ext>
            </a:extLst>
          </p:cNvPr>
          <p:cNvSpPr/>
          <p:nvPr/>
        </p:nvSpPr>
        <p:spPr>
          <a:xfrm>
            <a:off x="4274820" y="2715927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Biometric</a:t>
            </a:r>
          </a:p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comparison</a:t>
            </a:r>
            <a:endParaRPr sz="800" dirty="0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2CC6487F-815C-13A9-4592-958B5087A1A4}"/>
              </a:ext>
            </a:extLst>
          </p:cNvPr>
          <p:cNvCxnSpPr>
            <a:cxnSpLocks/>
          </p:cNvCxnSpPr>
          <p:nvPr/>
        </p:nvCxnSpPr>
        <p:spPr>
          <a:xfrm flipV="1">
            <a:off x="4165092" y="2960148"/>
            <a:ext cx="182880" cy="5715"/>
          </a:xfrm>
          <a:prstGeom prst="curvedConnector3">
            <a:avLst>
              <a:gd name="adj1" fmla="val 9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5363">
            <a:extLst>
              <a:ext uri="{FF2B5EF4-FFF2-40B4-BE49-F238E27FC236}">
                <a16:creationId xmlns:a16="http://schemas.microsoft.com/office/drawing/2014/main" id="{51DA487F-6876-FD6A-6A42-2525D7101CD8}"/>
              </a:ext>
            </a:extLst>
          </p:cNvPr>
          <p:cNvSpPr/>
          <p:nvPr/>
        </p:nvSpPr>
        <p:spPr>
          <a:xfrm>
            <a:off x="5195316" y="2727419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Explainable risk score &amp; Audit Trail </a:t>
            </a:r>
            <a:endParaRPr sz="800" dirty="0"/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2D4C64E4-C671-11E1-B80F-986C2DEE46E2}"/>
              </a:ext>
            </a:extLst>
          </p:cNvPr>
          <p:cNvCxnSpPr>
            <a:cxnSpLocks/>
          </p:cNvCxnSpPr>
          <p:nvPr/>
        </p:nvCxnSpPr>
        <p:spPr>
          <a:xfrm flipV="1">
            <a:off x="5091684" y="2951925"/>
            <a:ext cx="182880" cy="5715"/>
          </a:xfrm>
          <a:prstGeom prst="curvedConnector3">
            <a:avLst>
              <a:gd name="adj1" fmla="val 9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15363">
            <a:extLst>
              <a:ext uri="{FF2B5EF4-FFF2-40B4-BE49-F238E27FC236}">
                <a16:creationId xmlns:a16="http://schemas.microsoft.com/office/drawing/2014/main" id="{B730D08E-1356-8F67-CBCF-09E015D1BD6A}"/>
              </a:ext>
            </a:extLst>
          </p:cNvPr>
          <p:cNvSpPr/>
          <p:nvPr/>
        </p:nvSpPr>
        <p:spPr>
          <a:xfrm>
            <a:off x="6129528" y="2715927"/>
            <a:ext cx="816864" cy="48844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rPr lang="en-IN" sz="800" dirty="0"/>
              <a:t>Human verification </a:t>
            </a:r>
            <a:endParaRPr sz="800" dirty="0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A47D07C6-FA65-7F60-C8B5-DF46FC21C385}"/>
              </a:ext>
            </a:extLst>
          </p:cNvPr>
          <p:cNvCxnSpPr>
            <a:cxnSpLocks/>
          </p:cNvCxnSpPr>
          <p:nvPr/>
        </p:nvCxnSpPr>
        <p:spPr>
          <a:xfrm flipV="1">
            <a:off x="6012180" y="2946210"/>
            <a:ext cx="182880" cy="5715"/>
          </a:xfrm>
          <a:prstGeom prst="curvedConnector3">
            <a:avLst>
              <a:gd name="adj1" fmla="val 9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Single Corner Rounded 40">
            <a:extLst>
              <a:ext uri="{FF2B5EF4-FFF2-40B4-BE49-F238E27FC236}">
                <a16:creationId xmlns:a16="http://schemas.microsoft.com/office/drawing/2014/main" id="{9776AFA1-E407-8626-03A7-88C0CC1D0570}"/>
              </a:ext>
            </a:extLst>
          </p:cNvPr>
          <p:cNvSpPr/>
          <p:nvPr/>
        </p:nvSpPr>
        <p:spPr>
          <a:xfrm>
            <a:off x="7559370" y="1253429"/>
            <a:ext cx="4442654" cy="4936140"/>
          </a:xfrm>
          <a:prstGeom prst="round1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u="sng" dirty="0"/>
          </a:p>
        </p:txBody>
      </p:sp>
      <p:sp>
        <p:nvSpPr>
          <p:cNvPr id="44" name="Flowchart: Terminator 43">
            <a:extLst>
              <a:ext uri="{FF2B5EF4-FFF2-40B4-BE49-F238E27FC236}">
                <a16:creationId xmlns:a16="http://schemas.microsoft.com/office/drawing/2014/main" id="{3C678940-E5F3-9186-C022-1FDE8EBEFC51}"/>
              </a:ext>
            </a:extLst>
          </p:cNvPr>
          <p:cNvSpPr/>
          <p:nvPr/>
        </p:nvSpPr>
        <p:spPr>
          <a:xfrm>
            <a:off x="7827800" y="1569745"/>
            <a:ext cx="704918" cy="252578"/>
          </a:xfrm>
          <a:prstGeom prst="flowChartTerminator">
            <a:avLst/>
          </a:prstGeom>
          <a:solidFill>
            <a:srgbClr val="F6C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Traveller</a:t>
            </a:r>
          </a:p>
        </p:txBody>
      </p:sp>
      <p:sp>
        <p:nvSpPr>
          <p:cNvPr id="45" name="Flowchart: Decision 44">
            <a:extLst>
              <a:ext uri="{FF2B5EF4-FFF2-40B4-BE49-F238E27FC236}">
                <a16:creationId xmlns:a16="http://schemas.microsoft.com/office/drawing/2014/main" id="{C747378E-ADED-C479-3772-E0B155337A39}"/>
              </a:ext>
            </a:extLst>
          </p:cNvPr>
          <p:cNvSpPr/>
          <p:nvPr/>
        </p:nvSpPr>
        <p:spPr>
          <a:xfrm>
            <a:off x="8671136" y="1409561"/>
            <a:ext cx="941874" cy="550237"/>
          </a:xfrm>
          <a:prstGeom prst="flowChartDecision">
            <a:avLst/>
          </a:prstGeom>
          <a:solidFill>
            <a:srgbClr val="A3D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Field  Mode</a:t>
            </a: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7581F2ED-54D8-4675-D7A8-49ABBE0E0106}"/>
              </a:ext>
            </a:extLst>
          </p:cNvPr>
          <p:cNvCxnSpPr>
            <a:cxnSpLocks/>
          </p:cNvCxnSpPr>
          <p:nvPr/>
        </p:nvCxnSpPr>
        <p:spPr>
          <a:xfrm>
            <a:off x="9342847" y="1858516"/>
            <a:ext cx="411611" cy="23261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EA5D2513-3AE2-D75A-1022-0C866A4CC727}"/>
              </a:ext>
            </a:extLst>
          </p:cNvPr>
          <p:cNvSpPr/>
          <p:nvPr/>
        </p:nvSpPr>
        <p:spPr>
          <a:xfrm>
            <a:off x="9748398" y="1274769"/>
            <a:ext cx="961924" cy="321758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Patrol (Phone)</a:t>
            </a:r>
            <a:endParaRPr lang="en-IN" sz="900" dirty="0"/>
          </a:p>
        </p:txBody>
      </p:sp>
      <p:sp>
        <p:nvSpPr>
          <p:cNvPr id="15390" name="Flowchart: Magnetic Disk 15389">
            <a:extLst>
              <a:ext uri="{FF2B5EF4-FFF2-40B4-BE49-F238E27FC236}">
                <a16:creationId xmlns:a16="http://schemas.microsoft.com/office/drawing/2014/main" id="{BE4ABC2C-30F7-C328-5281-5EE1D1C773BA}"/>
              </a:ext>
            </a:extLst>
          </p:cNvPr>
          <p:cNvSpPr/>
          <p:nvPr/>
        </p:nvSpPr>
        <p:spPr>
          <a:xfrm>
            <a:off x="10070126" y="4816600"/>
            <a:ext cx="1041865" cy="442346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SHA 256 Ledger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(BSA 2023)</a:t>
            </a:r>
          </a:p>
        </p:txBody>
      </p:sp>
      <p:cxnSp>
        <p:nvCxnSpPr>
          <p:cNvPr id="15393" name="Connector: Curved 15392">
            <a:extLst>
              <a:ext uri="{FF2B5EF4-FFF2-40B4-BE49-F238E27FC236}">
                <a16:creationId xmlns:a16="http://schemas.microsoft.com/office/drawing/2014/main" id="{E6754D00-BC40-1C31-65A5-F8DEB3B52FA4}"/>
              </a:ext>
            </a:extLst>
          </p:cNvPr>
          <p:cNvCxnSpPr>
            <a:cxnSpLocks/>
            <a:stCxn id="15435" idx="1"/>
            <a:endCxn id="15444" idx="0"/>
          </p:cNvCxnSpPr>
          <p:nvPr/>
        </p:nvCxnSpPr>
        <p:spPr>
          <a:xfrm rot="10800000" flipV="1">
            <a:off x="9613010" y="3668078"/>
            <a:ext cx="583610" cy="52421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4" name="Connector: Curved 15393">
            <a:extLst>
              <a:ext uri="{FF2B5EF4-FFF2-40B4-BE49-F238E27FC236}">
                <a16:creationId xmlns:a16="http://schemas.microsoft.com/office/drawing/2014/main" id="{BF45785F-9DB6-D3B2-3758-1638EDCED208}"/>
              </a:ext>
            </a:extLst>
          </p:cNvPr>
          <p:cNvCxnSpPr>
            <a:cxnSpLocks/>
            <a:stCxn id="15433" idx="2"/>
            <a:endCxn id="15435" idx="0"/>
          </p:cNvCxnSpPr>
          <p:nvPr/>
        </p:nvCxnSpPr>
        <p:spPr>
          <a:xfrm rot="5400000">
            <a:off x="10874454" y="2942067"/>
            <a:ext cx="294071" cy="60771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5" name="Connector: Curved 15394">
            <a:extLst>
              <a:ext uri="{FF2B5EF4-FFF2-40B4-BE49-F238E27FC236}">
                <a16:creationId xmlns:a16="http://schemas.microsoft.com/office/drawing/2014/main" id="{DEC5E49B-2755-D49E-55B1-E7C53421C961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10710322" y="1435648"/>
            <a:ext cx="641449" cy="108390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6" name="Connector: Curved 15395">
            <a:extLst>
              <a:ext uri="{FF2B5EF4-FFF2-40B4-BE49-F238E27FC236}">
                <a16:creationId xmlns:a16="http://schemas.microsoft.com/office/drawing/2014/main" id="{F2CDD550-C0DD-0DB3-0A55-0A7444927D23}"/>
              </a:ext>
            </a:extLst>
          </p:cNvPr>
          <p:cNvCxnSpPr>
            <a:cxnSpLocks/>
          </p:cNvCxnSpPr>
          <p:nvPr/>
        </p:nvCxnSpPr>
        <p:spPr>
          <a:xfrm flipV="1">
            <a:off x="9382760" y="1342627"/>
            <a:ext cx="371698" cy="19574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Connector: Curved 15396">
            <a:extLst>
              <a:ext uri="{FF2B5EF4-FFF2-40B4-BE49-F238E27FC236}">
                <a16:creationId xmlns:a16="http://schemas.microsoft.com/office/drawing/2014/main" id="{4FD9FA4F-01D0-E88C-F491-C0B9E899D2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25613" y="2179271"/>
            <a:ext cx="477507" cy="246016"/>
          </a:xfrm>
          <a:prstGeom prst="curvedConnector3">
            <a:avLst>
              <a:gd name="adj1" fmla="val 31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8" name="Connector: Curved 15397">
            <a:extLst>
              <a:ext uri="{FF2B5EF4-FFF2-40B4-BE49-F238E27FC236}">
                <a16:creationId xmlns:a16="http://schemas.microsoft.com/office/drawing/2014/main" id="{99A923B5-76E5-BD04-7466-84E8DECD421C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8532718" y="1684680"/>
            <a:ext cx="138418" cy="1135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21" name="Flowchart: Process 15420">
            <a:extLst>
              <a:ext uri="{FF2B5EF4-FFF2-40B4-BE49-F238E27FC236}">
                <a16:creationId xmlns:a16="http://schemas.microsoft.com/office/drawing/2014/main" id="{50E14094-9328-6FA9-1DB1-8385C201D64F}"/>
              </a:ext>
            </a:extLst>
          </p:cNvPr>
          <p:cNvSpPr/>
          <p:nvPr/>
        </p:nvSpPr>
        <p:spPr>
          <a:xfrm>
            <a:off x="9754458" y="1899894"/>
            <a:ext cx="1078620" cy="328082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ICP(Scanner + PC)</a:t>
            </a:r>
            <a:endParaRPr lang="en-IN" sz="900" dirty="0"/>
          </a:p>
        </p:txBody>
      </p:sp>
      <p:sp>
        <p:nvSpPr>
          <p:cNvPr id="15433" name="Flowchart: Process 15432">
            <a:extLst>
              <a:ext uri="{FF2B5EF4-FFF2-40B4-BE49-F238E27FC236}">
                <a16:creationId xmlns:a16="http://schemas.microsoft.com/office/drawing/2014/main" id="{1568166B-58F4-472E-477E-0CD97BC1E878}"/>
              </a:ext>
            </a:extLst>
          </p:cNvPr>
          <p:cNvSpPr/>
          <p:nvPr/>
        </p:nvSpPr>
        <p:spPr>
          <a:xfrm>
            <a:off x="10776359" y="2541261"/>
            <a:ext cx="1097974" cy="557628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Offline Edge AI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(OCR+ ELA+ Face)</a:t>
            </a:r>
            <a:endParaRPr lang="en-IN" sz="900" dirty="0"/>
          </a:p>
        </p:txBody>
      </p:sp>
      <p:sp>
        <p:nvSpPr>
          <p:cNvPr id="15435" name="Flowchart: Decision 15434">
            <a:extLst>
              <a:ext uri="{FF2B5EF4-FFF2-40B4-BE49-F238E27FC236}">
                <a16:creationId xmlns:a16="http://schemas.microsoft.com/office/drawing/2014/main" id="{D9B8E7CE-F20D-CA40-4D06-9515341C1C78}"/>
              </a:ext>
            </a:extLst>
          </p:cNvPr>
          <p:cNvSpPr/>
          <p:nvPr/>
        </p:nvSpPr>
        <p:spPr>
          <a:xfrm>
            <a:off x="10196620" y="3392960"/>
            <a:ext cx="1042022" cy="550237"/>
          </a:xfrm>
          <a:prstGeom prst="flowChartDecision">
            <a:avLst/>
          </a:prstGeom>
          <a:solidFill>
            <a:srgbClr val="A3D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Risk Score?</a:t>
            </a:r>
          </a:p>
        </p:txBody>
      </p:sp>
      <p:sp>
        <p:nvSpPr>
          <p:cNvPr id="15444" name="Flowchart: Process 15443">
            <a:extLst>
              <a:ext uri="{FF2B5EF4-FFF2-40B4-BE49-F238E27FC236}">
                <a16:creationId xmlns:a16="http://schemas.microsoft.com/office/drawing/2014/main" id="{131739E4-517C-677E-788B-A96A7BF15AA6}"/>
              </a:ext>
            </a:extLst>
          </p:cNvPr>
          <p:cNvSpPr/>
          <p:nvPr/>
        </p:nvSpPr>
        <p:spPr>
          <a:xfrm>
            <a:off x="9218570" y="4192296"/>
            <a:ext cx="788880" cy="328082"/>
          </a:xfrm>
          <a:prstGeom prst="flowChartProcess">
            <a:avLst/>
          </a:prstGeom>
          <a:solidFill>
            <a:srgbClr val="ADDB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Green(&lt;25)</a:t>
            </a:r>
            <a:br>
              <a:rPr lang="en-IN" sz="900" dirty="0">
                <a:solidFill>
                  <a:schemeClr val="tx1"/>
                </a:solidFill>
              </a:rPr>
            </a:br>
            <a:r>
              <a:rPr lang="en-IN" sz="900" dirty="0">
                <a:solidFill>
                  <a:schemeClr val="tx1"/>
                </a:solidFill>
              </a:rPr>
              <a:t>Instant Clear</a:t>
            </a:r>
            <a:endParaRPr lang="en-IN" sz="900" dirty="0"/>
          </a:p>
        </p:txBody>
      </p:sp>
      <p:sp>
        <p:nvSpPr>
          <p:cNvPr id="15448" name="Flowchart: Process 15447">
            <a:extLst>
              <a:ext uri="{FF2B5EF4-FFF2-40B4-BE49-F238E27FC236}">
                <a16:creationId xmlns:a16="http://schemas.microsoft.com/office/drawing/2014/main" id="{6A249C47-85A3-F3D7-3012-42DB273D5FBE}"/>
              </a:ext>
            </a:extLst>
          </p:cNvPr>
          <p:cNvSpPr/>
          <p:nvPr/>
        </p:nvSpPr>
        <p:spPr>
          <a:xfrm>
            <a:off x="10070127" y="4149389"/>
            <a:ext cx="1041865" cy="475660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Amber (25-70) Secondary Desk</a:t>
            </a:r>
          </a:p>
          <a:p>
            <a:pPr algn="ctr"/>
            <a:r>
              <a:rPr lang="en-IN" sz="900" dirty="0">
                <a:solidFill>
                  <a:schemeClr val="tx1"/>
                </a:solidFill>
              </a:rPr>
              <a:t>Officer review</a:t>
            </a:r>
            <a:endParaRPr lang="en-IN" sz="900" dirty="0"/>
          </a:p>
        </p:txBody>
      </p:sp>
      <p:sp>
        <p:nvSpPr>
          <p:cNvPr id="15453" name="Flowchart: Process 15452">
            <a:extLst>
              <a:ext uri="{FF2B5EF4-FFF2-40B4-BE49-F238E27FC236}">
                <a16:creationId xmlns:a16="http://schemas.microsoft.com/office/drawing/2014/main" id="{C8134B7F-BA3F-A6B9-7507-D771E52256CE}"/>
              </a:ext>
            </a:extLst>
          </p:cNvPr>
          <p:cNvSpPr/>
          <p:nvPr/>
        </p:nvSpPr>
        <p:spPr>
          <a:xfrm>
            <a:off x="11179806" y="4220619"/>
            <a:ext cx="788880" cy="328082"/>
          </a:xfrm>
          <a:prstGeom prst="flowChartProcess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Red(&gt;70) Gate Lock</a:t>
            </a:r>
            <a:endParaRPr lang="en-IN" sz="900" dirty="0"/>
          </a:p>
        </p:txBody>
      </p:sp>
      <p:cxnSp>
        <p:nvCxnSpPr>
          <p:cNvPr id="15458" name="Connector: Curved 15457">
            <a:extLst>
              <a:ext uri="{FF2B5EF4-FFF2-40B4-BE49-F238E27FC236}">
                <a16:creationId xmlns:a16="http://schemas.microsoft.com/office/drawing/2014/main" id="{617788FA-C397-856B-5737-C97EDC940D0F}"/>
              </a:ext>
            </a:extLst>
          </p:cNvPr>
          <p:cNvCxnSpPr>
            <a:cxnSpLocks/>
            <a:endCxn id="15453" idx="0"/>
          </p:cNvCxnSpPr>
          <p:nvPr/>
        </p:nvCxnSpPr>
        <p:spPr>
          <a:xfrm rot="16200000" flipH="1">
            <a:off x="11123953" y="3770326"/>
            <a:ext cx="564270" cy="336316"/>
          </a:xfrm>
          <a:prstGeom prst="curvedConnector3">
            <a:avLst>
              <a:gd name="adj1" fmla="val 247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9" name="Connector: Curved 15458">
            <a:extLst>
              <a:ext uri="{FF2B5EF4-FFF2-40B4-BE49-F238E27FC236}">
                <a16:creationId xmlns:a16="http://schemas.microsoft.com/office/drawing/2014/main" id="{D0FD39A8-B0B9-D9DC-CEA6-B75A3C858D7D}"/>
              </a:ext>
            </a:extLst>
          </p:cNvPr>
          <p:cNvCxnSpPr>
            <a:cxnSpLocks/>
          </p:cNvCxnSpPr>
          <p:nvPr/>
        </p:nvCxnSpPr>
        <p:spPr>
          <a:xfrm rot="5400000">
            <a:off x="10556944" y="3985728"/>
            <a:ext cx="188350" cy="1184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74" name="Connector: Curved 15473">
            <a:extLst>
              <a:ext uri="{FF2B5EF4-FFF2-40B4-BE49-F238E27FC236}">
                <a16:creationId xmlns:a16="http://schemas.microsoft.com/office/drawing/2014/main" id="{4288EFCA-5F9C-60AF-CD80-5D61A20E9688}"/>
              </a:ext>
            </a:extLst>
          </p:cNvPr>
          <p:cNvCxnSpPr>
            <a:cxnSpLocks/>
            <a:endCxn id="15390" idx="1"/>
          </p:cNvCxnSpPr>
          <p:nvPr/>
        </p:nvCxnSpPr>
        <p:spPr>
          <a:xfrm rot="5400000">
            <a:off x="10512610" y="4692590"/>
            <a:ext cx="202460" cy="455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78" name="Connector: Curved 15477">
            <a:extLst>
              <a:ext uri="{FF2B5EF4-FFF2-40B4-BE49-F238E27FC236}">
                <a16:creationId xmlns:a16="http://schemas.microsoft.com/office/drawing/2014/main" id="{9696F4A9-F912-329D-B390-B40EAEB7B87E}"/>
              </a:ext>
            </a:extLst>
          </p:cNvPr>
          <p:cNvCxnSpPr>
            <a:cxnSpLocks/>
            <a:endCxn id="15390" idx="4"/>
          </p:cNvCxnSpPr>
          <p:nvPr/>
        </p:nvCxnSpPr>
        <p:spPr>
          <a:xfrm rot="5400000">
            <a:off x="11081599" y="4536970"/>
            <a:ext cx="531196" cy="47041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81" name="Connector: Curved 15480">
            <a:extLst>
              <a:ext uri="{FF2B5EF4-FFF2-40B4-BE49-F238E27FC236}">
                <a16:creationId xmlns:a16="http://schemas.microsoft.com/office/drawing/2014/main" id="{0500239A-DD62-E7FD-6C7E-50BBA9465619}"/>
              </a:ext>
            </a:extLst>
          </p:cNvPr>
          <p:cNvCxnSpPr>
            <a:cxnSpLocks/>
            <a:endCxn id="15390" idx="2"/>
          </p:cNvCxnSpPr>
          <p:nvPr/>
        </p:nvCxnSpPr>
        <p:spPr>
          <a:xfrm rot="16200000" flipH="1">
            <a:off x="9573743" y="4541390"/>
            <a:ext cx="517396" cy="47537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5" name="Flowchart: Decision 15484">
            <a:extLst>
              <a:ext uri="{FF2B5EF4-FFF2-40B4-BE49-F238E27FC236}">
                <a16:creationId xmlns:a16="http://schemas.microsoft.com/office/drawing/2014/main" id="{C9B1C23E-31BF-B55A-AA1F-481496D194AD}"/>
              </a:ext>
            </a:extLst>
          </p:cNvPr>
          <p:cNvSpPr/>
          <p:nvPr/>
        </p:nvSpPr>
        <p:spPr>
          <a:xfrm>
            <a:off x="9858260" y="5474139"/>
            <a:ext cx="941874" cy="550237"/>
          </a:xfrm>
          <a:prstGeom prst="flowChartDecision">
            <a:avLst/>
          </a:prstGeom>
          <a:solidFill>
            <a:srgbClr val="A3D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DPDP Filter</a:t>
            </a:r>
          </a:p>
        </p:txBody>
      </p:sp>
      <p:cxnSp>
        <p:nvCxnSpPr>
          <p:cNvPr id="15486" name="Connector: Curved 15485">
            <a:extLst>
              <a:ext uri="{FF2B5EF4-FFF2-40B4-BE49-F238E27FC236}">
                <a16:creationId xmlns:a16="http://schemas.microsoft.com/office/drawing/2014/main" id="{D4CCD57E-8146-8137-0834-1EF9CF47BB3D}"/>
              </a:ext>
            </a:extLst>
          </p:cNvPr>
          <p:cNvCxnSpPr>
            <a:cxnSpLocks/>
            <a:endCxn id="15485" idx="0"/>
          </p:cNvCxnSpPr>
          <p:nvPr/>
        </p:nvCxnSpPr>
        <p:spPr>
          <a:xfrm rot="10800000" flipV="1">
            <a:off x="10329198" y="5249353"/>
            <a:ext cx="262721" cy="22478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90" name="Flowchart: Process 15489">
            <a:extLst>
              <a:ext uri="{FF2B5EF4-FFF2-40B4-BE49-F238E27FC236}">
                <a16:creationId xmlns:a16="http://schemas.microsoft.com/office/drawing/2014/main" id="{5483DA89-9666-A581-3E07-FDBC1D3FC5F9}"/>
              </a:ext>
            </a:extLst>
          </p:cNvPr>
          <p:cNvSpPr/>
          <p:nvPr/>
        </p:nvSpPr>
        <p:spPr>
          <a:xfrm>
            <a:off x="10937454" y="5592125"/>
            <a:ext cx="961924" cy="321758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Wipe Genuine Traveller’s data</a:t>
            </a:r>
            <a:endParaRPr lang="en-IN" sz="900" dirty="0"/>
          </a:p>
        </p:txBody>
      </p:sp>
      <p:cxnSp>
        <p:nvCxnSpPr>
          <p:cNvPr id="15491" name="Connector: Curved 15490">
            <a:extLst>
              <a:ext uri="{FF2B5EF4-FFF2-40B4-BE49-F238E27FC236}">
                <a16:creationId xmlns:a16="http://schemas.microsoft.com/office/drawing/2014/main" id="{E1BD0596-4E48-A17B-445E-AB7BB25484B8}"/>
              </a:ext>
            </a:extLst>
          </p:cNvPr>
          <p:cNvCxnSpPr>
            <a:cxnSpLocks/>
            <a:stCxn id="15485" idx="3"/>
            <a:endCxn id="15490" idx="1"/>
          </p:cNvCxnSpPr>
          <p:nvPr/>
        </p:nvCxnSpPr>
        <p:spPr>
          <a:xfrm>
            <a:off x="10800134" y="5749258"/>
            <a:ext cx="137320" cy="37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98" name="Flowchart: Process 15497">
            <a:extLst>
              <a:ext uri="{FF2B5EF4-FFF2-40B4-BE49-F238E27FC236}">
                <a16:creationId xmlns:a16="http://schemas.microsoft.com/office/drawing/2014/main" id="{DFD58E15-F358-DE08-D13A-F6011EB126DC}"/>
              </a:ext>
            </a:extLst>
          </p:cNvPr>
          <p:cNvSpPr/>
          <p:nvPr/>
        </p:nvSpPr>
        <p:spPr>
          <a:xfrm>
            <a:off x="8866937" y="5585216"/>
            <a:ext cx="788880" cy="328082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Queue Fraud Logs/Data</a:t>
            </a:r>
            <a:endParaRPr lang="en-IN" sz="900" dirty="0"/>
          </a:p>
        </p:txBody>
      </p:sp>
      <p:cxnSp>
        <p:nvCxnSpPr>
          <p:cNvPr id="15499" name="Connector: Curved 15498">
            <a:extLst>
              <a:ext uri="{FF2B5EF4-FFF2-40B4-BE49-F238E27FC236}">
                <a16:creationId xmlns:a16="http://schemas.microsoft.com/office/drawing/2014/main" id="{9E4931FA-D803-705F-FD13-11EC0A288E77}"/>
              </a:ext>
            </a:extLst>
          </p:cNvPr>
          <p:cNvCxnSpPr>
            <a:cxnSpLocks/>
          </p:cNvCxnSpPr>
          <p:nvPr/>
        </p:nvCxnSpPr>
        <p:spPr>
          <a:xfrm rot="10800000">
            <a:off x="9647066" y="5746272"/>
            <a:ext cx="232758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04" name="Flowchart: Decision 15503">
            <a:extLst>
              <a:ext uri="{FF2B5EF4-FFF2-40B4-BE49-F238E27FC236}">
                <a16:creationId xmlns:a16="http://schemas.microsoft.com/office/drawing/2014/main" id="{5980F60A-50A5-3039-9D63-2F70968A2AEB}"/>
              </a:ext>
            </a:extLst>
          </p:cNvPr>
          <p:cNvSpPr/>
          <p:nvPr/>
        </p:nvSpPr>
        <p:spPr>
          <a:xfrm>
            <a:off x="7930707" y="4171508"/>
            <a:ext cx="1090643" cy="550237"/>
          </a:xfrm>
          <a:prstGeom prst="flowChartDecision">
            <a:avLst/>
          </a:prstGeom>
          <a:solidFill>
            <a:srgbClr val="A3D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Online?</a:t>
            </a:r>
          </a:p>
        </p:txBody>
      </p:sp>
      <p:cxnSp>
        <p:nvCxnSpPr>
          <p:cNvPr id="15505" name="Connector: Curved 15504">
            <a:extLst>
              <a:ext uri="{FF2B5EF4-FFF2-40B4-BE49-F238E27FC236}">
                <a16:creationId xmlns:a16="http://schemas.microsoft.com/office/drawing/2014/main" id="{71174361-B6E7-025C-D949-455D729D0A1A}"/>
              </a:ext>
            </a:extLst>
          </p:cNvPr>
          <p:cNvCxnSpPr>
            <a:cxnSpLocks/>
            <a:stCxn id="15498" idx="1"/>
            <a:endCxn id="15504" idx="2"/>
          </p:cNvCxnSpPr>
          <p:nvPr/>
        </p:nvCxnSpPr>
        <p:spPr>
          <a:xfrm rot="10800000">
            <a:off x="8476029" y="4721745"/>
            <a:ext cx="390908" cy="102751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10" name="Flowchart: Magnetic Disk 15509">
            <a:extLst>
              <a:ext uri="{FF2B5EF4-FFF2-40B4-BE49-F238E27FC236}">
                <a16:creationId xmlns:a16="http://schemas.microsoft.com/office/drawing/2014/main" id="{90589748-3F5B-670C-916F-62C4EF094C0C}"/>
              </a:ext>
            </a:extLst>
          </p:cNvPr>
          <p:cNvSpPr/>
          <p:nvPr/>
        </p:nvSpPr>
        <p:spPr>
          <a:xfrm>
            <a:off x="9021429" y="3092655"/>
            <a:ext cx="1041865" cy="442346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Central MHA Cloud </a:t>
            </a:r>
          </a:p>
        </p:txBody>
      </p:sp>
      <p:sp>
        <p:nvSpPr>
          <p:cNvPr id="15512" name="Flowchart: Process 15511">
            <a:extLst>
              <a:ext uri="{FF2B5EF4-FFF2-40B4-BE49-F238E27FC236}">
                <a16:creationId xmlns:a16="http://schemas.microsoft.com/office/drawing/2014/main" id="{9DCB9927-E262-1FB9-1BD6-3B23397104AE}"/>
              </a:ext>
            </a:extLst>
          </p:cNvPr>
          <p:cNvSpPr/>
          <p:nvPr/>
        </p:nvSpPr>
        <p:spPr>
          <a:xfrm>
            <a:off x="7811382" y="3436132"/>
            <a:ext cx="788880" cy="328082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Offline Local Hold </a:t>
            </a:r>
            <a:endParaRPr lang="en-IN" sz="900" dirty="0"/>
          </a:p>
        </p:txBody>
      </p:sp>
      <p:cxnSp>
        <p:nvCxnSpPr>
          <p:cNvPr id="15516" name="Connector: Curved 15515">
            <a:extLst>
              <a:ext uri="{FF2B5EF4-FFF2-40B4-BE49-F238E27FC236}">
                <a16:creationId xmlns:a16="http://schemas.microsoft.com/office/drawing/2014/main" id="{50974DF9-985C-BC6B-2D7C-E9C297375933}"/>
              </a:ext>
            </a:extLst>
          </p:cNvPr>
          <p:cNvCxnSpPr>
            <a:cxnSpLocks/>
            <a:stCxn id="15504" idx="1"/>
            <a:endCxn id="15512" idx="1"/>
          </p:cNvCxnSpPr>
          <p:nvPr/>
        </p:nvCxnSpPr>
        <p:spPr>
          <a:xfrm rot="10800000">
            <a:off x="7811383" y="3600173"/>
            <a:ext cx="119325" cy="846454"/>
          </a:xfrm>
          <a:prstGeom prst="curvedConnector3">
            <a:avLst>
              <a:gd name="adj1" fmla="val 2915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17" name="Connector: Curved 15516">
            <a:extLst>
              <a:ext uri="{FF2B5EF4-FFF2-40B4-BE49-F238E27FC236}">
                <a16:creationId xmlns:a16="http://schemas.microsoft.com/office/drawing/2014/main" id="{48593639-FB50-D396-6E0F-7DC31A69413F}"/>
              </a:ext>
            </a:extLst>
          </p:cNvPr>
          <p:cNvCxnSpPr>
            <a:cxnSpLocks/>
            <a:endCxn id="15510" idx="3"/>
          </p:cNvCxnSpPr>
          <p:nvPr/>
        </p:nvCxnSpPr>
        <p:spPr>
          <a:xfrm rot="5400000" flipH="1" flipV="1">
            <a:off x="8838039" y="3726988"/>
            <a:ext cx="896310" cy="5123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40" name="Connector: Curved 15539">
            <a:extLst>
              <a:ext uri="{FF2B5EF4-FFF2-40B4-BE49-F238E27FC236}">
                <a16:creationId xmlns:a16="http://schemas.microsoft.com/office/drawing/2014/main" id="{3664D783-8D3A-1B06-298F-54980F7A5FE1}"/>
              </a:ext>
            </a:extLst>
          </p:cNvPr>
          <p:cNvCxnSpPr>
            <a:cxnSpLocks/>
            <a:stCxn id="15512" idx="3"/>
            <a:endCxn id="15504" idx="0"/>
          </p:cNvCxnSpPr>
          <p:nvPr/>
        </p:nvCxnSpPr>
        <p:spPr>
          <a:xfrm flipH="1">
            <a:off x="8476029" y="3600173"/>
            <a:ext cx="124233" cy="571335"/>
          </a:xfrm>
          <a:prstGeom prst="curvedConnector4">
            <a:avLst>
              <a:gd name="adj1" fmla="val -184009"/>
              <a:gd name="adj2" fmla="val 643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55" name="Flowchart: Process 15554">
            <a:extLst>
              <a:ext uri="{FF2B5EF4-FFF2-40B4-BE49-F238E27FC236}">
                <a16:creationId xmlns:a16="http://schemas.microsoft.com/office/drawing/2014/main" id="{9CDDBE45-5D8C-98C3-391F-EA71C0134BEA}"/>
              </a:ext>
            </a:extLst>
          </p:cNvPr>
          <p:cNvSpPr/>
          <p:nvPr/>
        </p:nvSpPr>
        <p:spPr>
          <a:xfrm>
            <a:off x="8377846" y="2355152"/>
            <a:ext cx="840724" cy="482305"/>
          </a:xfrm>
          <a:prstGeom prst="flowChartProcess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Retrain &amp; Push updates </a:t>
            </a:r>
            <a:endParaRPr lang="en-IN" sz="900" dirty="0"/>
          </a:p>
        </p:txBody>
      </p:sp>
      <p:cxnSp>
        <p:nvCxnSpPr>
          <p:cNvPr id="15556" name="Connector: Curved 15555">
            <a:extLst>
              <a:ext uri="{FF2B5EF4-FFF2-40B4-BE49-F238E27FC236}">
                <a16:creationId xmlns:a16="http://schemas.microsoft.com/office/drawing/2014/main" id="{AA9751B6-9CCE-05C5-08FE-1758ACB3ECEC}"/>
              </a:ext>
            </a:extLst>
          </p:cNvPr>
          <p:cNvCxnSpPr>
            <a:cxnSpLocks/>
            <a:stCxn id="15510" idx="1"/>
            <a:endCxn id="15555" idx="2"/>
          </p:cNvCxnSpPr>
          <p:nvPr/>
        </p:nvCxnSpPr>
        <p:spPr>
          <a:xfrm rot="16200000" flipV="1">
            <a:off x="9042686" y="2592979"/>
            <a:ext cx="255198" cy="74415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59" name="Connector: Curved 15558">
            <a:extLst>
              <a:ext uri="{FF2B5EF4-FFF2-40B4-BE49-F238E27FC236}">
                <a16:creationId xmlns:a16="http://schemas.microsoft.com/office/drawing/2014/main" id="{E670CFC1-F2CA-7484-E795-A367ADE9A57E}"/>
              </a:ext>
            </a:extLst>
          </p:cNvPr>
          <p:cNvCxnSpPr>
            <a:cxnSpLocks/>
            <a:stCxn id="15555" idx="3"/>
            <a:endCxn id="15433" idx="1"/>
          </p:cNvCxnSpPr>
          <p:nvPr/>
        </p:nvCxnSpPr>
        <p:spPr>
          <a:xfrm>
            <a:off x="9218570" y="2596305"/>
            <a:ext cx="1557789" cy="2237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320834"/>
            <a:ext cx="10972800" cy="1143000"/>
          </a:xfrm>
        </p:spPr>
        <p:txBody>
          <a:bodyPr/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rPr dirty="0"/>
              <a:t>TECHNICAL APPROACH: MULTI-TRACK BILATERAL BORDER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410" y="1501"/>
            <a:ext cx="1427525" cy="674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2E0DBF-8971-DF84-55E7-3193E8DED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98" t="3255" r="10018" b="2425"/>
          <a:stretch>
            <a:fillRect/>
          </a:stretch>
        </p:blipFill>
        <p:spPr>
          <a:xfrm>
            <a:off x="9714450" y="731843"/>
            <a:ext cx="2417136" cy="55853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1A93A3-BB5B-2517-167E-FD3B33AF9B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94" t="39348" r="3495" b="38117"/>
          <a:stretch>
            <a:fillRect/>
          </a:stretch>
        </p:blipFill>
        <p:spPr>
          <a:xfrm>
            <a:off x="3148172" y="5548762"/>
            <a:ext cx="5608320" cy="7691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6AD417-A81C-FF02-DB6C-EFDF998DF9FA}"/>
              </a:ext>
            </a:extLst>
          </p:cNvPr>
          <p:cNvSpPr/>
          <p:nvPr/>
        </p:nvSpPr>
        <p:spPr>
          <a:xfrm>
            <a:off x="9660784" y="731843"/>
            <a:ext cx="2531216" cy="56245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3AEC8901-AE00-0E19-3438-F780EC1FECD0}"/>
              </a:ext>
            </a:extLst>
          </p:cNvPr>
          <p:cNvSpPr/>
          <p:nvPr/>
        </p:nvSpPr>
        <p:spPr>
          <a:xfrm>
            <a:off x="162065" y="5539852"/>
            <a:ext cx="8594427" cy="814909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FDC6CB-12B6-E829-E757-E8D5A1FF6538}"/>
              </a:ext>
            </a:extLst>
          </p:cNvPr>
          <p:cNvSpPr txBox="1"/>
          <p:nvPr/>
        </p:nvSpPr>
        <p:spPr>
          <a:xfrm>
            <a:off x="119133" y="5539853"/>
            <a:ext cx="2745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8456D8"/>
                </a:solidFill>
              </a:rPr>
              <a:t>Components/ Technology</a:t>
            </a:r>
            <a:br>
              <a:rPr lang="en-IN" b="1" dirty="0">
                <a:solidFill>
                  <a:srgbClr val="8456D8"/>
                </a:solidFill>
              </a:rPr>
            </a:br>
            <a:r>
              <a:rPr lang="en-IN" b="1" dirty="0">
                <a:solidFill>
                  <a:srgbClr val="8456D8"/>
                </a:solidFill>
              </a:rPr>
              <a:t>to be used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207462-F0DC-3B49-70CF-D1B0CAA40CA7}"/>
              </a:ext>
            </a:extLst>
          </p:cNvPr>
          <p:cNvSpPr/>
          <p:nvPr/>
        </p:nvSpPr>
        <p:spPr>
          <a:xfrm>
            <a:off x="98833" y="831076"/>
            <a:ext cx="4924663" cy="4680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638E72-1BB2-F21D-1B5F-3AE35CF96DF8}"/>
              </a:ext>
            </a:extLst>
          </p:cNvPr>
          <p:cNvSpPr/>
          <p:nvPr/>
        </p:nvSpPr>
        <p:spPr>
          <a:xfrm>
            <a:off x="5049450" y="840947"/>
            <a:ext cx="2531216" cy="4670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AE3344-DEB3-11AF-5F4C-55FF68F36327}"/>
              </a:ext>
            </a:extLst>
          </p:cNvPr>
          <p:cNvSpPr/>
          <p:nvPr/>
        </p:nvSpPr>
        <p:spPr>
          <a:xfrm>
            <a:off x="7644395" y="831076"/>
            <a:ext cx="1888930" cy="4689995"/>
          </a:xfrm>
          <a:prstGeom prst="rect">
            <a:avLst/>
          </a:prstGeom>
          <a:solidFill>
            <a:srgbClr val="D4F3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67A6362-634C-E526-F4CB-FED1C9EDA3C5}"/>
              </a:ext>
            </a:extLst>
          </p:cNvPr>
          <p:cNvSpPr/>
          <p:nvPr/>
        </p:nvSpPr>
        <p:spPr>
          <a:xfrm>
            <a:off x="202662" y="910663"/>
            <a:ext cx="1099839" cy="6728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ICP(Integrated Check post)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5CC490A-952B-ED50-890B-BEEF655B2693}"/>
              </a:ext>
            </a:extLst>
          </p:cNvPr>
          <p:cNvSpPr/>
          <p:nvPr/>
        </p:nvSpPr>
        <p:spPr>
          <a:xfrm>
            <a:off x="1436929" y="912914"/>
            <a:ext cx="1099838" cy="672819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Document on Scanner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CC6D948-7757-AABF-D79E-2B2F54A07D2D}"/>
              </a:ext>
            </a:extLst>
          </p:cNvPr>
          <p:cNvSpPr/>
          <p:nvPr/>
        </p:nvSpPr>
        <p:spPr>
          <a:xfrm>
            <a:off x="2678113" y="910662"/>
            <a:ext cx="1099838" cy="672819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Eye-level Webcam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F741BA1-FAF5-C5F9-1866-A45073F62453}"/>
              </a:ext>
            </a:extLst>
          </p:cNvPr>
          <p:cNvSpPr/>
          <p:nvPr/>
        </p:nvSpPr>
        <p:spPr>
          <a:xfrm>
            <a:off x="3859634" y="912915"/>
            <a:ext cx="1099839" cy="6728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CLAHE &amp; </a:t>
            </a:r>
            <a:r>
              <a:rPr lang="en-IN" sz="1200" b="1" dirty="0"/>
              <a:t>Homography</a:t>
            </a: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72EA27DE-B9DB-E5E9-5966-2DDE1C6457F3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1302501" y="1247072"/>
            <a:ext cx="134428" cy="225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1B980979-80D9-2387-7ACF-3A60817D2E8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2493452" y="1247072"/>
            <a:ext cx="184661" cy="598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FC724BAA-1558-C933-0D3A-007726E7211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52317" y="1229002"/>
            <a:ext cx="107317" cy="20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ectangle: Rounded Corners 17440">
            <a:extLst>
              <a:ext uri="{FF2B5EF4-FFF2-40B4-BE49-F238E27FC236}">
                <a16:creationId xmlns:a16="http://schemas.microsoft.com/office/drawing/2014/main" id="{90874972-C81C-1604-80AE-A10217DE6050}"/>
              </a:ext>
            </a:extLst>
          </p:cNvPr>
          <p:cNvSpPr/>
          <p:nvPr/>
        </p:nvSpPr>
        <p:spPr>
          <a:xfrm>
            <a:off x="272924" y="1836252"/>
            <a:ext cx="4375275" cy="41317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(Perspective Wrapped and Glar Removed)</a:t>
            </a:r>
          </a:p>
        </p:txBody>
      </p:sp>
      <p:sp>
        <p:nvSpPr>
          <p:cNvPr id="17443" name="Rectangle: Rounded Corners 17442">
            <a:extLst>
              <a:ext uri="{FF2B5EF4-FFF2-40B4-BE49-F238E27FC236}">
                <a16:creationId xmlns:a16="http://schemas.microsoft.com/office/drawing/2014/main" id="{47DEED58-098F-C5F5-1365-AB0826409B09}"/>
              </a:ext>
            </a:extLst>
          </p:cNvPr>
          <p:cNvSpPr/>
          <p:nvPr/>
        </p:nvSpPr>
        <p:spPr>
          <a:xfrm>
            <a:off x="99125" y="2446541"/>
            <a:ext cx="1496309" cy="90584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10-Lakh FAISS Cache(&lt;15ms)</a:t>
            </a:r>
          </a:p>
        </p:txBody>
      </p:sp>
      <p:sp>
        <p:nvSpPr>
          <p:cNvPr id="17445" name="Rectangle: Rounded Corners 17444">
            <a:extLst>
              <a:ext uri="{FF2B5EF4-FFF2-40B4-BE49-F238E27FC236}">
                <a16:creationId xmlns:a16="http://schemas.microsoft.com/office/drawing/2014/main" id="{79F8B831-1FCA-B373-8D8F-283242B74863}"/>
              </a:ext>
            </a:extLst>
          </p:cNvPr>
          <p:cNvSpPr/>
          <p:nvPr/>
        </p:nvSpPr>
        <p:spPr>
          <a:xfrm>
            <a:off x="1688063" y="2492285"/>
            <a:ext cx="995640" cy="62959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ELA 90% Forensics</a:t>
            </a:r>
          </a:p>
        </p:txBody>
      </p:sp>
      <p:sp>
        <p:nvSpPr>
          <p:cNvPr id="17447" name="Rectangle: Rounded Corners 17446">
            <a:extLst>
              <a:ext uri="{FF2B5EF4-FFF2-40B4-BE49-F238E27FC236}">
                <a16:creationId xmlns:a16="http://schemas.microsoft.com/office/drawing/2014/main" id="{CF465A5F-B8C1-8E20-2138-797B4BA330CF}"/>
              </a:ext>
            </a:extLst>
          </p:cNvPr>
          <p:cNvSpPr/>
          <p:nvPr/>
        </p:nvSpPr>
        <p:spPr>
          <a:xfrm>
            <a:off x="2827666" y="2489507"/>
            <a:ext cx="861985" cy="629593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ArcFace 512-d Match</a:t>
            </a:r>
          </a:p>
        </p:txBody>
      </p:sp>
      <p:cxnSp>
        <p:nvCxnSpPr>
          <p:cNvPr id="17448" name="Connector: Curved 17447">
            <a:extLst>
              <a:ext uri="{FF2B5EF4-FFF2-40B4-BE49-F238E27FC236}">
                <a16:creationId xmlns:a16="http://schemas.microsoft.com/office/drawing/2014/main" id="{D4D5585E-EFAF-FCE7-DC86-73FFC4D2B3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8901" y="2419778"/>
            <a:ext cx="296757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: Curved 17451">
            <a:extLst>
              <a:ext uri="{FF2B5EF4-FFF2-40B4-BE49-F238E27FC236}">
                <a16:creationId xmlns:a16="http://schemas.microsoft.com/office/drawing/2014/main" id="{9B9CDD84-AF70-5AEB-C3CC-091DC35D8686}"/>
              </a:ext>
            </a:extLst>
          </p:cNvPr>
          <p:cNvCxnSpPr>
            <a:cxnSpLocks/>
            <a:endCxn id="17445" idx="1"/>
          </p:cNvCxnSpPr>
          <p:nvPr/>
        </p:nvCxnSpPr>
        <p:spPr>
          <a:xfrm>
            <a:off x="1541120" y="2804304"/>
            <a:ext cx="146943" cy="27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Rectangle: Rounded Corners 17454">
            <a:extLst>
              <a:ext uri="{FF2B5EF4-FFF2-40B4-BE49-F238E27FC236}">
                <a16:creationId xmlns:a16="http://schemas.microsoft.com/office/drawing/2014/main" id="{6FEB5A49-B8D7-AF85-1702-84D429AC8D4E}"/>
              </a:ext>
            </a:extLst>
          </p:cNvPr>
          <p:cNvSpPr/>
          <p:nvPr/>
        </p:nvSpPr>
        <p:spPr>
          <a:xfrm>
            <a:off x="3849793" y="2485018"/>
            <a:ext cx="1099839" cy="6728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PaddleOCR</a:t>
            </a:r>
          </a:p>
          <a:p>
            <a:pPr algn="ctr"/>
            <a:r>
              <a:rPr lang="en-IN" sz="1400" b="1" dirty="0"/>
              <a:t>INT8</a:t>
            </a:r>
            <a:endParaRPr lang="en-IN" sz="1200" b="1" dirty="0"/>
          </a:p>
        </p:txBody>
      </p:sp>
      <p:cxnSp>
        <p:nvCxnSpPr>
          <p:cNvPr id="17457" name="Connector: Curved 17456">
            <a:extLst>
              <a:ext uri="{FF2B5EF4-FFF2-40B4-BE49-F238E27FC236}">
                <a16:creationId xmlns:a16="http://schemas.microsoft.com/office/drawing/2014/main" id="{11C9D366-024A-D49C-AF73-C211C91C4AFE}"/>
              </a:ext>
            </a:extLst>
          </p:cNvPr>
          <p:cNvCxnSpPr>
            <a:cxnSpLocks/>
            <a:endCxn id="17455" idx="1"/>
          </p:cNvCxnSpPr>
          <p:nvPr/>
        </p:nvCxnSpPr>
        <p:spPr>
          <a:xfrm flipV="1">
            <a:off x="3724460" y="2821427"/>
            <a:ext cx="125333" cy="64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: Curved 17457">
            <a:extLst>
              <a:ext uri="{FF2B5EF4-FFF2-40B4-BE49-F238E27FC236}">
                <a16:creationId xmlns:a16="http://schemas.microsoft.com/office/drawing/2014/main" id="{8B05A22E-9998-33E9-F84E-1E1A2D79525D}"/>
              </a:ext>
            </a:extLst>
          </p:cNvPr>
          <p:cNvCxnSpPr>
            <a:cxnSpLocks/>
            <a:endCxn id="17447" idx="1"/>
          </p:cNvCxnSpPr>
          <p:nvPr/>
        </p:nvCxnSpPr>
        <p:spPr>
          <a:xfrm flipV="1">
            <a:off x="2642647" y="2804304"/>
            <a:ext cx="185019" cy="201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ectangle: Rounded Corners 17463">
            <a:extLst>
              <a:ext uri="{FF2B5EF4-FFF2-40B4-BE49-F238E27FC236}">
                <a16:creationId xmlns:a16="http://schemas.microsoft.com/office/drawing/2014/main" id="{70BE24C9-89E9-E956-EB1D-233BCC9D88DD}"/>
              </a:ext>
            </a:extLst>
          </p:cNvPr>
          <p:cNvSpPr/>
          <p:nvPr/>
        </p:nvSpPr>
        <p:spPr>
          <a:xfrm>
            <a:off x="305814" y="3512934"/>
            <a:ext cx="4375275" cy="41317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( Multi-Piller Risk Engin: Score&lt;25)</a:t>
            </a:r>
          </a:p>
        </p:txBody>
      </p:sp>
      <p:cxnSp>
        <p:nvCxnSpPr>
          <p:cNvPr id="17465" name="Connector: Curved 17464">
            <a:extLst>
              <a:ext uri="{FF2B5EF4-FFF2-40B4-BE49-F238E27FC236}">
                <a16:creationId xmlns:a16="http://schemas.microsoft.com/office/drawing/2014/main" id="{46FB1365-B24D-2201-6C23-29FED94865AE}"/>
              </a:ext>
            </a:extLst>
          </p:cNvPr>
          <p:cNvCxnSpPr>
            <a:cxnSpLocks/>
          </p:cNvCxnSpPr>
          <p:nvPr/>
        </p:nvCxnSpPr>
        <p:spPr>
          <a:xfrm rot="5400000">
            <a:off x="4205473" y="3317582"/>
            <a:ext cx="40117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8" name="Connector: Curved 17467">
            <a:extLst>
              <a:ext uri="{FF2B5EF4-FFF2-40B4-BE49-F238E27FC236}">
                <a16:creationId xmlns:a16="http://schemas.microsoft.com/office/drawing/2014/main" id="{B895103E-82C8-0383-5D90-C4C660AF279F}"/>
              </a:ext>
            </a:extLst>
          </p:cNvPr>
          <p:cNvCxnSpPr>
            <a:cxnSpLocks/>
          </p:cNvCxnSpPr>
          <p:nvPr/>
        </p:nvCxnSpPr>
        <p:spPr>
          <a:xfrm rot="5400000">
            <a:off x="591101" y="4010399"/>
            <a:ext cx="322957" cy="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0" name="Connector: Curved 17469">
            <a:extLst>
              <a:ext uri="{FF2B5EF4-FFF2-40B4-BE49-F238E27FC236}">
                <a16:creationId xmlns:a16="http://schemas.microsoft.com/office/drawing/2014/main" id="{C932EFCA-3AC4-D1A7-2A49-19BADEC9A183}"/>
              </a:ext>
            </a:extLst>
          </p:cNvPr>
          <p:cNvCxnSpPr>
            <a:cxnSpLocks/>
            <a:stCxn id="17480" idx="3"/>
            <a:endCxn id="17486" idx="1"/>
          </p:cNvCxnSpPr>
          <p:nvPr/>
        </p:nvCxnSpPr>
        <p:spPr>
          <a:xfrm>
            <a:off x="3742485" y="4519296"/>
            <a:ext cx="117149" cy="124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Rectangle: Rounded Corners 17471">
            <a:extLst>
              <a:ext uri="{FF2B5EF4-FFF2-40B4-BE49-F238E27FC236}">
                <a16:creationId xmlns:a16="http://schemas.microsoft.com/office/drawing/2014/main" id="{92940B59-8CF4-39B3-0EEC-B4D58C59A5D9}"/>
              </a:ext>
            </a:extLst>
          </p:cNvPr>
          <p:cNvSpPr/>
          <p:nvPr/>
        </p:nvSpPr>
        <p:spPr>
          <a:xfrm>
            <a:off x="237141" y="4173751"/>
            <a:ext cx="1099838" cy="672819"/>
          </a:xfrm>
          <a:prstGeom prst="roundRect">
            <a:avLst/>
          </a:prstGeom>
          <a:solidFill>
            <a:srgbClr val="29B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Green (Risk Score&lt;25)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7474" name="Connector: Curved 17473">
            <a:extLst>
              <a:ext uri="{FF2B5EF4-FFF2-40B4-BE49-F238E27FC236}">
                <a16:creationId xmlns:a16="http://schemas.microsoft.com/office/drawing/2014/main" id="{3F4F5A78-A340-19A2-75F8-B3B4DA2CD4EF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4245421" y="1749866"/>
            <a:ext cx="328267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8" name="Rectangle: Rounded Corners 17477">
            <a:extLst>
              <a:ext uri="{FF2B5EF4-FFF2-40B4-BE49-F238E27FC236}">
                <a16:creationId xmlns:a16="http://schemas.microsoft.com/office/drawing/2014/main" id="{FCB29AAB-30E3-DA07-4E30-8FE95EE127EC}"/>
              </a:ext>
            </a:extLst>
          </p:cNvPr>
          <p:cNvSpPr/>
          <p:nvPr/>
        </p:nvSpPr>
        <p:spPr>
          <a:xfrm>
            <a:off x="1461328" y="4176607"/>
            <a:ext cx="1099837" cy="62959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Relay Dry-Contact Fires</a:t>
            </a:r>
          </a:p>
        </p:txBody>
      </p:sp>
      <p:sp>
        <p:nvSpPr>
          <p:cNvPr id="17480" name="Rectangle: Rounded Corners 17479">
            <a:extLst>
              <a:ext uri="{FF2B5EF4-FFF2-40B4-BE49-F238E27FC236}">
                <a16:creationId xmlns:a16="http://schemas.microsoft.com/office/drawing/2014/main" id="{7F484140-AF45-F90E-E1BF-EE4D3DFAB5A2}"/>
              </a:ext>
            </a:extLst>
          </p:cNvPr>
          <p:cNvSpPr/>
          <p:nvPr/>
        </p:nvSpPr>
        <p:spPr>
          <a:xfrm>
            <a:off x="2642647" y="4182886"/>
            <a:ext cx="1099838" cy="672819"/>
          </a:xfrm>
          <a:prstGeom prst="roundRect">
            <a:avLst/>
          </a:prstGeom>
          <a:solidFill>
            <a:srgbClr val="29B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Turnstile Lift(&lt;2.4s)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7481" name="Connector: Curved 17480">
            <a:extLst>
              <a:ext uri="{FF2B5EF4-FFF2-40B4-BE49-F238E27FC236}">
                <a16:creationId xmlns:a16="http://schemas.microsoft.com/office/drawing/2014/main" id="{56DBA3BE-FD65-00FD-BFDD-B25D62FC8DB0}"/>
              </a:ext>
            </a:extLst>
          </p:cNvPr>
          <p:cNvCxnSpPr>
            <a:cxnSpLocks/>
            <a:endCxn id="17478" idx="1"/>
          </p:cNvCxnSpPr>
          <p:nvPr/>
        </p:nvCxnSpPr>
        <p:spPr>
          <a:xfrm>
            <a:off x="1312532" y="4467942"/>
            <a:ext cx="148796" cy="23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2" name="Connector: Curved 17481">
            <a:extLst>
              <a:ext uri="{FF2B5EF4-FFF2-40B4-BE49-F238E27FC236}">
                <a16:creationId xmlns:a16="http://schemas.microsoft.com/office/drawing/2014/main" id="{0912D35E-39B9-5FFF-A056-A00BA82554EC}"/>
              </a:ext>
            </a:extLst>
          </p:cNvPr>
          <p:cNvCxnSpPr>
            <a:cxnSpLocks/>
          </p:cNvCxnSpPr>
          <p:nvPr/>
        </p:nvCxnSpPr>
        <p:spPr>
          <a:xfrm flipV="1">
            <a:off x="2566344" y="4488412"/>
            <a:ext cx="184661" cy="598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6" name="Rectangle: Rounded Corners 17485">
            <a:extLst>
              <a:ext uri="{FF2B5EF4-FFF2-40B4-BE49-F238E27FC236}">
                <a16:creationId xmlns:a16="http://schemas.microsoft.com/office/drawing/2014/main" id="{C39BC565-D3BF-F9CD-4C12-4ABD884C1F5B}"/>
              </a:ext>
            </a:extLst>
          </p:cNvPr>
          <p:cNvSpPr/>
          <p:nvPr/>
        </p:nvSpPr>
        <p:spPr>
          <a:xfrm>
            <a:off x="3859634" y="4216976"/>
            <a:ext cx="1099837" cy="62959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SHA-256 Block Sealed</a:t>
            </a:r>
          </a:p>
        </p:txBody>
      </p:sp>
      <p:sp>
        <p:nvSpPr>
          <p:cNvPr id="17492" name="Rectangle: Rounded Corners 17491">
            <a:extLst>
              <a:ext uri="{FF2B5EF4-FFF2-40B4-BE49-F238E27FC236}">
                <a16:creationId xmlns:a16="http://schemas.microsoft.com/office/drawing/2014/main" id="{7BFB8B0A-69C9-2258-A817-FAA059EFE9CB}"/>
              </a:ext>
            </a:extLst>
          </p:cNvPr>
          <p:cNvSpPr/>
          <p:nvPr/>
        </p:nvSpPr>
        <p:spPr>
          <a:xfrm>
            <a:off x="5317522" y="990744"/>
            <a:ext cx="1929636" cy="572110"/>
          </a:xfrm>
          <a:prstGeom prst="roundRect">
            <a:avLst/>
          </a:prstGeom>
          <a:solidFill>
            <a:srgbClr val="63A4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Mode B: Patrol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7498" name="Rectangle: Rounded Corners 17497">
            <a:extLst>
              <a:ext uri="{FF2B5EF4-FFF2-40B4-BE49-F238E27FC236}">
                <a16:creationId xmlns:a16="http://schemas.microsoft.com/office/drawing/2014/main" id="{AC112ACE-E9BC-2F53-9FA4-04CDE16BCD10}"/>
              </a:ext>
            </a:extLst>
          </p:cNvPr>
          <p:cNvSpPr/>
          <p:nvPr/>
        </p:nvSpPr>
        <p:spPr>
          <a:xfrm>
            <a:off x="5378132" y="1697979"/>
            <a:ext cx="1964008" cy="56510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Jawan Opens Tablet/phone PWA</a:t>
            </a:r>
          </a:p>
        </p:txBody>
      </p:sp>
      <p:sp>
        <p:nvSpPr>
          <p:cNvPr id="17500" name="Rectangle: Rounded Corners 17499">
            <a:extLst>
              <a:ext uri="{FF2B5EF4-FFF2-40B4-BE49-F238E27FC236}">
                <a16:creationId xmlns:a16="http://schemas.microsoft.com/office/drawing/2014/main" id="{CAAD67B0-B810-2F3E-1A40-0436209CB54C}"/>
              </a:ext>
            </a:extLst>
          </p:cNvPr>
          <p:cNvSpPr/>
          <p:nvPr/>
        </p:nvSpPr>
        <p:spPr>
          <a:xfrm>
            <a:off x="5356983" y="2422573"/>
            <a:ext cx="1964008" cy="5651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take photo of ID Card</a:t>
            </a:r>
            <a:br>
              <a:rPr lang="en-IN" sz="1400" b="1" dirty="0">
                <a:solidFill>
                  <a:schemeClr val="tx1"/>
                </a:solidFill>
              </a:rPr>
            </a:br>
            <a:r>
              <a:rPr lang="en-IN" sz="1400" b="1" dirty="0">
                <a:solidFill>
                  <a:schemeClr val="tx1"/>
                </a:solidFill>
              </a:rPr>
              <a:t>and traveller </a:t>
            </a:r>
          </a:p>
        </p:txBody>
      </p:sp>
      <p:sp>
        <p:nvSpPr>
          <p:cNvPr id="17504" name="Rectangle: Rounded Corners 17503">
            <a:extLst>
              <a:ext uri="{FF2B5EF4-FFF2-40B4-BE49-F238E27FC236}">
                <a16:creationId xmlns:a16="http://schemas.microsoft.com/office/drawing/2014/main" id="{573EB6C1-6A97-862F-2D7A-4D35E72FADA1}"/>
              </a:ext>
            </a:extLst>
          </p:cNvPr>
          <p:cNvSpPr/>
          <p:nvPr/>
        </p:nvSpPr>
        <p:spPr>
          <a:xfrm>
            <a:off x="5324932" y="3226262"/>
            <a:ext cx="2096949" cy="5651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Local 50K Sector(Fourier Anti-Spoof)</a:t>
            </a:r>
          </a:p>
        </p:txBody>
      </p:sp>
      <p:sp>
        <p:nvSpPr>
          <p:cNvPr id="17506" name="Rectangle: Rounded Corners 17505">
            <a:extLst>
              <a:ext uri="{FF2B5EF4-FFF2-40B4-BE49-F238E27FC236}">
                <a16:creationId xmlns:a16="http://schemas.microsoft.com/office/drawing/2014/main" id="{B3406BDC-D88F-B386-999D-0D2C3B5562B8}"/>
              </a:ext>
            </a:extLst>
          </p:cNvPr>
          <p:cNvSpPr/>
          <p:nvPr/>
        </p:nvSpPr>
        <p:spPr>
          <a:xfrm>
            <a:off x="5412543" y="4029002"/>
            <a:ext cx="1964008" cy="5651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Risk score &amp; Verdict(&lt;2.8s)  </a:t>
            </a:r>
          </a:p>
        </p:txBody>
      </p:sp>
      <p:sp>
        <p:nvSpPr>
          <p:cNvPr id="17508" name="Rectangle: Rounded Corners 17507">
            <a:extLst>
              <a:ext uri="{FF2B5EF4-FFF2-40B4-BE49-F238E27FC236}">
                <a16:creationId xmlns:a16="http://schemas.microsoft.com/office/drawing/2014/main" id="{58ABA96F-C0E1-84E0-174A-22E199D9F6B4}"/>
              </a:ext>
            </a:extLst>
          </p:cNvPr>
          <p:cNvSpPr/>
          <p:nvPr/>
        </p:nvSpPr>
        <p:spPr>
          <a:xfrm>
            <a:off x="5424256" y="4786295"/>
            <a:ext cx="1964008" cy="5651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Store in Local WAL Queue</a:t>
            </a:r>
          </a:p>
        </p:txBody>
      </p:sp>
      <p:cxnSp>
        <p:nvCxnSpPr>
          <p:cNvPr id="17509" name="Connector: Curved 17508">
            <a:extLst>
              <a:ext uri="{FF2B5EF4-FFF2-40B4-BE49-F238E27FC236}">
                <a16:creationId xmlns:a16="http://schemas.microsoft.com/office/drawing/2014/main" id="{EAD73FA9-F10A-8AE2-3B4D-D1D314D91CE2}"/>
              </a:ext>
            </a:extLst>
          </p:cNvPr>
          <p:cNvCxnSpPr>
            <a:cxnSpLocks/>
            <a:stCxn id="17492" idx="2"/>
          </p:cNvCxnSpPr>
          <p:nvPr/>
        </p:nvCxnSpPr>
        <p:spPr>
          <a:xfrm rot="5400000">
            <a:off x="6164545" y="1680649"/>
            <a:ext cx="235590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2" name="Connector: Curved 17511">
            <a:extLst>
              <a:ext uri="{FF2B5EF4-FFF2-40B4-BE49-F238E27FC236}">
                <a16:creationId xmlns:a16="http://schemas.microsoft.com/office/drawing/2014/main" id="{8F12BF53-0FED-14E0-00C9-2FCF1281E5EC}"/>
              </a:ext>
            </a:extLst>
          </p:cNvPr>
          <p:cNvCxnSpPr>
            <a:cxnSpLocks/>
            <a:endCxn id="17500" idx="0"/>
          </p:cNvCxnSpPr>
          <p:nvPr/>
        </p:nvCxnSpPr>
        <p:spPr>
          <a:xfrm rot="16200000" flipH="1">
            <a:off x="6233758" y="2317344"/>
            <a:ext cx="142636" cy="678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4" name="Connector: Curved 17513">
            <a:extLst>
              <a:ext uri="{FF2B5EF4-FFF2-40B4-BE49-F238E27FC236}">
                <a16:creationId xmlns:a16="http://schemas.microsoft.com/office/drawing/2014/main" id="{F764F573-A88B-EB43-FB17-745C832F82B1}"/>
              </a:ext>
            </a:extLst>
          </p:cNvPr>
          <p:cNvCxnSpPr>
            <a:cxnSpLocks/>
            <a:endCxn id="17504" idx="0"/>
          </p:cNvCxnSpPr>
          <p:nvPr/>
        </p:nvCxnSpPr>
        <p:spPr>
          <a:xfrm rot="16200000" flipH="1">
            <a:off x="6230976" y="3083831"/>
            <a:ext cx="238588" cy="462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5" name="Connector: Curved 17514">
            <a:extLst>
              <a:ext uri="{FF2B5EF4-FFF2-40B4-BE49-F238E27FC236}">
                <a16:creationId xmlns:a16="http://schemas.microsoft.com/office/drawing/2014/main" id="{E3BF0583-AF7F-C6AF-6A8F-2C559D74319D}"/>
              </a:ext>
            </a:extLst>
          </p:cNvPr>
          <p:cNvCxnSpPr>
            <a:cxnSpLocks/>
            <a:stCxn id="17504" idx="2"/>
            <a:endCxn id="17506" idx="0"/>
          </p:cNvCxnSpPr>
          <p:nvPr/>
        </p:nvCxnSpPr>
        <p:spPr>
          <a:xfrm rot="16200000" flipH="1">
            <a:off x="6265157" y="3899612"/>
            <a:ext cx="237640" cy="211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6" name="Connector: Curved 17515">
            <a:extLst>
              <a:ext uri="{FF2B5EF4-FFF2-40B4-BE49-F238E27FC236}">
                <a16:creationId xmlns:a16="http://schemas.microsoft.com/office/drawing/2014/main" id="{4434F6A5-604D-F8F8-F095-9E448767C165}"/>
              </a:ext>
            </a:extLst>
          </p:cNvPr>
          <p:cNvCxnSpPr>
            <a:cxnSpLocks/>
            <a:stCxn id="17506" idx="2"/>
            <a:endCxn id="17508" idx="0"/>
          </p:cNvCxnSpPr>
          <p:nvPr/>
        </p:nvCxnSpPr>
        <p:spPr>
          <a:xfrm rot="16200000" flipH="1">
            <a:off x="6304307" y="4684341"/>
            <a:ext cx="192193" cy="117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1" name="Rectangle: Rounded Corners 17530">
            <a:extLst>
              <a:ext uri="{FF2B5EF4-FFF2-40B4-BE49-F238E27FC236}">
                <a16:creationId xmlns:a16="http://schemas.microsoft.com/office/drawing/2014/main" id="{43C1FBEA-3FDA-0CDF-9775-DB7CC3906171}"/>
              </a:ext>
            </a:extLst>
          </p:cNvPr>
          <p:cNvSpPr/>
          <p:nvPr/>
        </p:nvSpPr>
        <p:spPr>
          <a:xfrm>
            <a:off x="7848738" y="1018381"/>
            <a:ext cx="1411347" cy="5651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</a:rPr>
              <a:t>Treaty Aware Scoring </a:t>
            </a:r>
          </a:p>
        </p:txBody>
      </p:sp>
      <p:sp>
        <p:nvSpPr>
          <p:cNvPr id="17533" name="Rectangle: Rounded Corners 17532">
            <a:extLst>
              <a:ext uri="{FF2B5EF4-FFF2-40B4-BE49-F238E27FC236}">
                <a16:creationId xmlns:a16="http://schemas.microsoft.com/office/drawing/2014/main" id="{4DC7BE5A-9638-EB59-BF3A-A2A832F5B5F6}"/>
              </a:ext>
            </a:extLst>
          </p:cNvPr>
          <p:cNvSpPr/>
          <p:nvPr/>
        </p:nvSpPr>
        <p:spPr>
          <a:xfrm>
            <a:off x="7827888" y="1812175"/>
            <a:ext cx="1506329" cy="43725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1950 Napal/1949 Bhutan  </a:t>
            </a:r>
          </a:p>
        </p:txBody>
      </p:sp>
      <p:sp>
        <p:nvSpPr>
          <p:cNvPr id="17535" name="Rectangle: Rounded Corners 17534">
            <a:extLst>
              <a:ext uri="{FF2B5EF4-FFF2-40B4-BE49-F238E27FC236}">
                <a16:creationId xmlns:a16="http://schemas.microsoft.com/office/drawing/2014/main" id="{E0AB8FB9-9371-241F-3E22-52B19F7FE1BC}"/>
              </a:ext>
            </a:extLst>
          </p:cNvPr>
          <p:cNvSpPr/>
          <p:nvPr/>
        </p:nvSpPr>
        <p:spPr>
          <a:xfrm>
            <a:off x="7858005" y="2423680"/>
            <a:ext cx="1506329" cy="43725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Voter ID / Nagrikta OK! </a:t>
            </a:r>
          </a:p>
        </p:txBody>
      </p:sp>
      <p:sp>
        <p:nvSpPr>
          <p:cNvPr id="17537" name="Rectangle: Rounded Corners 17536">
            <a:extLst>
              <a:ext uri="{FF2B5EF4-FFF2-40B4-BE49-F238E27FC236}">
                <a16:creationId xmlns:a16="http://schemas.microsoft.com/office/drawing/2014/main" id="{EEF14842-F1F7-BA8B-2725-31C0AD3E1E41}"/>
              </a:ext>
            </a:extLst>
          </p:cNvPr>
          <p:cNvSpPr/>
          <p:nvPr/>
        </p:nvSpPr>
        <p:spPr>
          <a:xfrm>
            <a:off x="7798112" y="3096356"/>
            <a:ext cx="1565879" cy="437255"/>
          </a:xfrm>
          <a:prstGeom prst="roundRect">
            <a:avLst/>
          </a:prstGeom>
          <a:solidFill>
            <a:srgbClr val="FFD0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Foreigner? Strict Visa ICP</a:t>
            </a:r>
          </a:p>
        </p:txBody>
      </p:sp>
      <p:sp>
        <p:nvSpPr>
          <p:cNvPr id="17539" name="Rectangle: Rounded Corners 17538">
            <a:extLst>
              <a:ext uri="{FF2B5EF4-FFF2-40B4-BE49-F238E27FC236}">
                <a16:creationId xmlns:a16="http://schemas.microsoft.com/office/drawing/2014/main" id="{7D8997F4-9369-2815-9D0A-8CD5C3C9F6E1}"/>
              </a:ext>
            </a:extLst>
          </p:cNvPr>
          <p:cNvSpPr/>
          <p:nvPr/>
        </p:nvSpPr>
        <p:spPr>
          <a:xfrm>
            <a:off x="7858005" y="3706700"/>
            <a:ext cx="1506329" cy="437255"/>
          </a:xfrm>
          <a:prstGeom prst="roundRect">
            <a:avLst/>
          </a:prstGeom>
          <a:solidFill>
            <a:srgbClr val="FF74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rgbClr val="FFFFFF"/>
                </a:solidFill>
              </a:rPr>
              <a:t>Threat Match (Score &gt;70) </a:t>
            </a:r>
          </a:p>
        </p:txBody>
      </p:sp>
      <p:sp>
        <p:nvSpPr>
          <p:cNvPr id="17541" name="Rectangle: Rounded Corners 17540">
            <a:extLst>
              <a:ext uri="{FF2B5EF4-FFF2-40B4-BE49-F238E27FC236}">
                <a16:creationId xmlns:a16="http://schemas.microsoft.com/office/drawing/2014/main" id="{42C98010-2CBD-434D-D12A-55662AABCBD3}"/>
              </a:ext>
            </a:extLst>
          </p:cNvPr>
          <p:cNvSpPr/>
          <p:nvPr/>
        </p:nvSpPr>
        <p:spPr>
          <a:xfrm>
            <a:off x="7882921" y="4874099"/>
            <a:ext cx="1506329" cy="437255"/>
          </a:xfrm>
          <a:prstGeom prst="roundRect">
            <a:avLst/>
          </a:prstGeom>
          <a:solidFill>
            <a:srgbClr val="975CC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rgbClr val="FFFFFF"/>
                </a:solidFill>
              </a:rPr>
              <a:t>Retraining of Model &amp; send updates   </a:t>
            </a:r>
          </a:p>
        </p:txBody>
      </p:sp>
      <p:sp>
        <p:nvSpPr>
          <p:cNvPr id="17545" name="Rectangle: Rounded Corners 17544">
            <a:extLst>
              <a:ext uri="{FF2B5EF4-FFF2-40B4-BE49-F238E27FC236}">
                <a16:creationId xmlns:a16="http://schemas.microsoft.com/office/drawing/2014/main" id="{D8D1B16D-2FE8-E48D-BBD3-413D569DAF45}"/>
              </a:ext>
            </a:extLst>
          </p:cNvPr>
          <p:cNvSpPr/>
          <p:nvPr/>
        </p:nvSpPr>
        <p:spPr>
          <a:xfrm>
            <a:off x="7858005" y="4300667"/>
            <a:ext cx="1506329" cy="43725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rgbClr val="FFFFFF"/>
                </a:solidFill>
              </a:rPr>
              <a:t>Verdict for Officer Inspection  </a:t>
            </a:r>
          </a:p>
        </p:txBody>
      </p:sp>
      <p:cxnSp>
        <p:nvCxnSpPr>
          <p:cNvPr id="17546" name="Connector: Curved 17545">
            <a:extLst>
              <a:ext uri="{FF2B5EF4-FFF2-40B4-BE49-F238E27FC236}">
                <a16:creationId xmlns:a16="http://schemas.microsoft.com/office/drawing/2014/main" id="{28E3A39C-4554-D369-9C80-2F0201C45C72}"/>
              </a:ext>
            </a:extLst>
          </p:cNvPr>
          <p:cNvCxnSpPr>
            <a:cxnSpLocks/>
            <a:stCxn id="17531" idx="2"/>
            <a:endCxn id="17533" idx="0"/>
          </p:cNvCxnSpPr>
          <p:nvPr/>
        </p:nvCxnSpPr>
        <p:spPr>
          <a:xfrm rot="16200000" flipH="1">
            <a:off x="8453385" y="1684507"/>
            <a:ext cx="228694" cy="266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9" name="Connector: Curved 17548">
            <a:extLst>
              <a:ext uri="{FF2B5EF4-FFF2-40B4-BE49-F238E27FC236}">
                <a16:creationId xmlns:a16="http://schemas.microsoft.com/office/drawing/2014/main" id="{0C622859-E992-B7CC-847F-1F7901E7E2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8105" y="2339507"/>
            <a:ext cx="306962" cy="134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1" name="Connector: Curved 17550">
            <a:extLst>
              <a:ext uri="{FF2B5EF4-FFF2-40B4-BE49-F238E27FC236}">
                <a16:creationId xmlns:a16="http://schemas.microsoft.com/office/drawing/2014/main" id="{068ED9B9-9285-A58A-C8C4-E553D65366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27571" y="2996250"/>
            <a:ext cx="306962" cy="134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2" name="Connector: Curved 17551">
            <a:extLst>
              <a:ext uri="{FF2B5EF4-FFF2-40B4-BE49-F238E27FC236}">
                <a16:creationId xmlns:a16="http://schemas.microsoft.com/office/drawing/2014/main" id="{CD33141B-EEF8-BB85-69C5-3EEE4167DB5A}"/>
              </a:ext>
            </a:extLst>
          </p:cNvPr>
          <p:cNvCxnSpPr>
            <a:cxnSpLocks/>
          </p:cNvCxnSpPr>
          <p:nvPr/>
        </p:nvCxnSpPr>
        <p:spPr>
          <a:xfrm rot="5400000">
            <a:off x="8520553" y="3603022"/>
            <a:ext cx="134486" cy="134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3" name="Connector: Curved 17552">
            <a:extLst>
              <a:ext uri="{FF2B5EF4-FFF2-40B4-BE49-F238E27FC236}">
                <a16:creationId xmlns:a16="http://schemas.microsoft.com/office/drawing/2014/main" id="{8CCFFD64-2BDD-FB0C-230A-6978FB3E536B}"/>
              </a:ext>
            </a:extLst>
          </p:cNvPr>
          <p:cNvCxnSpPr>
            <a:cxnSpLocks/>
            <a:endCxn id="17545" idx="0"/>
          </p:cNvCxnSpPr>
          <p:nvPr/>
        </p:nvCxnSpPr>
        <p:spPr>
          <a:xfrm rot="5400000">
            <a:off x="8519910" y="4205522"/>
            <a:ext cx="186406" cy="38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4" name="Connector: Curved 17553">
            <a:extLst>
              <a:ext uri="{FF2B5EF4-FFF2-40B4-BE49-F238E27FC236}">
                <a16:creationId xmlns:a16="http://schemas.microsoft.com/office/drawing/2014/main" id="{2DB8388F-8A6F-F2E4-E0AA-0DE767C239FF}"/>
              </a:ext>
            </a:extLst>
          </p:cNvPr>
          <p:cNvCxnSpPr>
            <a:cxnSpLocks/>
            <a:endCxn id="17541" idx="0"/>
          </p:cNvCxnSpPr>
          <p:nvPr/>
        </p:nvCxnSpPr>
        <p:spPr>
          <a:xfrm rot="16200000" flipH="1">
            <a:off x="8543702" y="4781715"/>
            <a:ext cx="157002" cy="2776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59" name="Rectangle: Rounded Corners 17558">
            <a:extLst>
              <a:ext uri="{FF2B5EF4-FFF2-40B4-BE49-F238E27FC236}">
                <a16:creationId xmlns:a16="http://schemas.microsoft.com/office/drawing/2014/main" id="{E0F72F2D-F1B3-547A-1FAC-3FA6CBF8140D}"/>
              </a:ext>
            </a:extLst>
          </p:cNvPr>
          <p:cNvSpPr/>
          <p:nvPr/>
        </p:nvSpPr>
        <p:spPr>
          <a:xfrm>
            <a:off x="60411" y="581743"/>
            <a:ext cx="1888931" cy="27543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Mode A: Formal ICP</a:t>
            </a:r>
          </a:p>
        </p:txBody>
      </p:sp>
      <p:sp>
        <p:nvSpPr>
          <p:cNvPr id="17561" name="Rectangle: Rounded Corners 17560">
            <a:extLst>
              <a:ext uri="{FF2B5EF4-FFF2-40B4-BE49-F238E27FC236}">
                <a16:creationId xmlns:a16="http://schemas.microsoft.com/office/drawing/2014/main" id="{E6D5A8D1-24DE-7536-5574-FB7C2E5ADD54}"/>
              </a:ext>
            </a:extLst>
          </p:cNvPr>
          <p:cNvSpPr/>
          <p:nvPr/>
        </p:nvSpPr>
        <p:spPr>
          <a:xfrm>
            <a:off x="7609945" y="527948"/>
            <a:ext cx="1888931" cy="27543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Treaty and Wishlist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1500" y="-47626"/>
            <a:ext cx="11010900" cy="1171575"/>
          </a:xfrm>
        </p:spPr>
        <p:txBody>
          <a:bodyPr/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rPr dirty="0"/>
              <a:t>FEASIBILITY AND VIABILITY: ENGINEERING RIGOR &amp; COMMERCIAL SCALABILITY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710" y="1500"/>
            <a:ext cx="1755226" cy="828785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097280"/>
            <a:ext cx="548640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B45309"/>
                </a:solidFill>
                <a:latin typeface="Calibri"/>
              </a:defRPr>
            </a:pPr>
            <a:r>
              <a:t>⚠️ Real Frontier Risk: Remote border outposts suffer 40%–60% frequent optical fiber cuts and complete cellular blackouts.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100% Offline Edge execution. In-memory 10-Lakh SQLite + FAISS cache operates with 0 KB internet dependency during active screening.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40080" y="960120"/>
            <a:ext cx="2560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TECHNICAL TELECOM CHALLENGE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097280"/>
            <a:ext cx="548640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⚠️ Real Frontier Risk: Smugglers upload AI-generated synthetic IDs via phone galleries or present crumpled, faded regional certificates.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Gallery uploads strictly locked out (live optical scan only) + Fourier frequency anti-spoof + CLAHE homography auto-rectification.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400800" y="960120"/>
            <a:ext cx="25603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FRAUD &amp; SPOOF MITIGATION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Proven Open-Source AI Stack: </a:t>
            </a:r>
            <a:r>
              <a:rPr sz="900">
                <a:solidFill>
                  <a:srgbClr val="1E293B"/>
                </a:solidFill>
                <a:latin typeface="Calibri"/>
              </a:rPr>
              <a:t>Leverages industry-standard frameworks: PaddleOCR INT8, YuNet, ArcFace, and OpenCV. Compiled via ONNX Runtime to execute under 450 MB RAM on standard commercial processors without expensive dedicated GPUs.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Sub-2.4s Real-Time Inference: </a:t>
            </a:r>
            <a:r>
              <a:rPr sz="900">
                <a:solidFill>
                  <a:srgbClr val="1E293B"/>
                </a:solidFill>
                <a:latin typeface="Calibri"/>
              </a:rPr>
              <a:t>End-to-end optical scan, homography warp, Devanagari OCR, ELA tampering analysis, and ArcFace biometric matching executes in under 2.4 seconds—preventing border queue freezes.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Touch-First Jawan Usability: </a:t>
            </a:r>
            <a:r>
              <a:rPr sz="900">
                <a:solidFill>
                  <a:srgbClr val="1E293B"/>
                </a:solidFill>
                <a:latin typeface="Calibri"/>
              </a:rPr>
              <a:t>Designed specifically for SSB jawans with extreme UX simplicity: large green/red decision indicators, audible turnstile signals, and zero command-line interaction. Multi-lingual interface in Hindi, English, and Nepali.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BSA 2023 Evidentiary Feasibility: </a:t>
            </a:r>
            <a:r>
              <a:rPr sz="900">
                <a:solidFill>
                  <a:srgbClr val="1E293B"/>
                </a:solidFill>
                <a:latin typeface="Calibri"/>
              </a:rPr>
              <a:t>Fully compliant with Section 63 of the Bharatiya Sakshya Adhiniyam (BSA) 2023 for court-admissible electronic records. Every transaction cryptographically signed with immutable SHA-256 hash chains.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24231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FEASIBILITY : TECHNICAL &amp; OPERATIONAL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1792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Massive Capital Expenditure Savings (&gt;85%): </a:t>
            </a:r>
            <a:r>
              <a:rPr sz="900">
                <a:solidFill>
                  <a:srgbClr val="1E293B"/>
                </a:solidFill>
                <a:latin typeface="Calibri"/>
              </a:rPr>
              <a:t>Replaces proprietary imported airport e-gates (costing ₹12–18 Lakh per booth) with commercial-off-the-shelf hardware costing ₹65,000 per checkpoint station (Mini-PC + Optical Scanner + Webcam + Relays).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Zero Recurring Bandwidth Opex: </a:t>
            </a:r>
            <a:r>
              <a:rPr sz="900">
                <a:solidFill>
                  <a:srgbClr val="1E293B"/>
                </a:solidFill>
                <a:latin typeface="Calibri"/>
              </a:rPr>
              <a:t>100% offline edge architecture requires 0 KB recurring monthly satellite or cloud server bandwidth during active screening—saving multi-crore annual telecom expenditures for the Ministry of Home Affairs.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Scalability Across 2,450 km Frontiers: </a:t>
            </a:r>
            <a:r>
              <a:rPr sz="900">
                <a:solidFill>
                  <a:srgbClr val="1E293B"/>
                </a:solidFill>
                <a:latin typeface="Calibri"/>
              </a:rPr>
              <a:t>Modular architecture easily deployed across 1,751 km Indo-Nepal border (20 ICPs + 500+ BOPs) and 699 km Indo-Bhutan border. Mobile PWA installs on jawans' existing rugged Android tablets without new procurement.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High-Throughput Commuter ROI: </a:t>
            </a:r>
            <a:r>
              <a:rPr sz="900">
                <a:solidFill>
                  <a:srgbClr val="1E293B"/>
                </a:solidFill>
                <a:latin typeface="Calibri"/>
              </a:rPr>
              <a:t>Slashes border crossing wait times from 3–5 minutes per person to &lt; 2.4 seconds, handling over 3,500 daily commuters per turnstile lane while eliminating 14%–20% human fatigue inspection errors.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00800" y="2423160"/>
            <a:ext cx="29260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VIABILITY : IMPACT, ROI &amp; SCALABILITY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1097280"/>
            <a:ext cx="548640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B45309"/>
                </a:solidFill>
                <a:latin typeface="Calibri"/>
              </a:defRPr>
            </a:pPr>
            <a:r>
              <a:t>⚠️ Real Frontier Risk: Remote border outposts suffer 40%–60% frequent optical fiber cuts and complete cellular blackouts.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100% Offline Edge execution. In-memory 10-Lakh SQLite + FAISS cache operates with 0 KB internet dependency during active screening.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40080" y="960120"/>
            <a:ext cx="2560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TECHNICAL TELECOM CHALLENGE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1097280"/>
            <a:ext cx="548640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⚠️ Real Frontier Risk: Smugglers upload AI-generated synthetic IDs via phone galleries or present crumpled, faded regional certificates.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Gallery uploads strictly locked out (live optical scan only) + Fourier frequency anti-spoof + CLAHE homography auto-rectification.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400800" y="960120"/>
            <a:ext cx="25603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FRAUD &amp; SPOOF MITIGATION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Proven Open-Source AI Stack: </a:t>
            </a:r>
            <a:r>
              <a:rPr sz="900">
                <a:solidFill>
                  <a:srgbClr val="1E293B"/>
                </a:solidFill>
                <a:latin typeface="Calibri"/>
              </a:rPr>
              <a:t>Leverages industry-standard frameworks: PaddleOCR INT8, YuNet, ArcFace, and OpenCV. Compiled via ONNX Runtime to execute under 450 MB RAM on standard commercial processors without expensive dedicated GPUs.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Sub-2.4s Real-Time Inference: </a:t>
            </a:r>
            <a:r>
              <a:rPr sz="900">
                <a:solidFill>
                  <a:srgbClr val="1E293B"/>
                </a:solidFill>
                <a:latin typeface="Calibri"/>
              </a:rPr>
              <a:t>End-to-end optical scan, homography warp, Devanagari OCR, ELA tampering analysis, and ArcFace biometric matching executes in under 2.4 seconds—preventing border queue freezes.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Touch-First Jawan Usability: </a:t>
            </a:r>
            <a:r>
              <a:rPr sz="900">
                <a:solidFill>
                  <a:srgbClr val="1E293B"/>
                </a:solidFill>
                <a:latin typeface="Calibri"/>
              </a:rPr>
              <a:t>Designed specifically for SSB jawans with extreme UX simplicity: large green/red decision indicators, audible turnstile signals, and zero command-line interaction. Multi-lingual interface in Hindi, English, and Nepali.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BSA 2023 Evidentiary Feasibility: </a:t>
            </a:r>
            <a:r>
              <a:rPr sz="900">
                <a:solidFill>
                  <a:srgbClr val="1E293B"/>
                </a:solidFill>
                <a:latin typeface="Calibri"/>
              </a:rPr>
              <a:t>Fully compliant with Section 63 of the Bharatiya Sakshya Adhiniyam (BSA) 2023 for court-admissible electronic records. Every transaction cryptographically signed with immutable SHA-256 hash chains.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40080" y="24231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FEASIBILITY : TECHNICAL &amp; OPERATIONAL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1792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Massive Capital Expenditure Savings (&gt;85%): </a:t>
            </a:r>
            <a:r>
              <a:rPr sz="900">
                <a:solidFill>
                  <a:srgbClr val="1E293B"/>
                </a:solidFill>
                <a:latin typeface="Calibri"/>
              </a:rPr>
              <a:t>Replaces proprietary imported airport e-gates (costing ₹12–18 Lakh per booth) with commercial-off-the-shelf hardware costing ₹65,000 per checkpoint station (Mini-PC + Optical Scanner + Webcam + Relays).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Zero Recurring Bandwidth Opex: </a:t>
            </a:r>
            <a:r>
              <a:rPr sz="900">
                <a:solidFill>
                  <a:srgbClr val="1E293B"/>
                </a:solidFill>
                <a:latin typeface="Calibri"/>
              </a:rPr>
              <a:t>100% offline edge architecture requires 0 KB recurring monthly satellite or cloud server bandwidth during active screening—saving multi-crore annual telecom expenditures for the Ministry of Home Affairs.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Scalability Across 2,450 km Frontiers: </a:t>
            </a:r>
            <a:r>
              <a:rPr sz="900">
                <a:solidFill>
                  <a:srgbClr val="1E293B"/>
                </a:solidFill>
                <a:latin typeface="Calibri"/>
              </a:rPr>
              <a:t>Modular architecture easily deployed across 1,751 km Indo-Nepal border (20 ICPs + 500+ BOPs) and 699 km Indo-Bhutan border. Mobile PWA installs on jawans' existing rugged Android tablets without new procurement.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High-Throughput Commuter ROI: </a:t>
            </a:r>
            <a:r>
              <a:rPr sz="900">
                <a:solidFill>
                  <a:srgbClr val="1E293B"/>
                </a:solidFill>
                <a:latin typeface="Calibri"/>
              </a:rPr>
              <a:t>Slashes border crossing wait times from 3–5 minutes per person to &lt; 2.4 seconds, handling over 3,500 daily commuters per turnstile lane while eliminating 14%–20% human fatigue inspection errors.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400800" y="2423160"/>
            <a:ext cx="29260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VIABILITY : IMPACT, ROI &amp; SCALABILITY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1097280"/>
            <a:ext cx="548640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defRPr sz="950" b="1">
                <a:solidFill>
                  <a:srgbClr val="B45309"/>
                </a:solidFill>
                <a:latin typeface="Calibri"/>
              </a:defRPr>
            </a:pPr>
            <a:r>
              <a:t>⚠️ Real Frontier Risk: Remote border outposts suffer 40%–60% frequent optical fiber cuts and complete cellular blackouts.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100% Offline Edge execution. In-memory 10-Lakh SQLite + FAISS cache operates with 0 KB internet dependency during active screening.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" y="960120"/>
            <a:ext cx="2560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TECHNICAL TELECOM CHALLENGE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217920" y="1097280"/>
            <a:ext cx="548640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⚠️ Real Frontier Risk: Smugglers upload AI-generated synthetic IDs via phone galleries or present crumpled, faded regional certificates.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Gallery uploads strictly locked out (live optical scan only) + Fourier frequency anti-spoof + CLAHE homography auto-rectification.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400800" y="960120"/>
            <a:ext cx="25603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FRAUD &amp; SPOOF MITIGATION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Proven Open-Source AI Stack: </a:t>
            </a:r>
            <a:r>
              <a:rPr sz="900">
                <a:solidFill>
                  <a:srgbClr val="1E293B"/>
                </a:solidFill>
                <a:latin typeface="Calibri"/>
              </a:rPr>
              <a:t>Leverages industry-standard frameworks: PaddleOCR INT8, YuNet, ArcFace, and OpenCV. Compiled via ONNX Runtime to execute under 450 MB RAM on standard commercial processors without expensive dedicated GPUs.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Sub-2.4s Real-Time Inference: </a:t>
            </a:r>
            <a:r>
              <a:rPr sz="900">
                <a:solidFill>
                  <a:srgbClr val="1E293B"/>
                </a:solidFill>
                <a:latin typeface="Calibri"/>
              </a:rPr>
              <a:t>End-to-end optical scan, homography warp, Devanagari OCR, ELA tampering analysis, and ArcFace biometric matching executes in under 2.4 seconds—preventing border queue freezes.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Touch-First Jawan Usability: </a:t>
            </a:r>
            <a:r>
              <a:rPr sz="900">
                <a:solidFill>
                  <a:srgbClr val="1E293B"/>
                </a:solidFill>
                <a:latin typeface="Calibri"/>
              </a:rPr>
              <a:t>Designed specifically for SSB jawans with extreme UX simplicity: large green/red decision indicators, audible turnstile signals, and zero command-line interaction. Multi-lingual interface in Hindi, English, and Nepali.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BSA 2023 Evidentiary Feasibility: </a:t>
            </a:r>
            <a:r>
              <a:rPr sz="900">
                <a:solidFill>
                  <a:srgbClr val="1E293B"/>
                </a:solidFill>
                <a:latin typeface="Calibri"/>
              </a:rPr>
              <a:t>Fully compliant with Section 63 of the Bharatiya Sakshya Adhiniyam (BSA) 2023 for court-admissible electronic records. Every transaction cryptographically signed with immutable SHA-256 hash chains.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40080" y="24231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FEASIBILITY : TECHNICAL &amp; OPERATIONAL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21792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Massive Capital Expenditure Savings (&gt;85%): </a:t>
            </a:r>
            <a:r>
              <a:rPr sz="900">
                <a:solidFill>
                  <a:srgbClr val="1E293B"/>
                </a:solidFill>
                <a:latin typeface="Calibri"/>
              </a:rPr>
              <a:t>Replaces proprietary imported airport e-gates (costing ₹12–18 Lakh per booth) with commercial-off-the-shelf hardware costing ₹65,000 per checkpoint station (Mini-PC + Optical Scanner + Webcam + Relays).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Zero Recurring Bandwidth Opex: </a:t>
            </a:r>
            <a:r>
              <a:rPr sz="900">
                <a:solidFill>
                  <a:srgbClr val="1E293B"/>
                </a:solidFill>
                <a:latin typeface="Calibri"/>
              </a:rPr>
              <a:t>100% offline edge architecture requires 0 KB recurring monthly satellite or cloud server bandwidth during active screening—saving multi-crore annual telecom expenditures for the Ministry of Home Affairs.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Scalability Across 2,450 km Frontiers: </a:t>
            </a:r>
            <a:r>
              <a:rPr sz="900">
                <a:solidFill>
                  <a:srgbClr val="1E293B"/>
                </a:solidFill>
                <a:latin typeface="Calibri"/>
              </a:rPr>
              <a:t>Modular architecture easily deployed across 1,751 km Indo-Nepal border (20 ICPs + 500+ BOPs) and 699 km Indo-Bhutan border. Mobile PWA installs on jawans' existing rugged Android tablets without new procurement.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High-Throughput Commuter ROI: </a:t>
            </a:r>
            <a:r>
              <a:rPr sz="900">
                <a:solidFill>
                  <a:srgbClr val="1E293B"/>
                </a:solidFill>
                <a:latin typeface="Calibri"/>
              </a:rPr>
              <a:t>Slashes border crossing wait times from 3–5 minutes per person to &lt; 2.4 seconds, handling over 3,500 daily commuters per turnstile lane while eliminating 14%–20% human fatigue inspection errors.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400800" y="2423160"/>
            <a:ext cx="29260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VIABILITY : IMPACT, ROI &amp; SCALABILITY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1097280"/>
            <a:ext cx="548640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50" b="1">
                <a:solidFill>
                  <a:srgbClr val="B45309"/>
                </a:solidFill>
                <a:latin typeface="Calibri"/>
              </a:defRPr>
            </a:pPr>
            <a:r>
              <a:t>⚠️ Real Frontier Risk: Remote border outposts suffer 40%–60% frequent optical fiber cuts and complete cellular blackouts.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100% Offline Edge execution. In-memory 10-Lakh SQLite + FAISS cache operates with 0 KB internet dependency during active screening.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40080" y="960120"/>
            <a:ext cx="2560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TECHNICAL TELECOM CHALLENGE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217920" y="1097280"/>
            <a:ext cx="548640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⚠️ Real Frontier Risk: Smugglers upload AI-generated synthetic IDs via phone galleries or present crumpled, faded regional certificates.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🛡️ RakshaScan Mitigation: Gallery uploads strictly locked out (live optical scan only) + Fourier frequency anti-spoof + CLAHE homography auto-rectification.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400800" y="960120"/>
            <a:ext cx="25603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FRAUD &amp; SPOOF MITIGATION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5720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Proven Open-Source AI Stack: </a:t>
            </a:r>
            <a:r>
              <a:rPr sz="900">
                <a:solidFill>
                  <a:srgbClr val="1E293B"/>
                </a:solidFill>
                <a:latin typeface="Calibri"/>
              </a:rPr>
              <a:t>Leverages industry-standard frameworks: PaddleOCR INT8, YuNet, ArcFace, and OpenCV. Compiled via ONNX Runtime to execute under 450 MB RAM on standard commercial processors without expensive dedicated GPUs.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Sub-2.4s Real-Time Inference: </a:t>
            </a:r>
            <a:r>
              <a:rPr sz="900">
                <a:solidFill>
                  <a:srgbClr val="1E293B"/>
                </a:solidFill>
                <a:latin typeface="Calibri"/>
              </a:rPr>
              <a:t>End-to-end optical scan, homography warp, Devanagari OCR, ELA tampering analysis, and ArcFace biometric matching executes in under 2.4 seconds—preventing border queue freezes.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Touch-First Jawan Usability: </a:t>
            </a:r>
            <a:r>
              <a:rPr sz="900">
                <a:solidFill>
                  <a:srgbClr val="1E293B"/>
                </a:solidFill>
                <a:latin typeface="Calibri"/>
              </a:rPr>
              <a:t>Designed specifically for SSB jawans with extreme UX simplicity: large green/red decision indicators, audible turnstile signals, and zero command-line interaction. Multi-lingual interface in Hindi, English, and Nepali.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3A8A"/>
                </a:solidFill>
                <a:latin typeface="Calibri"/>
              </a:rPr>
              <a:t>• BSA 2023 Evidentiary Feasibility: </a:t>
            </a:r>
            <a:r>
              <a:rPr sz="900">
                <a:solidFill>
                  <a:srgbClr val="1E293B"/>
                </a:solidFill>
                <a:latin typeface="Calibri"/>
              </a:rPr>
              <a:t>Fully compliant with Section 63 of the Bharatiya Sakshya Adhiniyam (BSA) 2023 for court-admissible electronic records. Every transaction cryptographically signed with immutable SHA-256 hash chains.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40080" y="24231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FEASIBILITY : TECHNICAL &amp; OPERATIONAL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21792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Massive Capital Expenditure Savings (&gt;85%): </a:t>
            </a:r>
            <a:r>
              <a:rPr sz="900">
                <a:solidFill>
                  <a:srgbClr val="1E293B"/>
                </a:solidFill>
                <a:latin typeface="Calibri"/>
              </a:rPr>
              <a:t>Replaces proprietary imported airport e-gates (costing ₹12–18 Lakh per booth) with commercial-off-the-shelf hardware costing ₹65,000 per checkpoint station (Mini-PC + Optical Scanner + Webcam + Relays).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Zero Recurring Bandwidth Opex: </a:t>
            </a:r>
            <a:r>
              <a:rPr sz="900">
                <a:solidFill>
                  <a:srgbClr val="1E293B"/>
                </a:solidFill>
                <a:latin typeface="Calibri"/>
              </a:rPr>
              <a:t>100% offline edge architecture requires 0 KB recurring monthly satellite or cloud server bandwidth during active screening—saving multi-crore annual telecom expenditures for the Ministry of Home Affairs.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Scalability Across 2,450 km Frontiers: </a:t>
            </a:r>
            <a:r>
              <a:rPr sz="900">
                <a:solidFill>
                  <a:srgbClr val="1E293B"/>
                </a:solidFill>
                <a:latin typeface="Calibri"/>
              </a:rPr>
              <a:t>Modular architecture easily deployed across 1,751 km Indo-Nepal border (20 ICPs + 500+ BOPs) and 699 km Indo-Bhutan border. Mobile PWA installs on jawans' existing rugged Android tablets without new procurement.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59669"/>
                </a:solidFill>
                <a:latin typeface="Calibri"/>
              </a:rPr>
              <a:t>• High-Throughput Commuter ROI: </a:t>
            </a:r>
            <a:r>
              <a:rPr sz="900">
                <a:solidFill>
                  <a:srgbClr val="1E293B"/>
                </a:solidFill>
                <a:latin typeface="Calibri"/>
              </a:rPr>
              <a:t>Slashes border crossing wait times from 3–5 minutes per person to &lt; 2.4 seconds, handling over 3,500 daily commuters per turnstile lane while eliminating 14%–20% human fatigue inspection errors.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400800" y="2423160"/>
            <a:ext cx="29260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VIABILITY : IMPACT, ROI &amp; SCALABILITY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" y="1097280"/>
            <a:ext cx="548640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defRPr sz="950" b="1">
                <a:solidFill>
                  <a:srgbClr val="B45309"/>
                </a:solidFill>
                <a:latin typeface="Calibri"/>
              </a:defRPr>
            </a:pPr>
            <a:r>
              <a:rPr sz="1200" dirty="0"/>
              <a:t>⚠️ Real Frontier Risk: Remote border outposts suffer 40%–60% frequent optical fiber cuts and complete cellular blackouts.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🛡️ </a:t>
            </a:r>
            <a:r>
              <a:rPr sz="1200" dirty="0" err="1"/>
              <a:t>RakshaScan</a:t>
            </a:r>
            <a:r>
              <a:rPr sz="1200" dirty="0"/>
              <a:t> Mitigation: 100% Offline Edge execution. In-memory 10-Lakh SQLite + FAISS cache operates with 0 KB internet dependency during active screening.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40080" y="960120"/>
            <a:ext cx="2560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TECHNICAL TELECOM CHALLENGE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217920" y="1097280"/>
            <a:ext cx="5486400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⚠️ Real Frontier Risk: Smugglers upload AI-generated synthetic IDs via phone galleries or present crumpled, faded regional certificates.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🛡️ </a:t>
            </a:r>
            <a:r>
              <a:rPr sz="1200" dirty="0" err="1"/>
              <a:t>RakshaScan</a:t>
            </a:r>
            <a:r>
              <a:rPr sz="1200" dirty="0"/>
              <a:t> Mitigation: Gallery uploads strictly locked out (live optical scan only) + Fourier frequency anti-spoof + CLAHE </a:t>
            </a:r>
            <a:r>
              <a:rPr sz="1200" dirty="0" err="1"/>
              <a:t>homography</a:t>
            </a:r>
            <a:r>
              <a:rPr sz="1200" dirty="0"/>
              <a:t> auto-rectification</a:t>
            </a:r>
            <a:r>
              <a:rPr dirty="0"/>
              <a:t>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400800" y="960120"/>
            <a:ext cx="25603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FRAUD &amp; SPOOF MITIGATION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57200" y="2560320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spcBef>
                <a:spcPts val="0"/>
              </a:spcBef>
            </a:pPr>
            <a:r>
              <a:rPr sz="1200" b="1" dirty="0">
                <a:solidFill>
                  <a:srgbClr val="1E3A8A"/>
                </a:solidFill>
                <a:latin typeface="Calibri"/>
              </a:rPr>
              <a:t>• Proven Open-Source AI Stack: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Leverages industry-standard frameworks: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PaddleOCR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INT8, YuNet,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ArcFace</a:t>
            </a:r>
            <a:r>
              <a:rPr sz="1200" dirty="0">
                <a:solidFill>
                  <a:srgbClr val="1E293B"/>
                </a:solidFill>
                <a:latin typeface="Calibri"/>
              </a:rPr>
              <a:t>, and OpenCV. Compiled via ONNX Runtime to execute under 450 MB RAM on standard commercial processors without expensive dedicated GPUs.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1E3A8A"/>
                </a:solidFill>
                <a:latin typeface="Calibri"/>
              </a:rPr>
              <a:t>• Sub-2.4s Real-Time Inference: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End-to-end optical scan,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homography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warp, Devanagari OCR, ELA tampering analysis, and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ArcFace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biometric matching executes in under 2.4 seconds—preventing border queue freezes.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1E3A8A"/>
                </a:solidFill>
                <a:latin typeface="Calibri"/>
              </a:rPr>
              <a:t>• Touch-First Jawan Usability: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Designed specifically for SSB jawans with extreme UX simplicity: large green/red decision indicators, audible turnstile signals, and zero command-line interaction. Multi-lingual interface in Hindi, English, and Nepali.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1E3A8A"/>
                </a:solidFill>
                <a:latin typeface="Calibri"/>
              </a:rPr>
              <a:t>• BSA 2023 Evidentiary Feasibility: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Fully compliant with Section 63 of the Bharatiya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Sakshya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Adhiniyam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(BSA) 2023 for court-admissible electronic records. Every transaction cryptographically signed with immutable SHA-256 hash chains</a:t>
            </a:r>
            <a:r>
              <a:rPr sz="9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40080" y="24231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FEASIBILITY : TECHNICAL &amp; OPERATIONAL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217920" y="2569464"/>
            <a:ext cx="548640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spcBef>
                <a:spcPts val="0"/>
              </a:spcBef>
            </a:pPr>
            <a:r>
              <a:rPr sz="1200" b="1" dirty="0">
                <a:solidFill>
                  <a:srgbClr val="059669"/>
                </a:solidFill>
                <a:latin typeface="Calibri"/>
              </a:rPr>
              <a:t>• Massive Capital Expenditure Savings (&gt;85%):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Replaces proprietary imported airport e-gates (costing ₹12–18 Lakh per booth) with commercial-off-the-shelf hardware costing ₹65,000 per checkpoint station (Mini-PC + Optical Scanner + Webcam + Relays).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59669"/>
                </a:solidFill>
                <a:latin typeface="Calibri"/>
              </a:rPr>
              <a:t>• Zero Recurring Bandwidth </a:t>
            </a:r>
            <a:r>
              <a:rPr sz="1200" b="1" dirty="0" err="1">
                <a:solidFill>
                  <a:srgbClr val="059669"/>
                </a:solidFill>
                <a:latin typeface="Calibri"/>
              </a:rPr>
              <a:t>Opex</a:t>
            </a:r>
            <a:r>
              <a:rPr sz="1200" b="1" dirty="0">
                <a:solidFill>
                  <a:srgbClr val="059669"/>
                </a:solidFill>
                <a:latin typeface="Calibri"/>
              </a:rPr>
              <a:t>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100% offline edge architecture requires 0 KB recurring monthly satellite or cloud server bandwidth during active screening—saving multi-crore annual telecom expenditures for the Ministry of Home Affairs.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59669"/>
                </a:solidFill>
                <a:latin typeface="Calibri"/>
              </a:rPr>
              <a:t>• Scalability Across 2,450 km Frontiers: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Modular architecture easily deployed across 1,751 km Indo-Nepal border (20 ICPs + 500+ BOPs) and 699 km Indo-Bhutan border. Mobile PWA installs on jawans' existing rugged Android tablets without new procurement.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59669"/>
                </a:solidFill>
                <a:latin typeface="Calibri"/>
              </a:rPr>
              <a:t>• High-Throughput Commuter ROI: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Slashes border crossing wait times from 3–5 minutes per person to &lt; 2.4 seconds, handling over 3,500 daily commuters per turnstile lane while eliminating 14%–20% human fatigue inspection errors.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400800" y="2423160"/>
            <a:ext cx="29260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VIABILITY : IMPACT, ROI &amp; SCALABILITY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IMPACT AND BENEFITS: MEASURABLE OUTCOMES FOR DEFENSE &amp; COMMUTERS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34" name="Rounded Rectangle 17433"/>
          <p:cNvSpPr/>
          <p:nvPr/>
        </p:nvSpPr>
        <p:spPr>
          <a:xfrm>
            <a:off x="460249" y="689301"/>
            <a:ext cx="3611880" cy="301482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10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National Security &amp; Border Integrity</a:t>
            </a:r>
          </a:p>
          <a:p>
            <a:pPr>
              <a:defRPr sz="8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🎯 99.6% Tamper Detection  •  0% Infiltration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Reduces human fatigue inspection errors from 14%–20% to &lt; 0.4% using algorithmic ELA forensics.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Blocks illegal third-country infiltration through open porous frontiers by strictly enforcing visa rules.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Instantly flags razor-cut photo swaps, forged district seals, and altered dates of birth on paper certificates.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Automated silent escalation protocol alerts armed SSB jawans when composite risk exceeds 70/100</a:t>
            </a:r>
            <a:r>
              <a:rPr sz="1100" dirty="0"/>
              <a:t>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286066" y="733486"/>
            <a:ext cx="3566134" cy="29252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rPr sz="1100" dirty="0"/>
              <a:t>Civilian Mobility &amp; Treaty Harmony</a:t>
            </a:r>
          </a:p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rPr sz="1100" dirty="0"/>
              <a:t>🎯 85% Queue Reduction  •  Sub-2.4s Gate Lift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100" dirty="0"/>
              <a:t>• Respects 1950 Indo-Nepal and 1949 Indo-Bhutan treaties: zero harassment for legitimate cross-border residents.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100" dirty="0"/>
              <a:t>• Clears local Indian Voter IDs and Nepalese </a:t>
            </a:r>
            <a:r>
              <a:rPr sz="1100" dirty="0" err="1"/>
              <a:t>Nagarikta</a:t>
            </a:r>
            <a:r>
              <a:rPr sz="1100" dirty="0"/>
              <a:t> that international airport e-gates reject.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100" dirty="0"/>
              <a:t>• Transforms 45-minute border queue nightmares in 40°C heat into dignified 2.4-second automated pedestrian flow.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100" dirty="0"/>
              <a:t>• Processes over 3,500 cross-border students, daily-wage laborers, and pilgrims per lane every day.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029681" y="777731"/>
            <a:ext cx="3611879" cy="29367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rPr sz="1200" dirty="0"/>
              <a:t>Financial &amp; Operational ROI</a:t>
            </a:r>
          </a:p>
          <a:p>
            <a:pPr>
              <a:defRPr sz="850" b="1">
                <a:solidFill>
                  <a:srgbClr val="059669"/>
                </a:solidFill>
                <a:latin typeface="Calibri"/>
              </a:defRPr>
            </a:pPr>
            <a:r>
              <a:rPr sz="1200" dirty="0"/>
              <a:t>🎯 &gt;85% Capex Savings  •  ₹0 Cloud Bandwidth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Costs ₹65,000 per checkpoint station vs ₹12–18 Lakh for imported proprietary airport turnstiles.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Consumes 0 KB internet bandwidth during active screening, eliminating expensive satellite links.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Immutable SHA-256 evidence chain under BSA 2023 Sec 63 prevents judicial dismissal in smuggling trials.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Unified audit trail provides central MHA headquarters with real-time border traffic intelligence</a:t>
            </a:r>
            <a:r>
              <a:rPr sz="1100" dirty="0"/>
              <a:t>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3795252"/>
            <a:ext cx="3611880" cy="246838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050" b="1">
                <a:solidFill>
                  <a:srgbClr val="D97706"/>
                </a:solidFill>
                <a:latin typeface="Calibri"/>
              </a:defRPr>
            </a:pPr>
            <a:r>
              <a:rPr sz="1200" dirty="0"/>
              <a:t>Mode 1: ICP Fast-Track (Formal Land Gates)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📍 Deployment: </a:t>
            </a:r>
            <a:r>
              <a:rPr sz="1200" dirty="0" err="1"/>
              <a:t>Raxaul</a:t>
            </a:r>
            <a:r>
              <a:rPr sz="1200" dirty="0"/>
              <a:t>, </a:t>
            </a:r>
            <a:r>
              <a:rPr sz="1200" dirty="0" err="1"/>
              <a:t>Jogbani</a:t>
            </a:r>
            <a:r>
              <a:rPr sz="1200" dirty="0"/>
              <a:t>, </a:t>
            </a:r>
            <a:r>
              <a:rPr sz="1200" dirty="0" err="1"/>
              <a:t>Banbasa</a:t>
            </a:r>
            <a:r>
              <a:rPr sz="1200" dirty="0"/>
              <a:t>, </a:t>
            </a:r>
            <a:r>
              <a:rPr sz="1200" dirty="0" err="1"/>
              <a:t>Jaigaon</a:t>
            </a:r>
            <a:r>
              <a:rPr sz="1200" dirty="0"/>
              <a:t>, </a:t>
            </a:r>
            <a:r>
              <a:rPr sz="1200" dirty="0" err="1"/>
              <a:t>Darranga</a:t>
            </a:r>
            <a:endParaRPr sz="1200" dirty="0"/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⚙️ Hardware: Dual-lane automated biometric turnstiles + optical scanner + eye-level webcam.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🛡️ Operation: High-throughput rapid screening (&lt;2.4s). Clears 3,500+ daily cross-border workers, students, and traders smoothly with automatic turnstile unlatching.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288536" y="3795252"/>
            <a:ext cx="3611880" cy="24683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Mode 2: Mobile Patrol (Porous Naka-Bandi)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📍 Deployment: Agricultural trails, riverine routes, transit </a:t>
            </a:r>
            <a:r>
              <a:rPr sz="1200" dirty="0" err="1"/>
              <a:t>naka-bandi</a:t>
            </a:r>
            <a:endParaRPr sz="1200" dirty="0"/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⚙️ Hardware: SSB jawans' rugged Android tablet (Offline PWA) + live camera lock.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🛡️ Operation: 14-hour duty cycle on battery. Operates 100% offline via local SQLite cache. Syncs tiny SHA-256 audit hashes via Wi-Fi Direct when returning to vehicle hub.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119872" y="3903406"/>
            <a:ext cx="3611880" cy="23602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050" b="1">
                <a:solidFill>
                  <a:srgbClr val="E11D48"/>
                </a:solidFill>
                <a:latin typeface="Calibri"/>
              </a:defRPr>
            </a:pPr>
            <a:r>
              <a:rPr sz="1200" dirty="0"/>
              <a:t>Mode 3: High-Risk Intercept (Escalation)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📍 Deployment: Automated alarm on Composite Risk Score &gt; 70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⚙️ Hardware: Silent officer alert + split-screen ELA tampering heatmap dossier.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🛡️ Operation: Turnstile automatically locks; suspect quietly directed to secondary examination room. Armed SSB personnel intercept threat with court-admissible BSA evidence.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4852" y="-95250"/>
            <a:ext cx="8496300" cy="1143000"/>
          </a:xfrm>
        </p:spPr>
        <p:txBody>
          <a:bodyPr/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rPr dirty="0"/>
              <a:t>RESEARCH, REFERENCES &amp; COMPETITIVE ADVANTAGE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42" y="1500"/>
            <a:ext cx="2050194" cy="968063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051560"/>
            <a:ext cx="1127455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t>SOLUTIONS ALREADY EXIST  vs  OUR SOLUTION STANDS OUT (COMPETITIVE BENCHMARK)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594360" y="1371600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Airport e-Gates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 Yatra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Cloud 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RakshaScan AI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Frontier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Indo-Nepal &amp; Bhutan Land Borders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Edge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Mandatory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Central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SaaS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100% Offline (10L Local Cache)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Accepted Credentials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Aadhaar / PNR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Documents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Voter IDs, Nagarikta &amp; CIDs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Splicing &amp; Tamper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MRZ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Face Match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Text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Pixel ELA 90% + Micro-Cut 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₹12–18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₹8–12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Variable SaaS Fees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₹65,000 (COTS Hardware)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457200" y="3429000"/>
            <a:ext cx="74066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📚 GOVERNMENT BENCHMARKS, LEGAL ADMISSIBILITY &amp; TECHNICAL LITERATURE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Ministry of Home Affairs (MHA) Annual Report: </a:t>
            </a:r>
            <a:r>
              <a:rPr sz="850">
                <a:solidFill>
                  <a:srgbClr val="1E293B"/>
                </a:solidFill>
                <a:latin typeface="Calibri"/>
              </a:rPr>
              <a:t>SSB border guarding operational doctrine for Indo-Nepal (1,751 km) &amp; Indo-Bhutan (699 km) porous frontiers; offline resilience mandate.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ICAO Doc 9303 (Parts 1–12): </a:t>
            </a:r>
            <a:r>
              <a:rPr sz="850">
                <a:solidFill>
                  <a:srgbClr val="1E293B"/>
                </a:solidFill>
                <a:latin typeface="Calibri"/>
              </a:rPr>
              <a:t>Machine Readable Travel Documents (MRTD) specifications, OCR-B font optical standards, and 7-3-1 modulo-10 check digit algorithms.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European Border Agency (Frontex) Risk Analysis: </a:t>
            </a:r>
            <a:r>
              <a:rPr sz="850">
                <a:solidFill>
                  <a:srgbClr val="1E293B"/>
                </a:solidFill>
                <a:latin typeface="Calibri"/>
              </a:rPr>
              <a:t>Document fraud methodologies, ELA (Error Level Analysis) compression disparity forensics, and paper fiber razor-cut tampering detection.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Bharatiya Sakshya Adhiniyam (BSA) 2023 Sec 63: </a:t>
            </a:r>
            <a:r>
              <a:rPr sz="850">
                <a:solidFill>
                  <a:srgbClr val="1E293B"/>
                </a:solidFill>
                <a:latin typeface="Calibri"/>
              </a:rPr>
              <a:t>Legal compliance for court admissibility of electronic records via automated SHA-256 cryptographic tamper-evident chains.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Academic Research (CVPR / IEEE): </a:t>
            </a:r>
            <a:r>
              <a:rPr sz="850">
                <a:solidFill>
                  <a:srgbClr val="1E293B"/>
                </a:solidFill>
                <a:latin typeface="Calibri"/>
              </a:rPr>
              <a:t>Deng et al., ArcFace: Additive Angular Margin Loss for Face Recognition (&gt;99.6% LFW); PaddleOCR multilingual Devanagari VIZ text parsing.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051560"/>
            <a:ext cx="1127455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t>SOLUTIONS ALREADY EXIST  vs  OUR SOLUTION STANDS OUT (COMPETITIVE BENCHMARK)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594360" y="1371600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Airport e-Gates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 Yatra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Cloud 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RakshaScan AI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Frontier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Indo-Nepal &amp; Bhutan Land Borders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Edge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Mandatory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Central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SaaS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100% Offline (10L Local Cache)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Accepted Credentials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Aadhaar / PNR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Documents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Voter IDs, Nagarikta &amp; CIDs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Splicing &amp; Tamper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MRZ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Face Match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Text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Pixel ELA 90% + Micro-Cut 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₹12–18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₹8–12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Variable SaaS Fees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₹65,000 (COTS Hardware)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7" name="Rounded Rectangle 17416"/>
          <p:cNvSpPr/>
          <p:nvPr/>
        </p:nvSpPr>
        <p:spPr>
          <a:xfrm>
            <a:off x="457200" y="3429000"/>
            <a:ext cx="74066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📚 GOVERNMENT BENCHMARKS, LEGAL ADMISSIBILITY &amp; TECHNICAL LITERATURE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Ministry of Home Affairs (MHA) Annual Report: </a:t>
            </a:r>
            <a:r>
              <a:rPr sz="850">
                <a:solidFill>
                  <a:srgbClr val="1E293B"/>
                </a:solidFill>
                <a:latin typeface="Calibri"/>
              </a:rPr>
              <a:t>SSB border guarding operational doctrine for Indo-Nepal (1,751 km) &amp; Indo-Bhutan (699 km) porous frontiers; offline resilience mandate.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ICAO Doc 9303 (Parts 1–12): </a:t>
            </a:r>
            <a:r>
              <a:rPr sz="850">
                <a:solidFill>
                  <a:srgbClr val="1E293B"/>
                </a:solidFill>
                <a:latin typeface="Calibri"/>
              </a:rPr>
              <a:t>Machine Readable Travel Documents (MRTD) specifications, OCR-B font optical standards, and 7-3-1 modulo-10 check digit algorithms.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European Border Agency (Frontex) Risk Analysis: </a:t>
            </a:r>
            <a:r>
              <a:rPr sz="850">
                <a:solidFill>
                  <a:srgbClr val="1E293B"/>
                </a:solidFill>
                <a:latin typeface="Calibri"/>
              </a:rPr>
              <a:t>Document fraud methodologies, ELA (Error Level Analysis) compression disparity forensics, and paper fiber razor-cut tampering detection.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Bharatiya Sakshya Adhiniyam (BSA) 2023 Sec 63: </a:t>
            </a:r>
            <a:r>
              <a:rPr sz="850">
                <a:solidFill>
                  <a:srgbClr val="1E293B"/>
                </a:solidFill>
                <a:latin typeface="Calibri"/>
              </a:rPr>
              <a:t>Legal compliance for court admissibility of electronic records via automated SHA-256 cryptographic tamper-evident chains.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Academic Research (CVPR / IEEE): </a:t>
            </a:r>
            <a:r>
              <a:rPr sz="850">
                <a:solidFill>
                  <a:srgbClr val="1E293B"/>
                </a:solidFill>
                <a:latin typeface="Calibri"/>
              </a:rPr>
              <a:t>Deng et al., ArcFace: Additive Angular Margin Loss for Face Recognition (&gt;99.6% LFW); PaddleOCR multilingual Devanagari VIZ text parsing.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1051560"/>
            <a:ext cx="1127455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t>SOLUTIONS ALREADY EXIST  vs  OUR SOLUTION STANDS OUT (COMPETITIVE BENCHMARK)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594360" y="1371600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Airport e-Gates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 Yatra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Cloud 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RakshaScan AI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Frontier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Indo-Nepal &amp; Bhutan Land Borders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Edge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Mandatory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Central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SaaS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100% Offline (10L Local Cache)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Accepted Credentials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Aadhaar / PNR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Documents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Voter IDs, Nagarikta &amp; CIDs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Splicing &amp; Tamper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MRZ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Face Match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Text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Pixel ELA 90% + Micro-Cut 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₹12–18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₹8–12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Variable SaaS Fees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₹65,000 (COTS Hardware)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457200" y="3429000"/>
            <a:ext cx="74066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📚 GOVERNMENT BENCHMARKS, LEGAL ADMISSIBILITY &amp; TECHNICAL LITERATURE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Ministry of Home Affairs (MHA) Annual Report: </a:t>
            </a:r>
            <a:r>
              <a:rPr sz="850">
                <a:solidFill>
                  <a:srgbClr val="1E293B"/>
                </a:solidFill>
                <a:latin typeface="Calibri"/>
              </a:rPr>
              <a:t>SSB border guarding operational doctrine for Indo-Nepal (1,751 km) &amp; Indo-Bhutan (699 km) porous frontiers; offline resilience mandate.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ICAO Doc 9303 (Parts 1–12): </a:t>
            </a:r>
            <a:r>
              <a:rPr sz="850">
                <a:solidFill>
                  <a:srgbClr val="1E293B"/>
                </a:solidFill>
                <a:latin typeface="Calibri"/>
              </a:rPr>
              <a:t>Machine Readable Travel Documents (MRTD) specifications, OCR-B font optical standards, and 7-3-1 modulo-10 check digit algorithms.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European Border Agency (Frontex) Risk Analysis: </a:t>
            </a:r>
            <a:r>
              <a:rPr sz="850">
                <a:solidFill>
                  <a:srgbClr val="1E293B"/>
                </a:solidFill>
                <a:latin typeface="Calibri"/>
              </a:rPr>
              <a:t>Document fraud methodologies, ELA (Error Level Analysis) compression disparity forensics, and paper fiber razor-cut tampering detection.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Bharatiya Sakshya Adhiniyam (BSA) 2023 Sec 63: </a:t>
            </a:r>
            <a:r>
              <a:rPr sz="850">
                <a:solidFill>
                  <a:srgbClr val="1E293B"/>
                </a:solidFill>
                <a:latin typeface="Calibri"/>
              </a:rPr>
              <a:t>Legal compliance for court admissibility of electronic records via automated SHA-256 cryptographic tamper-evident chains.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Academic Research (CVPR / IEEE): </a:t>
            </a:r>
            <a:r>
              <a:rPr sz="850">
                <a:solidFill>
                  <a:srgbClr val="1E293B"/>
                </a:solidFill>
                <a:latin typeface="Calibri"/>
              </a:rPr>
              <a:t>Deng et al., ArcFace: Additive Angular Margin Loss for Face Recognition (&gt;99.6% LFW); PaddleOCR multilingual Devanagari VIZ text parsing.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092440" y="5074920"/>
            <a:ext cx="3593592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spcBef>
                <a:spcPts val="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Working Prototype: Live Streamlit / PWA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Code Repository: github.com/YourTeam/RakshaScan-AI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Blueprint Spec: PROJECT_BLUEPRINT.md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Field Trial: Ready for ICP Raxaul &amp; Jogbani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1051560"/>
            <a:ext cx="1127455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t>SOLUTIONS ALREADY EXIST  vs  OUR SOLUTION STANDS OUT (COMPETITIVE BENCHMARK)</a:t>
            </a:r>
          </a:p>
        </p:txBody>
      </p:sp>
      <p:graphicFrame>
        <p:nvGraphicFramePr>
          <p:cNvPr id="17427" name="Table 174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57857"/>
              </p:ext>
            </p:extLst>
          </p:nvPr>
        </p:nvGraphicFramePr>
        <p:xfrm>
          <a:off x="594360" y="1371600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Airport e-Gates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 Yatra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Cloud 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RakshaScan AI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Frontier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Indo-Nepal &amp; Bhutan Land Borders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Edge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Mandatory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Central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SaaS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100% Offline (10L Local Cache)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Accepted Credentials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Aadhaar / PNR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Documents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Voter IDs, Nagarikta &amp; CIDs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Splicing &amp; Tamper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MRZ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Face Match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Text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Pixel ELA 90% + Micro-Cut 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Deployment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₹12–18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₹8–12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Variable SaaS Fees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dirty="0"/>
                        <a:t>✅ ₹65,000 (COTS Hardware)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28" name="Rounded Rectangle 17427"/>
          <p:cNvSpPr/>
          <p:nvPr/>
        </p:nvSpPr>
        <p:spPr>
          <a:xfrm>
            <a:off x="457200" y="3429000"/>
            <a:ext cx="74066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📚 GOVERNMENT BENCHMARKS, LEGAL ADMISSIBILITY &amp; TECHNICAL LITERATURE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Ministry of Home Affairs (MHA) Annual Report: </a:t>
            </a:r>
            <a:r>
              <a:rPr sz="850">
                <a:solidFill>
                  <a:srgbClr val="1E293B"/>
                </a:solidFill>
                <a:latin typeface="Calibri"/>
              </a:rPr>
              <a:t>SSB border guarding operational doctrine for Indo-Nepal (1,751 km) &amp; Indo-Bhutan (699 km) porous frontiers; offline resilience mandate.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ICAO Doc 9303 (Parts 1–12): </a:t>
            </a:r>
            <a:r>
              <a:rPr sz="850">
                <a:solidFill>
                  <a:srgbClr val="1E293B"/>
                </a:solidFill>
                <a:latin typeface="Calibri"/>
              </a:rPr>
              <a:t>Machine Readable Travel Documents (MRTD) specifications, OCR-B font optical standards, and 7-3-1 modulo-10 check digit algorithms.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European Border Agency (Frontex) Risk Analysis: </a:t>
            </a:r>
            <a:r>
              <a:rPr sz="850">
                <a:solidFill>
                  <a:srgbClr val="1E293B"/>
                </a:solidFill>
                <a:latin typeface="Calibri"/>
              </a:rPr>
              <a:t>Document fraud methodologies, ELA (Error Level Analysis) compression disparity forensics, and paper fiber razor-cut tampering detection.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Bharatiya Sakshya Adhiniyam (BSA) 2023 Sec 63: </a:t>
            </a:r>
            <a:r>
              <a:rPr sz="850">
                <a:solidFill>
                  <a:srgbClr val="1E293B"/>
                </a:solidFill>
                <a:latin typeface="Calibri"/>
              </a:rPr>
              <a:t>Legal compliance for court admissibility of electronic records via automated SHA-256 cryptographic tamper-evident chains.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• Academic Research (CVPR / IEEE): </a:t>
            </a:r>
            <a:r>
              <a:rPr sz="850">
                <a:solidFill>
                  <a:srgbClr val="1E293B"/>
                </a:solidFill>
                <a:latin typeface="Calibri"/>
              </a:rPr>
              <a:t>Deng et al., ArcFace: Additive Angular Margin Loss for Face Recognition (&gt;99.6% LFW); PaddleOCR multilingual Devanagari VIZ text parsing.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092440" y="5074920"/>
            <a:ext cx="3593592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spcBef>
                <a:spcPts val="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Working Prototype: Live Streamlit / PWA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Code Repository: github.com/YourTeam/RakshaScan-AI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Blueprint Spec: PROJECT_BLUEPRINT.md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Field Trial: Ready for ICP Raxaul &amp; Jogbani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57200" y="1051560"/>
            <a:ext cx="11274552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SOLUTIONS ALREADY EXIST  vs  OUR SOLUTION STANDS OUT (COMPETITIVE BENCHMARK)</a:t>
            </a:r>
          </a:p>
        </p:txBody>
      </p:sp>
      <p:graphicFrame>
        <p:nvGraphicFramePr>
          <p:cNvPr id="17434" name="Table 174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632830"/>
              </p:ext>
            </p:extLst>
          </p:nvPr>
        </p:nvGraphicFramePr>
        <p:xfrm>
          <a:off x="594360" y="1408176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Airport e-Gates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Digi Yatra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Cloud 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RakshaScan AI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Frontier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Airports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Indo-Nepal &amp; Bhutan Land Borders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Edge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Mandatory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Central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Cloud SaaS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100% Offline (10L Local Cache)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Accepted Credentials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Passports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Aadhaar / PNR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Documents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Voter IDs, Nagarikta &amp; CIDs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Splicing &amp; Tamper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MRZ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Face Match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 Basic Text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✅ Pixel ELA 90% + Micro-Cut 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rPr dirty="0"/>
                        <a:t>₹12–18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rPr dirty="0"/>
                        <a:t>₹8–12 Lakh /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Variable SaaS Fees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dirty="0"/>
                        <a:t>✅ ₹65,000 (COTS Hardware)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35" name="Rounded Rectangle 17434"/>
          <p:cNvSpPr/>
          <p:nvPr/>
        </p:nvSpPr>
        <p:spPr>
          <a:xfrm>
            <a:off x="333007" y="3337560"/>
            <a:ext cx="8572555" cy="300617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📚 GOVERNMENT BENCHMARKS, LEGAL ADMISSIBILITY &amp; TECHNICAL LITERATURE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Calibri"/>
              </a:rPr>
              <a:t>• Ministry of Home Affairs (MHA) Annual Report: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SSB border guarding operational doctrine for Indo-Nepal (1,751 km) &amp; Indo-Bhutan (699 km) porous frontiers; offline resilience mandate.</a:t>
            </a:r>
            <a:r>
              <a:rPr lang="en-IN" sz="12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IN" sz="1200" dirty="0">
                <a:hlinkClick r:id="rId4"/>
              </a:rPr>
              <a:t>AnnualreportEnglish_04102023.pdf</a:t>
            </a:r>
            <a:r>
              <a:rPr lang="en-IN" sz="1200" dirty="0">
                <a:solidFill>
                  <a:schemeClr val="tx1"/>
                </a:solidFill>
              </a:rPr>
              <a:t>, </a:t>
            </a:r>
            <a:r>
              <a:rPr lang="en-IN" sz="1200" dirty="0">
                <a:hlinkClick r:id="rId5"/>
              </a:rPr>
              <a:t>AnnualReport202122_24112022[1].pdf</a:t>
            </a:r>
            <a:r>
              <a:rPr lang="en-IN" sz="1200" dirty="0"/>
              <a:t>,</a:t>
            </a:r>
            <a:r>
              <a:rPr lang="en-IN" sz="1200" dirty="0">
                <a:solidFill>
                  <a:schemeClr val="tx1"/>
                </a:solidFill>
              </a:rPr>
              <a:t>, </a:t>
            </a:r>
            <a:r>
              <a:rPr lang="en-IN" sz="1200" dirty="0">
                <a:hlinkClick r:id="rId6"/>
              </a:rPr>
              <a:t>AnnualReport_17_18.pdf</a:t>
            </a:r>
            <a:endParaRPr sz="120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Calibri"/>
              </a:rPr>
              <a:t>• ICAO Doc 9303 (Parts 1–12):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Machine Readable Travel Documents (MRTD) specifications, OCR-B font optical standards, and 7-3-1 modulo-10 check digit algorithms.</a:t>
            </a:r>
            <a:r>
              <a:rPr lang="en-IN" sz="1200" dirty="0">
                <a:hlinkClick r:id="rId7"/>
              </a:rPr>
              <a:t> </a:t>
            </a:r>
            <a:r>
              <a:rPr lang="en-IN" sz="1200" dirty="0">
                <a:hlinkClick r:id="rId8"/>
              </a:rPr>
              <a:t>Doc 9303</a:t>
            </a:r>
            <a:endParaRPr lang="en-IN" sz="1200" dirty="0"/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Calibri"/>
              </a:rPr>
              <a:t>• European Border Agency (Frontex) Risk Analysis: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Document fraud methodologies, ELA (Error Level Analysis) compression disparity forensics, and paper fiber razor-cut tampering detection.</a:t>
            </a:r>
            <a:r>
              <a:rPr lang="en-IN" sz="1200" dirty="0">
                <a:hlinkClick r:id="rId9"/>
              </a:rPr>
              <a:t> An integrated approach to combat document and identity fraud</a:t>
            </a:r>
            <a:endParaRPr sz="120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Calibri"/>
              </a:rPr>
              <a:t>• Bharatiya 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Sakshya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Calibri"/>
              </a:rPr>
              <a:t>Adhiniyam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 (BSA) 2023 Sec 63: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Legal compliance for court admissibility of electronic records via automated SHA-256 cryptographic tamper-evident chains</a:t>
            </a:r>
            <a:r>
              <a:rPr sz="1200" dirty="0">
                <a:solidFill>
                  <a:srgbClr val="007BB8"/>
                </a:solidFill>
                <a:latin typeface="Calibri"/>
              </a:rPr>
              <a:t>.</a:t>
            </a:r>
            <a:r>
              <a:rPr lang="en-IN" sz="1200" dirty="0">
                <a:solidFill>
                  <a:srgbClr val="007BB8"/>
                </a:solidFill>
                <a:latin typeface="Calibri"/>
              </a:rPr>
              <a:t> </a:t>
            </a:r>
            <a:r>
              <a:rPr lang="en-IN" sz="1200" dirty="0">
                <a:hlinkClick r:id="rId10"/>
              </a:rPr>
              <a:t>250882_english_01042024_0.pdf</a:t>
            </a:r>
            <a:endParaRPr lang="en-IN" sz="1200" dirty="0">
              <a:solidFill>
                <a:srgbClr val="007BB8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Calibri"/>
              </a:rPr>
              <a:t>• Academic Research (CVPR / IEEE):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Deng et al.,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ArcFace</a:t>
            </a:r>
            <a:r>
              <a:rPr sz="1200" dirty="0">
                <a:solidFill>
                  <a:srgbClr val="1E293B"/>
                </a:solidFill>
                <a:latin typeface="Calibri"/>
              </a:rPr>
              <a:t>: Additive Angular Margin Loss for Face Recognition (&gt;99.6% LFW);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PaddleOCR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multilingual Devanagari VIZ text parsing.</a:t>
            </a:r>
            <a:r>
              <a:rPr lang="en-IN" sz="1200" dirty="0">
                <a:hlinkClick r:id="rId11"/>
              </a:rPr>
              <a:t> ArcFace: Additive Angular Margin Loss for Deep Face Recognition</a:t>
            </a:r>
            <a:endParaRPr sz="12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7439" name="TextBox 17438"/>
          <p:cNvSpPr txBox="1"/>
          <p:nvPr/>
        </p:nvSpPr>
        <p:spPr>
          <a:xfrm>
            <a:off x="8092440" y="5074920"/>
            <a:ext cx="3593592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spcBef>
                <a:spcPts val="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Working Prototype: Live Streamlit / PWA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Code Repository: github.com/YourTeam/RakshaScan-AI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Blueprint Spec: PROJECT_BLUEPRINT.md</a:t>
            </a:r>
          </a:p>
          <a:p>
            <a:pPr algn="ctr">
              <a:spcBef>
                <a:spcPts val="150"/>
              </a:spcBef>
              <a:defRPr sz="800">
                <a:solidFill>
                  <a:srgbClr val="FFFFFF"/>
                </a:solidFill>
                <a:latin typeface="Calibri"/>
              </a:defRPr>
            </a:pPr>
            <a:r>
              <a:t>• Field Trial: Ready for ICP Raxaul &amp; Jogbani</a:t>
            </a:r>
          </a:p>
        </p:txBody>
      </p:sp>
      <p:sp>
        <p:nvSpPr>
          <p:cNvPr id="3" name="Rounded Rectangle 17434">
            <a:extLst>
              <a:ext uri="{FF2B5EF4-FFF2-40B4-BE49-F238E27FC236}">
                <a16:creationId xmlns:a16="http://schemas.microsoft.com/office/drawing/2014/main" id="{7699883D-0FA0-944D-8F2B-FA2E09A02ADC}"/>
              </a:ext>
            </a:extLst>
          </p:cNvPr>
          <p:cNvSpPr/>
          <p:nvPr/>
        </p:nvSpPr>
        <p:spPr>
          <a:xfrm>
            <a:off x="8935656" y="3414214"/>
            <a:ext cx="2923337" cy="281907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Project Recourses</a:t>
            </a: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endParaRPr lang="en-IN" sz="1200" dirty="0">
              <a:solidFill>
                <a:srgbClr val="1E293B"/>
              </a:solidFill>
              <a:latin typeface="Calibri"/>
            </a:endParaRP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rPr lang="en-IN" sz="1400" dirty="0">
                <a:solidFill>
                  <a:srgbClr val="1E293B"/>
                </a:solidFill>
                <a:latin typeface="Calibri"/>
              </a:rPr>
              <a:t>1.Deployed Prototype: </a:t>
            </a: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endParaRPr lang="en-IN" sz="1400" dirty="0">
              <a:solidFill>
                <a:srgbClr val="1E293B"/>
              </a:solidFill>
              <a:latin typeface="Calibri"/>
            </a:endParaRP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rPr lang="en-IN" sz="1400" dirty="0">
                <a:solidFill>
                  <a:srgbClr val="1E293B"/>
                </a:solidFill>
                <a:latin typeface="Calibri"/>
              </a:rPr>
              <a:t>2. Project details  website: </a:t>
            </a:r>
            <a:r>
              <a:rPr lang="en-IN" sz="1200" b="1" dirty="0">
                <a:solidFill>
                  <a:srgbClr val="1E3A8A"/>
                </a:solidFill>
                <a:latin typeface="Calibri"/>
                <a:hlinkClick r:id="rId12"/>
              </a:rPr>
              <a:t>https://rakshascan-ai.vercel.app</a:t>
            </a:r>
            <a:endParaRPr lang="en-IN" sz="1200" b="1" dirty="0">
              <a:solidFill>
                <a:srgbClr val="1E3A8A"/>
              </a:solidFill>
              <a:latin typeface="Calibri"/>
            </a:endParaRP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endParaRPr lang="en-IN" sz="1200" dirty="0">
              <a:solidFill>
                <a:srgbClr val="1E293B"/>
              </a:solidFill>
              <a:latin typeface="Calibri"/>
            </a:endParaRPr>
          </a:p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rPr lang="en-IN" sz="1400" dirty="0">
                <a:solidFill>
                  <a:srgbClr val="1E293B"/>
                </a:solidFill>
                <a:latin typeface="Calibri"/>
              </a:rPr>
              <a:t>3.  Video Demo: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8303</TotalTime>
  <Words>4923</Words>
  <Application>Microsoft Office PowerPoint</Application>
  <PresentationFormat>Widescreen</PresentationFormat>
  <Paragraphs>418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Garamond</vt:lpstr>
      <vt:lpstr>TradeGothic</vt:lpstr>
      <vt:lpstr>Office Theme</vt:lpstr>
      <vt:lpstr>SMART INDIA HACKATHON 2026</vt:lpstr>
      <vt:lpstr>RAKSHASCAN AI: Border Identity Screening</vt:lpstr>
      <vt:lpstr>TECHNICAL APPROACH: MULTI-TRACK BILATERAL BORDER ARCHITECTURE</vt:lpstr>
      <vt:lpstr>FEASIBILITY AND VIABILITY: ENGINEERING RIGOR &amp; COMMERCIAL SCALABILITY</vt:lpstr>
      <vt:lpstr>IMPACT AND BENEFITS: MEASURABLE OUTCOMES FOR DEFENSE &amp; COMMUTERS</vt:lpstr>
      <vt:lpstr>RESEARCH, REFERENCES &amp; COMPETITIVE ADVANTAGE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ARYAN123 SAHU</cp:lastModifiedBy>
  <cp:revision>152</cp:revision>
  <dcterms:created xsi:type="dcterms:W3CDTF">2013-12-12T18:46:50Z</dcterms:created>
  <dcterms:modified xsi:type="dcterms:W3CDTF">2026-09-27T11:00:10Z</dcterms:modified>
  <cp:category/>
</cp:coreProperties>
</file>