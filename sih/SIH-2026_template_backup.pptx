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CABCED-DC03-4397-A074-A5D1FA4069AE}" v="33" dt="2026-09-26T15:20:21.7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0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123 SAHU" userId="3dec31793afa8dc6" providerId="LiveId" clId="{5CEBEB97-9768-4C71-99BC-FB249B8C6A36}"/>
    <pc:docChg chg="undo custSel delSld modSld">
      <pc:chgData name="ARYAN123 SAHU" userId="3dec31793afa8dc6" providerId="LiveId" clId="{5CEBEB97-9768-4C71-99BC-FB249B8C6A36}" dt="2026-09-27T07:51:00.237" v="565" actId="14100"/>
      <pc:docMkLst>
        <pc:docMk/>
      </pc:docMkLst>
      <pc:sldChg chg="addSp delSp modSp mod">
        <pc:chgData name="ARYAN123 SAHU" userId="3dec31793afa8dc6" providerId="LiveId" clId="{5CEBEB97-9768-4C71-99BC-FB249B8C6A36}" dt="2026-09-26T15:44:32.476" v="564" actId="20577"/>
        <pc:sldMkLst>
          <pc:docMk/>
          <pc:sldMk cId="0" sldId="281"/>
        </pc:sldMkLst>
        <pc:spChg chg="add del">
          <ac:chgData name="ARYAN123 SAHU" userId="3dec31793afa8dc6" providerId="LiveId" clId="{5CEBEB97-9768-4C71-99BC-FB249B8C6A36}" dt="2026-09-26T13:43:11.384" v="287" actId="11529"/>
          <ac:spMkLst>
            <pc:docMk/>
            <pc:sldMk cId="0" sldId="281"/>
            <ac:spMk id="2" creationId="{EC672146-358B-1E25-A1D4-886291408F7A}"/>
          </ac:spMkLst>
        </pc:spChg>
        <pc:spChg chg="add del mod">
          <ac:chgData name="ARYAN123 SAHU" userId="3dec31793afa8dc6" providerId="LiveId" clId="{5CEBEB97-9768-4C71-99BC-FB249B8C6A36}" dt="2026-09-26T15:44:32.476" v="564" actId="20577"/>
          <ac:spMkLst>
            <pc:docMk/>
            <pc:sldMk cId="0" sldId="281"/>
            <ac:spMk id="3" creationId="{46D0E1B9-6A84-BA9C-A87B-74FF1721BAFE}"/>
          </ac:spMkLst>
        </pc:spChg>
        <pc:spChg chg="add del">
          <ac:chgData name="ARYAN123 SAHU" userId="3dec31793afa8dc6" providerId="LiveId" clId="{5CEBEB97-9768-4C71-99BC-FB249B8C6A36}" dt="2026-09-26T15:13:37.171" v="308" actId="11529"/>
          <ac:spMkLst>
            <pc:docMk/>
            <pc:sldMk cId="0" sldId="281"/>
            <ac:spMk id="4" creationId="{27C96C38-EE06-9E1A-9969-A102A09817E1}"/>
          </ac:spMkLst>
        </pc:spChg>
        <pc:spChg chg="add del mod">
          <ac:chgData name="ARYAN123 SAHU" userId="3dec31793afa8dc6" providerId="LiveId" clId="{5CEBEB97-9768-4C71-99BC-FB249B8C6A36}" dt="2026-09-26T15:14:30.580" v="316" actId="21"/>
          <ac:spMkLst>
            <pc:docMk/>
            <pc:sldMk cId="0" sldId="281"/>
            <ac:spMk id="5" creationId="{B6D50280-DA23-181C-6660-D91477480BCC}"/>
          </ac:spMkLst>
        </pc:spChg>
        <pc:spChg chg="add del">
          <ac:chgData name="ARYAN123 SAHU" userId="3dec31793afa8dc6" providerId="LiveId" clId="{5CEBEB97-9768-4C71-99BC-FB249B8C6A36}" dt="2026-09-26T15:14:25.554" v="314" actId="11529"/>
          <ac:spMkLst>
            <pc:docMk/>
            <pc:sldMk cId="0" sldId="281"/>
            <ac:spMk id="8" creationId="{65667EEB-B63B-5132-13F6-3C0C33EA7781}"/>
          </ac:spMkLst>
        </pc:spChg>
        <pc:spChg chg="add mod">
          <ac:chgData name="ARYAN123 SAHU" userId="3dec31793afa8dc6" providerId="LiveId" clId="{5CEBEB97-9768-4C71-99BC-FB249B8C6A36}" dt="2026-09-26T15:26:22.368" v="474" actId="207"/>
          <ac:spMkLst>
            <pc:docMk/>
            <pc:sldMk cId="0" sldId="281"/>
            <ac:spMk id="12" creationId="{4BE21E8C-12B1-11CD-33E8-71FF996AD98C}"/>
          </ac:spMkLst>
        </pc:spChg>
        <pc:spChg chg="add mod">
          <ac:chgData name="ARYAN123 SAHU" userId="3dec31793afa8dc6" providerId="LiveId" clId="{5CEBEB97-9768-4C71-99BC-FB249B8C6A36}" dt="2026-09-26T15:26:27.655" v="475" actId="207"/>
          <ac:spMkLst>
            <pc:docMk/>
            <pc:sldMk cId="0" sldId="281"/>
            <ac:spMk id="14" creationId="{0E28FC56-FB8D-85C4-AC7C-398B81C48EC2}"/>
          </ac:spMkLst>
        </pc:spChg>
        <pc:spChg chg="add del">
          <ac:chgData name="ARYAN123 SAHU" userId="3dec31793afa8dc6" providerId="LiveId" clId="{5CEBEB97-9768-4C71-99BC-FB249B8C6A36}" dt="2026-09-26T15:15:20.133" v="324" actId="11529"/>
          <ac:spMkLst>
            <pc:docMk/>
            <pc:sldMk cId="0" sldId="281"/>
            <ac:spMk id="15" creationId="{E06E2769-1D24-338D-0849-6986DEB22F34}"/>
          </ac:spMkLst>
        </pc:spChg>
        <pc:spChg chg="add mod">
          <ac:chgData name="ARYAN123 SAHU" userId="3dec31793afa8dc6" providerId="LiveId" clId="{5CEBEB97-9768-4C71-99BC-FB249B8C6A36}" dt="2026-09-26T15:28:33.758" v="497" actId="1076"/>
          <ac:spMkLst>
            <pc:docMk/>
            <pc:sldMk cId="0" sldId="281"/>
            <ac:spMk id="16" creationId="{60AAB1A7-E21D-E958-8562-E50040A5D015}"/>
          </ac:spMkLst>
        </pc:spChg>
        <pc:spChg chg="add mod">
          <ac:chgData name="ARYAN123 SAHU" userId="3dec31793afa8dc6" providerId="LiveId" clId="{5CEBEB97-9768-4C71-99BC-FB249B8C6A36}" dt="2026-09-26T15:28:37.554" v="498" actId="1076"/>
          <ac:spMkLst>
            <pc:docMk/>
            <pc:sldMk cId="0" sldId="281"/>
            <ac:spMk id="18" creationId="{D244A848-D5EB-6A1C-5108-76D0620D5839}"/>
          </ac:spMkLst>
        </pc:spChg>
        <pc:spChg chg="add mod">
          <ac:chgData name="ARYAN123 SAHU" userId="3dec31793afa8dc6" providerId="LiveId" clId="{5CEBEB97-9768-4C71-99BC-FB249B8C6A36}" dt="2026-09-26T15:28:40.700" v="499" actId="1076"/>
          <ac:spMkLst>
            <pc:docMk/>
            <pc:sldMk cId="0" sldId="281"/>
            <ac:spMk id="20" creationId="{FCDAB89E-44BA-B9D2-C2AF-2AE0AC55DCA1}"/>
          </ac:spMkLst>
        </pc:spChg>
        <pc:spChg chg="add del">
          <ac:chgData name="ARYAN123 SAHU" userId="3dec31793afa8dc6" providerId="LiveId" clId="{5CEBEB97-9768-4C71-99BC-FB249B8C6A36}" dt="2026-09-26T15:24:14.483" v="466" actId="11529"/>
          <ac:spMkLst>
            <pc:docMk/>
            <pc:sldMk cId="0" sldId="281"/>
            <ac:spMk id="21" creationId="{470C272D-4195-241D-A2D4-5223AFAF38C1}"/>
          </ac:spMkLst>
        </pc:spChg>
        <pc:spChg chg="add del">
          <ac:chgData name="ARYAN123 SAHU" userId="3dec31793afa8dc6" providerId="LiveId" clId="{5CEBEB97-9768-4C71-99BC-FB249B8C6A36}" dt="2026-09-26T15:24:52.957" v="468" actId="11529"/>
          <ac:spMkLst>
            <pc:docMk/>
            <pc:sldMk cId="0" sldId="281"/>
            <ac:spMk id="22" creationId="{9B2406BA-0961-FDB2-5FCB-B6C9A31E108F}"/>
          </ac:spMkLst>
        </pc:spChg>
        <pc:spChg chg="add mod">
          <ac:chgData name="ARYAN123 SAHU" userId="3dec31793afa8dc6" providerId="LiveId" clId="{5CEBEB97-9768-4C71-99BC-FB249B8C6A36}" dt="2026-09-26T15:28:54.749" v="500" actId="14100"/>
          <ac:spMkLst>
            <pc:docMk/>
            <pc:sldMk cId="0" sldId="281"/>
            <ac:spMk id="23" creationId="{EBF0EE69-72A6-9359-8950-4BB3A2307110}"/>
          </ac:spMkLst>
        </pc:spChg>
        <pc:spChg chg="add mod">
          <ac:chgData name="ARYAN123 SAHU" userId="3dec31793afa8dc6" providerId="LiveId" clId="{5CEBEB97-9768-4C71-99BC-FB249B8C6A36}" dt="2026-09-26T15:29:00.179" v="501" actId="1076"/>
          <ac:spMkLst>
            <pc:docMk/>
            <pc:sldMk cId="0" sldId="281"/>
            <ac:spMk id="24" creationId="{A7A7121F-3834-0B5F-2B5F-EE102B184FC1}"/>
          </ac:spMkLst>
        </pc:spChg>
        <pc:spChg chg="mod">
          <ac:chgData name="ARYAN123 SAHU" userId="3dec31793afa8dc6" providerId="LiveId" clId="{5CEBEB97-9768-4C71-99BC-FB249B8C6A36}" dt="2026-09-26T13:42:06.647" v="283" actId="255"/>
          <ac:spMkLst>
            <pc:docMk/>
            <pc:sldMk cId="0" sldId="281"/>
            <ac:spMk id="15361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3:42:28.486" v="285"/>
          <ac:spMkLst>
            <pc:docMk/>
            <pc:sldMk cId="0" sldId="281"/>
            <ac:spMk id="15362" creationId="{00000000-0000-0000-0000-000000000000}"/>
          </ac:spMkLst>
        </pc:spChg>
        <pc:picChg chg="mod">
          <ac:chgData name="ARYAN123 SAHU" userId="3dec31793afa8dc6" providerId="LiveId" clId="{5CEBEB97-9768-4C71-99BC-FB249B8C6A36}" dt="2026-09-26T15:28:11.471" v="496" actId="14100"/>
          <ac:picMkLst>
            <pc:docMk/>
            <pc:sldMk cId="0" sldId="281"/>
            <ac:picMk id="11" creationId="{00000000-0000-0000-0000-000000000000}"/>
          </ac:picMkLst>
        </pc:picChg>
        <pc:picChg chg="add del">
          <ac:chgData name="ARYAN123 SAHU" userId="3dec31793afa8dc6" providerId="LiveId" clId="{5CEBEB97-9768-4C71-99BC-FB249B8C6A36}" dt="2026-09-26T12:11:27.063" v="9" actId="478"/>
          <ac:picMkLst>
            <pc:docMk/>
            <pc:sldMk cId="0" sldId="281"/>
            <ac:picMk id="12" creationId="{2BE09C0F-617B-4B78-91E2-BA0CBC59A7AF}"/>
          </ac:picMkLst>
        </pc:picChg>
      </pc:sldChg>
      <pc:sldChg chg="addSp delSp">
        <pc:chgData name="ARYAN123 SAHU" userId="3dec31793afa8dc6" providerId="LiveId" clId="{5CEBEB97-9768-4C71-99BC-FB249B8C6A36}" dt="2026-09-26T12:11:30.609" v="10" actId="478"/>
        <pc:sldMkLst>
          <pc:docMk/>
          <pc:sldMk cId="0" sldId="290"/>
        </pc:sldMkLst>
        <pc:picChg chg="add del">
          <ac:chgData name="ARYAN123 SAHU" userId="3dec31793afa8dc6" providerId="LiveId" clId="{5CEBEB97-9768-4C71-99BC-FB249B8C6A36}" dt="2026-09-26T12:11:30.609" v="10" actId="478"/>
          <ac:picMkLst>
            <pc:docMk/>
            <pc:sldMk cId="0" sldId="290"/>
            <ac:picMk id="9" creationId="{0C916F30-8F55-484A-B509-A1A7E82E1DE4}"/>
          </ac:picMkLst>
        </pc:picChg>
      </pc:sldChg>
      <pc:sldChg chg="addSp delSp modSp mod">
        <pc:chgData name="ARYAN123 SAHU" userId="3dec31793afa8dc6" providerId="LiveId" clId="{5CEBEB97-9768-4C71-99BC-FB249B8C6A36}" dt="2026-09-27T07:51:00.237" v="565" actId="14100"/>
        <pc:sldMkLst>
          <pc:docMk/>
          <pc:sldMk cId="0" sldId="291"/>
        </pc:sldMkLst>
        <pc:spChg chg="add del mod">
          <ac:chgData name="ARYAN123 SAHU" userId="3dec31793afa8dc6" providerId="LiveId" clId="{5CEBEB97-9768-4C71-99BC-FB249B8C6A36}" dt="2026-09-26T13:12:49.734" v="272"/>
          <ac:spMkLst>
            <pc:docMk/>
            <pc:sldMk cId="0" sldId="291"/>
            <ac:spMk id="3" creationId="{D7190847-D28B-213C-0E0E-91CCC57108BD}"/>
          </ac:spMkLst>
        </pc:spChg>
        <pc:spChg chg="del mod">
          <ac:chgData name="ARYAN123 SAHU" userId="3dec31793afa8dc6" providerId="LiveId" clId="{5CEBEB97-9768-4C71-99BC-FB249B8C6A36}" dt="2026-09-26T13:11:46.517" v="261" actId="478"/>
          <ac:spMkLst>
            <pc:docMk/>
            <pc:sldMk cId="0" sldId="291"/>
            <ac:spMk id="4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2:46.808" v="270" actId="207"/>
          <ac:spMkLst>
            <pc:docMk/>
            <pc:sldMk cId="0" sldId="291"/>
            <ac:spMk id="8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0:42.762" v="256" actId="207"/>
          <ac:spMkLst>
            <pc:docMk/>
            <pc:sldMk cId="0" sldId="291"/>
            <ac:spMk id="10" creationId="{00000000-0000-0000-0000-000000000000}"/>
          </ac:spMkLst>
        </pc:spChg>
        <pc:picChg chg="mod">
          <ac:chgData name="ARYAN123 SAHU" userId="3dec31793afa8dc6" providerId="LiveId" clId="{5CEBEB97-9768-4C71-99BC-FB249B8C6A36}" dt="2026-09-27T07:51:00.237" v="565" actId="14100"/>
          <ac:picMkLst>
            <pc:docMk/>
            <pc:sldMk cId="0" sldId="291"/>
            <ac:picMk id="5" creationId="{9120848B-B2B4-45BE-A961-AEC0B06CF41B}"/>
          </ac:picMkLst>
        </pc:picChg>
        <pc:picChg chg="add del">
          <ac:chgData name="ARYAN123 SAHU" userId="3dec31793afa8dc6" providerId="LiveId" clId="{5CEBEB97-9768-4C71-99BC-FB249B8C6A36}" dt="2026-09-26T12:11:22.923" v="8" actId="478"/>
          <ac:picMkLst>
            <pc:docMk/>
            <pc:sldMk cId="0" sldId="291"/>
            <ac:picMk id="11" creationId="{F9FB5B73-D3AA-4E05-BE36-1752F7062681}"/>
          </ac:picMkLst>
        </pc:picChg>
      </pc:sldChg>
      <pc:sldChg chg="addSp delSp">
        <pc:chgData name="ARYAN123 SAHU" userId="3dec31793afa8dc6" providerId="LiveId" clId="{5CEBEB97-9768-4C71-99BC-FB249B8C6A36}" dt="2026-09-26T12:11:34.154" v="11" actId="478"/>
        <pc:sldMkLst>
          <pc:docMk/>
          <pc:sldMk cId="3753387913" sldId="293"/>
        </pc:sldMkLst>
        <pc:picChg chg="add del">
          <ac:chgData name="ARYAN123 SAHU" userId="3dec31793afa8dc6" providerId="LiveId" clId="{5CEBEB97-9768-4C71-99BC-FB249B8C6A36}" dt="2026-09-26T12:11:34.154" v="11" actId="478"/>
          <ac:picMkLst>
            <pc:docMk/>
            <pc:sldMk cId="3753387913" sldId="293"/>
            <ac:picMk id="9" creationId="{5DED807E-1EB1-4BF0-B896-7ABF0A786640}"/>
          </ac:picMkLst>
        </pc:picChg>
      </pc:sldChg>
      <pc:sldChg chg="delSp">
        <pc:chgData name="ARYAN123 SAHU" userId="3dec31793afa8dc6" providerId="LiveId" clId="{5CEBEB97-9768-4C71-99BC-FB249B8C6A36}" dt="2026-09-26T12:11:37.354" v="12" actId="478"/>
        <pc:sldMkLst>
          <pc:docMk/>
          <pc:sldMk cId="2997144140" sldId="294"/>
        </pc:sldMkLst>
        <pc:picChg chg="del">
          <ac:chgData name="ARYAN123 SAHU" userId="3dec31793afa8dc6" providerId="LiveId" clId="{5CEBEB97-9768-4C71-99BC-FB249B8C6A36}" dt="2026-09-26T12:11:37.354" v="12" actId="478"/>
          <ac:picMkLst>
            <pc:docMk/>
            <pc:sldMk cId="2997144140" sldId="294"/>
            <ac:picMk id="9" creationId="{380F3E00-5B46-42A0-A890-47AC05309301}"/>
          </ac:picMkLst>
        </pc:picChg>
      </pc:sldChg>
      <pc:sldChg chg="delSp">
        <pc:chgData name="ARYAN123 SAHU" userId="3dec31793afa8dc6" providerId="LiveId" clId="{5CEBEB97-9768-4C71-99BC-FB249B8C6A36}" dt="2026-09-26T12:11:40.760" v="13" actId="478"/>
        <pc:sldMkLst>
          <pc:docMk/>
          <pc:sldMk cId="3916788613" sldId="296"/>
        </pc:sldMkLst>
        <pc:picChg chg="del">
          <ac:chgData name="ARYAN123 SAHU" userId="3dec31793afa8dc6" providerId="LiveId" clId="{5CEBEB97-9768-4C71-99BC-FB249B8C6A36}" dt="2026-09-26T12:11:40.760" v="13" actId="478"/>
          <ac:picMkLst>
            <pc:docMk/>
            <pc:sldMk cId="3916788613" sldId="296"/>
            <ac:picMk id="11" creationId="{0B4E903E-6224-4327-84B7-A72A06F39DB4}"/>
          </ac:picMkLst>
        </pc:picChg>
      </pc:sldChg>
      <pc:sldChg chg="delSp modSp del mod">
        <pc:chgData name="ARYAN123 SAHU" userId="3dec31793afa8dc6" providerId="LiveId" clId="{5CEBEB97-9768-4C71-99BC-FB249B8C6A36}" dt="2026-09-26T12:12:30.076" v="32" actId="2696"/>
        <pc:sldMkLst>
          <pc:docMk/>
          <pc:sldMk cId="1588084416" sldId="297"/>
        </pc:sldMkLst>
        <pc:spChg chg="del">
          <ac:chgData name="ARYAN123 SAHU" userId="3dec31793afa8dc6" providerId="LiveId" clId="{5CEBEB97-9768-4C71-99BC-FB249B8C6A36}" dt="2026-09-26T12:11:55.988" v="17" actId="478"/>
          <ac:spMkLst>
            <pc:docMk/>
            <pc:sldMk cId="1588084416" sldId="297"/>
            <ac:spMk id="3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8.101" v="30" actId="478"/>
          <ac:spMkLst>
            <pc:docMk/>
            <pc:sldMk cId="1588084416" sldId="297"/>
            <ac:spMk id="4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0.044" v="19" actId="478"/>
          <ac:spMkLst>
            <pc:docMk/>
            <pc:sldMk cId="1588084416" sldId="297"/>
            <ac:spMk id="5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6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7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10" creationId="{AD4F69D3-EEB0-4C4C-9434-B9960FB5854C}"/>
          </ac:spMkLst>
        </pc:spChg>
        <pc:spChg chg="del mod">
          <ac:chgData name="ARYAN123 SAHU" userId="3dec31793afa8dc6" providerId="LiveId" clId="{5CEBEB97-9768-4C71-99BC-FB249B8C6A36}" dt="2026-09-26T12:11:53.991" v="16" actId="478"/>
          <ac:spMkLst>
            <pc:docMk/>
            <pc:sldMk cId="1588084416" sldId="297"/>
            <ac:spMk id="12" creationId="{00000000-0000-0000-0000-000000000000}"/>
          </ac:spMkLst>
        </pc:spChg>
        <pc:picChg chg="del">
          <ac:chgData name="ARYAN123 SAHU" userId="3dec31793afa8dc6" providerId="LiveId" clId="{5CEBEB97-9768-4C71-99BC-FB249B8C6A36}" dt="2026-09-26T12:12:23.224" v="31" actId="478"/>
          <ac:picMkLst>
            <pc:docMk/>
            <pc:sldMk cId="1588084416" sldId="297"/>
            <ac:picMk id="13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60163" y="2255255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778208" y="189132"/>
            <a:ext cx="7043789" cy="930922"/>
          </a:xfrm>
        </p:spPr>
        <p:txBody>
          <a:bodyPr/>
          <a:lstStyle/>
          <a:p>
            <a:r>
              <a:rPr lang="en-IN" sz="4000" dirty="0">
                <a:solidFill>
                  <a:schemeClr val="accent1"/>
                </a:solidFill>
              </a:rPr>
              <a:t>SMART INDIA HACKATHON 2026</a:t>
            </a:r>
            <a:endParaRPr lang="en-IN" sz="4000" b="1" dirty="0">
              <a:solidFill>
                <a:schemeClr val="accent1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ID : </a:t>
            </a:r>
            <a:r>
              <a:rPr sz="1500" b="0">
                <a:solidFill>
                  <a:srgbClr val="00B050"/>
                </a:solidFill>
                <a:latin typeface="Arial"/>
              </a:rPr>
              <a:t>26017</a:t>
            </a:r>
            <a:endParaRPr lang="en-US" sz="1600" dirty="0"/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Title: </a:t>
            </a:r>
            <a:r>
              <a:rPr sz="1500" b="0">
                <a:solidFill>
                  <a:srgbClr val="00B050"/>
                </a:solidFill>
                <a:latin typeface="Arial"/>
              </a:rPr>
              <a:t>Predictive Analytics System for Early Detection of Land Acquisition Delays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Theme: </a:t>
            </a:r>
            <a:r>
              <a:rPr sz="1500" b="0">
                <a:solidFill>
                  <a:srgbClr val="00B050"/>
                </a:solidFill>
                <a:latin typeface="Arial"/>
              </a:rPr>
              <a:t>Smart Automation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PS Category: </a:t>
            </a:r>
            <a:r>
              <a:rPr sz="1500" b="0">
                <a:solidFill>
                  <a:srgbClr val="00B050"/>
                </a:solidFill>
                <a:latin typeface="Arial"/>
              </a:rPr>
              <a:t>Software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ID: </a:t>
            </a:r>
            <a:r>
              <a:rPr sz="1500" b="0">
                <a:solidFill>
                  <a:srgbClr val="00B050"/>
                </a:solidFill>
                <a:latin typeface="Arial"/>
              </a:rPr>
              <a:t>128333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Name: </a:t>
            </a:r>
            <a:r>
              <a:rPr sz="1500" b="0">
                <a:solidFill>
                  <a:srgbClr val="00B050"/>
                </a:solidFill>
                <a:latin typeface="Arial"/>
              </a:rPr>
              <a:t>FusionX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8552" y="25024"/>
            <a:ext cx="1971536" cy="930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486526" y="80662"/>
            <a:ext cx="6251074" cy="1062337"/>
          </a:xfrm>
        </p:spPr>
        <p:txBody>
          <a:bodyPr/>
          <a:lstStyle/>
          <a:p>
            <a:pPr algn="l">
              <a:defRPr sz="2400" b="1">
                <a:solidFill>
                  <a:srgbClr val="003366"/>
                </a:solidFill>
                <a:latin typeface="Arial"/>
              </a:defRPr>
            </a:pPr>
            <a:r>
              <a:t>IDEA &amp; 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560" y="1500"/>
            <a:ext cx="1453376" cy="68625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38912" y="1051560"/>
            <a:ext cx="201168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PROBLEM EXISTING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38912" y="1371600"/>
            <a:ext cx="5532120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₹4,000+ Cr Escrow Lockup : </a:t>
            </a:r>
            <a:r>
              <a:rPr sz="950">
                <a:solidFill>
                  <a:srgbClr val="1E293B"/>
                </a:solidFill>
                <a:latin typeface="Arial"/>
              </a:rPr>
              <a:t>Sub-judice compensation under Section 3H stalls critical national corridors for 1,200+ days.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Section 3D Statutory Lapse : </a:t>
            </a:r>
            <a:r>
              <a:rPr sz="950">
                <a:solidFill>
                  <a:srgbClr val="1E293B"/>
                </a:solidFill>
                <a:latin typeface="Arial"/>
              </a:rPr>
              <a:t>Section 3A notifications automatically lapse at Day 365 if environmental/revenue clearances stall.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Disconnected Land Silos : </a:t>
            </a:r>
            <a:r>
              <a:rPr sz="950">
                <a:solidFill>
                  <a:srgbClr val="1E293B"/>
                </a:solidFill>
                <a:latin typeface="Arial"/>
              </a:rPr>
              <a:t>Gazette notices, e-Courts stays, cadastral Khasra maps, and civil road works operate in blind silos.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38912" y="2834640"/>
            <a:ext cx="210312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38912" y="3154680"/>
            <a:ext cx="5532120" cy="144475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Decoupled Central DB (&lt;15ms) : </a:t>
            </a:r>
            <a:r>
              <a:rPr sz="950">
                <a:solidFill>
                  <a:srgbClr val="1E293B"/>
                </a:solidFill>
                <a:latin typeface="Arial"/>
              </a:rPr>
              <a:t>Pre-ingests 47 standardized statutory features across civil, revenue, and court databases.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Dual-Track Reality Engine : </a:t>
            </a:r>
            <a:r>
              <a:rPr sz="950">
                <a:solidFill>
                  <a:srgbClr val="1E293B"/>
                </a:solidFill>
                <a:latin typeface="Arial"/>
              </a:rPr>
              <a:t>Decouples physical civil road construction from court escrow disputes under Section 3D(2) vesting.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TreeSHAP Statutory XAI : </a:t>
            </a:r>
            <a:r>
              <a:rPr sz="950">
                <a:solidFill>
                  <a:srgbClr val="1E293B"/>
                </a:solidFill>
                <a:latin typeface="Arial"/>
              </a:rPr>
              <a:t>Quantifies exact additive day delays per bottleneck and automates pre-drafted DFA legal notices.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38912" y="4681728"/>
            <a:ext cx="292608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UVP (UNIQUE VALUE PROPOSITION)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38912" y="5001768"/>
            <a:ext cx="553212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Constitutional HITL (Arts. 77 &amp; 166) : </a:t>
            </a:r>
            <a:r>
              <a:rPr sz="950">
                <a:solidFill>
                  <a:srgbClr val="1E293B"/>
                </a:solidFill>
                <a:latin typeface="Arial"/>
              </a:rPr>
              <a:t>Strict human-in-the-loop governance; zero auto-execution without Aadhaar DSC e-Sign.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340.8 km Interactive RoW GIS : </a:t>
            </a:r>
            <a:r>
              <a:rPr sz="950">
                <a:solidFill>
                  <a:srgbClr val="1E293B"/>
                </a:solidFill>
                <a:latin typeface="Arial"/>
              </a:rPr>
              <a:t>Hierarchical drill-down: Macro Alignment ➔ 8 Packages ➔ 156 Villages ➔ Khasra Plots.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SHA-256 Tamper-Proof Audit : </a:t>
            </a:r>
            <a:r>
              <a:rPr sz="950">
                <a:solidFill>
                  <a:srgbClr val="1E293B"/>
                </a:solidFill>
                <a:latin typeface="Arial"/>
              </a:rPr>
              <a:t>Cryptographic block hashing permanently seals all risk scores and SOP orders for CAG/CVC scrutiny.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126480" y="1051560"/>
            <a:ext cx="5669280" cy="2697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6126480" y="10972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GATISHAKTI AI End-to-end workflow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263640" y="1417320"/>
            <a:ext cx="960120" cy="365760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880E4F"/>
                </a:solidFill>
              </a:defRPr>
            </a:pPr>
            <a:r>
              <a:t>Start Ingestion</a:t>
            </a:r>
          </a:p>
        </p:txBody>
      </p:sp>
      <p:sp>
        <p:nvSpPr>
          <p:cNvPr id="15371" name="Right Arrow 15370"/>
          <p:cNvSpPr/>
          <p:nvPr/>
        </p:nvSpPr>
        <p:spPr>
          <a:xfrm>
            <a:off x="7296912" y="1536192"/>
            <a:ext cx="201168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ounded Rectangle 15371"/>
          <p:cNvSpPr/>
          <p:nvPr/>
        </p:nvSpPr>
        <p:spPr>
          <a:xfrm>
            <a:off x="7543800" y="1389888"/>
            <a:ext cx="1691640" cy="420624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FBC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5D4037"/>
                </a:solidFill>
              </a:defRPr>
            </a:pPr>
            <a:r>
              <a:t>Multi-Modal Ingestion</a:t>
            </a:r>
            <a:br/>
            <a:r>
              <a:t>(Gazette, e-Courts, Revenue)</a:t>
            </a:r>
          </a:p>
        </p:txBody>
      </p:sp>
      <p:sp>
        <p:nvSpPr>
          <p:cNvPr id="15373" name="Right Arrow 15372"/>
          <p:cNvSpPr/>
          <p:nvPr/>
        </p:nvSpPr>
        <p:spPr>
          <a:xfrm>
            <a:off x="9308592" y="1536192"/>
            <a:ext cx="201168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9555480" y="1389888"/>
            <a:ext cx="1600200" cy="420624"/>
          </a:xfrm>
          <a:prstGeom prst="roundRect">
            <a:avLst/>
          </a:prstGeom>
          <a:solidFill>
            <a:srgbClr val="FFE082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E2723"/>
                </a:solidFill>
              </a:defRPr>
            </a:pPr>
            <a:r>
              <a:t>Decoupled Central DB</a:t>
            </a:r>
            <a:br/>
            <a:r>
              <a:t>(47 Standardized Features)</a:t>
            </a:r>
          </a:p>
        </p:txBody>
      </p:sp>
      <p:sp>
        <p:nvSpPr>
          <p:cNvPr id="15375" name="Down Arrow 15374"/>
          <p:cNvSpPr/>
          <p:nvPr/>
        </p:nvSpPr>
        <p:spPr>
          <a:xfrm>
            <a:off x="10287000" y="1847088"/>
            <a:ext cx="128016" cy="164592"/>
          </a:xfrm>
          <a:prstGeom prst="down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ounded Rectangle 15375"/>
          <p:cNvSpPr/>
          <p:nvPr/>
        </p:nvSpPr>
        <p:spPr>
          <a:xfrm>
            <a:off x="9400032" y="2048256"/>
            <a:ext cx="1828800" cy="402336"/>
          </a:xfrm>
          <a:prstGeom prst="roundRect">
            <a:avLst/>
          </a:prstGeom>
          <a:solidFill>
            <a:srgbClr val="FFE082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3E2723"/>
                </a:solidFill>
              </a:defRPr>
            </a:pPr>
            <a:r>
              <a:t>LightGBM + XGBoost Regressor</a:t>
            </a:r>
            <a:br/>
            <a:r>
              <a:t>(Predicts Residual Delay Days)</a:t>
            </a:r>
          </a:p>
        </p:txBody>
      </p:sp>
      <p:sp>
        <p:nvSpPr>
          <p:cNvPr id="15377" name="Left Arrow 15376"/>
          <p:cNvSpPr/>
          <p:nvPr/>
        </p:nvSpPr>
        <p:spPr>
          <a:xfrm>
            <a:off x="9162288" y="2176272"/>
            <a:ext cx="182880" cy="128016"/>
          </a:xfrm>
          <a:prstGeom prst="lef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Diamond 15377"/>
          <p:cNvSpPr/>
          <p:nvPr/>
        </p:nvSpPr>
        <p:spPr>
          <a:xfrm>
            <a:off x="7818120" y="1920240"/>
            <a:ext cx="1280160" cy="658368"/>
          </a:xfrm>
          <a:prstGeom prst="diamond">
            <a:avLst/>
          </a:prstGeom>
          <a:solidFill>
            <a:srgbClr val="1565C0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Delay Risk</a:t>
            </a:r>
            <a:br/>
            <a:r>
              <a:t>&gt; 60 Days?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7452360" y="199339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2E7D32"/>
                </a:solidFill>
              </a:defRPr>
            </a:pPr>
            <a:r>
              <a:t>No</a:t>
            </a:r>
          </a:p>
        </p:txBody>
      </p:sp>
      <p:sp>
        <p:nvSpPr>
          <p:cNvPr id="15380" name="Left Arrow 15379"/>
          <p:cNvSpPr/>
          <p:nvPr/>
        </p:nvSpPr>
        <p:spPr>
          <a:xfrm>
            <a:off x="7589520" y="2176272"/>
            <a:ext cx="182880" cy="128016"/>
          </a:xfrm>
          <a:prstGeom prst="leftArrow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Rounded Rectangle 15380"/>
          <p:cNvSpPr/>
          <p:nvPr/>
        </p:nvSpPr>
        <p:spPr>
          <a:xfrm>
            <a:off x="6263640" y="2048256"/>
            <a:ext cx="1280160" cy="402336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1B5E20"/>
                </a:solidFill>
              </a:defRPr>
            </a:pPr>
            <a:r>
              <a:t>Fast-Track Notice</a:t>
            </a:r>
            <a:br/>
            <a:r>
              <a:t>(Sec 3A ➔ 3D)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8485632" y="2468880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E65100"/>
                </a:solidFill>
              </a:defRPr>
            </a:pPr>
            <a:r>
              <a:t>Yes</a:t>
            </a:r>
          </a:p>
        </p:txBody>
      </p:sp>
      <p:sp>
        <p:nvSpPr>
          <p:cNvPr id="15383" name="Down Arrow 15382"/>
          <p:cNvSpPr/>
          <p:nvPr/>
        </p:nvSpPr>
        <p:spPr>
          <a:xfrm>
            <a:off x="8394192" y="2615184"/>
            <a:ext cx="128016" cy="164592"/>
          </a:xfrm>
          <a:prstGeom prst="downArrow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4" name="Rounded Rectangle 15383"/>
          <p:cNvSpPr/>
          <p:nvPr/>
        </p:nvSpPr>
        <p:spPr>
          <a:xfrm>
            <a:off x="6263640" y="2816352"/>
            <a:ext cx="1719072" cy="420624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BF360C"/>
                </a:solidFill>
              </a:defRPr>
            </a:pPr>
            <a:r>
              <a:t>TreeSHAP Attribution</a:t>
            </a:r>
            <a:br/>
            <a:r>
              <a:t>+ Automated Legal DFA SOP</a:t>
            </a:r>
          </a:p>
        </p:txBody>
      </p:sp>
      <p:sp>
        <p:nvSpPr>
          <p:cNvPr id="15385" name="Right Arrow 15384"/>
          <p:cNvSpPr/>
          <p:nvPr/>
        </p:nvSpPr>
        <p:spPr>
          <a:xfrm>
            <a:off x="8046720" y="2962656"/>
            <a:ext cx="182880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6" name="Rounded Rectangle 15385"/>
          <p:cNvSpPr/>
          <p:nvPr/>
        </p:nvSpPr>
        <p:spPr>
          <a:xfrm>
            <a:off x="8275320" y="2816352"/>
            <a:ext cx="1783080" cy="420624"/>
          </a:xfrm>
          <a:prstGeom prst="roundRect">
            <a:avLst/>
          </a:prstGeom>
          <a:solidFill>
            <a:srgbClr val="FFECB3"/>
          </a:solidFill>
          <a:ln w="1270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4E342E"/>
                </a:solidFill>
              </a:defRPr>
            </a:pPr>
            <a:r>
              <a:t>Officer HITL Review</a:t>
            </a:r>
            <a:br/>
            <a:r>
              <a:t>+ Aadhaar DSC e-Sign</a:t>
            </a:r>
          </a:p>
        </p:txBody>
      </p:sp>
      <p:sp>
        <p:nvSpPr>
          <p:cNvPr id="15387" name="Right Arrow 15386"/>
          <p:cNvSpPr/>
          <p:nvPr/>
        </p:nvSpPr>
        <p:spPr>
          <a:xfrm>
            <a:off x="10113264" y="2962656"/>
            <a:ext cx="164592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10332720" y="2816352"/>
            <a:ext cx="1325880" cy="420624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880E4F"/>
                </a:solidFill>
              </a:defRPr>
            </a:pPr>
            <a:r>
              <a:t>CAG-Ready</a:t>
            </a:r>
            <a:br/>
            <a:r>
              <a:t>SHA-256 Ledger</a:t>
            </a:r>
          </a:p>
        </p:txBody>
      </p:sp>
      <p:sp>
        <p:nvSpPr>
          <p:cNvPr id="15389" name="Rounded Rectangle 15388"/>
          <p:cNvSpPr/>
          <p:nvPr/>
        </p:nvSpPr>
        <p:spPr>
          <a:xfrm>
            <a:off x="7589520" y="3858768"/>
            <a:ext cx="2743200" cy="310896"/>
          </a:xfrm>
          <a:prstGeom prst="roundRect">
            <a:avLst/>
          </a:prstGeom>
          <a:solidFill>
            <a:srgbClr val="4B6F44"/>
          </a:solidFill>
          <a:ln>
            <a:solidFill>
              <a:srgbClr val="385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Innovation and Uniqueness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6126480" y="4224528"/>
            <a:ext cx="1051560" cy="2194560"/>
          </a:xfrm>
          <a:prstGeom prst="roundRect">
            <a:avLst/>
          </a:prstGeom>
          <a:solidFill>
            <a:srgbClr val="A8443C"/>
          </a:solidFill>
          <a:ln w="19050">
            <a:solidFill>
              <a:srgbClr val="EBB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Decoupled DB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[&lt;15ms Direct Query]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Direct normalized cache of 47 statutory attributes eliminates slow manual OCR bottlenecks.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6199632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BB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A8443C"/>
                </a:solidFill>
                <a:latin typeface="Arial"/>
              </a:defRPr>
            </a:pPr>
            <a:r>
              <a:t>⚡ Fast Cache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7278624" y="4224528"/>
            <a:ext cx="1051560" cy="2194560"/>
          </a:xfrm>
          <a:prstGeom prst="roundRect">
            <a:avLst/>
          </a:prstGeom>
          <a:solidFill>
            <a:srgbClr val="A66B24"/>
          </a:solidFill>
          <a:ln w="19050">
            <a:solidFill>
              <a:srgbClr val="F0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Dual-Track ML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[Civil vs Legal]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Decouples active physical road works from sub-judice court disputes under Sec 3D(2) vesting.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7351776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0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A66B24"/>
                </a:solidFill>
                <a:latin typeface="Arial"/>
              </a:defRPr>
            </a:pPr>
            <a:r>
              <a:t>⚖️ Sec 3D(2)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8430768" y="4224528"/>
            <a:ext cx="1051560" cy="2194560"/>
          </a:xfrm>
          <a:prstGeom prst="roundRect">
            <a:avLst/>
          </a:prstGeom>
          <a:solidFill>
            <a:srgbClr val="767E34"/>
          </a:solidFill>
          <a:ln w="19050">
            <a:solidFill>
              <a:srgbClr val="D7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TreeSHAP XAI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[Statutory Attribution]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Quantifies exact additive day delays per bottleneck and automates pre-drafted legal DFA SOPs.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8503920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767E34"/>
                </a:solidFill>
                <a:latin typeface="Arial"/>
              </a:defRPr>
            </a:pPr>
            <a:r>
              <a:t>🔍 Factor XAI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9582912" y="4224528"/>
            <a:ext cx="1051560" cy="2194560"/>
          </a:xfrm>
          <a:prstGeom prst="roundRect">
            <a:avLst/>
          </a:prstGeom>
          <a:solidFill>
            <a:srgbClr val="C45537"/>
          </a:solidFill>
          <a:ln w="19050">
            <a:solidFill>
              <a:srgbClr val="F5BE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340.8km GIS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[Corridor Telemetry]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Hierarchical drill-down: 8 Packages, 156 Villages, and Khasra plots with chainage telemetry.</a:t>
            </a:r>
          </a:p>
        </p:txBody>
      </p:sp>
      <p:sp>
        <p:nvSpPr>
          <p:cNvPr id="15397" name="Rounded Rectangle 15396"/>
          <p:cNvSpPr/>
          <p:nvPr/>
        </p:nvSpPr>
        <p:spPr>
          <a:xfrm>
            <a:off x="9656064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5BE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C45537"/>
                </a:solidFill>
                <a:latin typeface="Arial"/>
              </a:defRPr>
            </a:pPr>
            <a:r>
              <a:t>🗺️ RoW GIS</a:t>
            </a:r>
          </a:p>
        </p:txBody>
      </p:sp>
      <p:sp>
        <p:nvSpPr>
          <p:cNvPr id="15398" name="Rounded Rectangle 15397"/>
          <p:cNvSpPr/>
          <p:nvPr/>
        </p:nvSpPr>
        <p:spPr>
          <a:xfrm>
            <a:off x="10735056" y="4224528"/>
            <a:ext cx="1051560" cy="2194560"/>
          </a:xfrm>
          <a:prstGeom prst="roundRect">
            <a:avLst/>
          </a:prstGeom>
          <a:solidFill>
            <a:srgbClr val="546E7A"/>
          </a:solidFill>
          <a:ln w="19050">
            <a:solidFill>
              <a:srgbClr val="BE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Const. HITL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[Arts. 77 &amp; 166]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Aadhaar DSC e-Sign validation with immutable SHA-256 cryptographic audit trails for CAG.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10808208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546E7A"/>
                </a:solidFill>
                <a:latin typeface="Arial"/>
              </a:defRPr>
            </a:pPr>
            <a:r>
              <a:t>🛡️ SHA-256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400" b="1">
                <a:solidFill>
                  <a:srgbClr val="003366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024128"/>
            <a:ext cx="8641080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097280"/>
            <a:ext cx="1874519" cy="365760"/>
          </a:xfrm>
          <a:prstGeom prst="roundRect">
            <a:avLst/>
          </a:prstGeom>
          <a:solidFill>
            <a:srgbClr val="E3F2FD"/>
          </a:solidFill>
          <a:ln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D47A1"/>
                </a:solidFill>
                <a:latin typeface="Arial"/>
              </a:defRPr>
            </a:pPr>
            <a:r>
              <a:t>Zone 1: Users &amp; External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57200" y="1536192"/>
            <a:ext cx="1874519" cy="1691640"/>
          </a:xfrm>
          <a:prstGeom prst="roundRect">
            <a:avLst/>
          </a:prstGeom>
          <a:solidFill>
            <a:srgbClr val="F0F7FF"/>
          </a:solidFill>
          <a:ln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lIns="585216" rIns="54864"/>
          <a:lstStyle/>
          <a:p>
            <a:pPr algn="ctr">
              <a:spcAft>
                <a:spcPts val="200"/>
              </a:spcAft>
              <a:defRPr sz="850" b="1">
                <a:solidFill>
                  <a:srgbClr val="1976D2"/>
                </a:solidFill>
                <a:latin typeface="Arial"/>
              </a:defRPr>
            </a:pPr>
            <a:r>
              <a:t>External Portals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e-Courts WSDL API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BhoomiRashi MoRTH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State Jamabandi GIS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PM GatiShakti NMP</a:t>
            </a:r>
          </a:p>
        </p:txBody>
      </p:sp>
      <p:pic>
        <p:nvPicPr>
          <p:cNvPr id="17413" name="Picture 17412" descr="cloud_por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591056"/>
            <a:ext cx="438912" cy="293193"/>
          </a:xfrm>
          <a:prstGeom prst="rect">
            <a:avLst/>
          </a:prstGeom>
        </p:spPr>
      </p:pic>
      <p:sp>
        <p:nvSpPr>
          <p:cNvPr id="17414" name="Rounded Rectangle 17413"/>
          <p:cNvSpPr/>
          <p:nvPr/>
        </p:nvSpPr>
        <p:spPr>
          <a:xfrm>
            <a:off x="457200" y="3310128"/>
            <a:ext cx="1874519" cy="1755648"/>
          </a:xfrm>
          <a:prstGeom prst="roundRect">
            <a:avLst/>
          </a:prstGeom>
          <a:solidFill>
            <a:srgbClr val="F0F7FF"/>
          </a:solidFill>
          <a:ln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lIns="585216" rIns="54864"/>
          <a:lstStyle/>
          <a:p>
            <a:pPr algn="ctr">
              <a:spcAft>
                <a:spcPts val="200"/>
              </a:spcAft>
              <a:defRPr sz="850" b="1">
                <a:solidFill>
                  <a:srgbClr val="1976D2"/>
                </a:solidFill>
                <a:latin typeface="Arial"/>
              </a:defRPr>
            </a:pPr>
            <a:r>
              <a:t>Statutory Roles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MoRTH &amp; NPG Lead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NHAI Project Director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CALA (Land Officer)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Field Tehsildars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Landowner Farmers</a:t>
            </a:r>
          </a:p>
        </p:txBody>
      </p:sp>
      <p:pic>
        <p:nvPicPr>
          <p:cNvPr id="17415" name="Picture 17414" descr="officer_ava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383280"/>
            <a:ext cx="420624" cy="420624"/>
          </a:xfrm>
          <a:prstGeom prst="rect">
            <a:avLst/>
          </a:prstGeom>
        </p:spPr>
      </p:pic>
      <p:sp>
        <p:nvSpPr>
          <p:cNvPr id="17416" name="Right Arrow 17415"/>
          <p:cNvSpPr/>
          <p:nvPr/>
        </p:nvSpPr>
        <p:spPr>
          <a:xfrm>
            <a:off x="2359152" y="3264408"/>
            <a:ext cx="164592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2560320" y="1097280"/>
            <a:ext cx="1965960" cy="365760"/>
          </a:xfrm>
          <a:prstGeom prst="roundRect">
            <a:avLst/>
          </a:prstGeom>
          <a:solidFill>
            <a:srgbClr val="E8F5E9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B5E20"/>
                </a:solidFill>
                <a:latin typeface="Arial"/>
              </a:defRPr>
            </a:pPr>
            <a:r>
              <a:t>Zone 2: Frontend (React 19)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560320" y="1536192"/>
            <a:ext cx="1965960" cy="3529584"/>
          </a:xfrm>
          <a:prstGeom prst="roundRect">
            <a:avLst/>
          </a:prstGeom>
          <a:solidFill>
            <a:srgbClr val="F1F8F2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2615184" y="15910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Predictive Dashboard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Real-time residual delay days, risk gauges &amp; project cards.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2615184" y="22768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340.8 km RoW GIS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Leaflet GeoJSON EPSG:4326 drilldown across 8 packages &amp; plots.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2615184" y="29626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TreeSHAP Waterfall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Visual factor attributions explaining statutory delay causes.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2615184" y="36484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Prescriptive DFA SOP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Automated legal notice drafts for Sec 3D/3G fast-tracking.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615184" y="43342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Constitutional HITL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4-tier RBAC + Aadhaar DSC e-Sign gateway (Arts. 77/166).</a:t>
            </a:r>
          </a:p>
        </p:txBody>
      </p:sp>
      <p:sp>
        <p:nvSpPr>
          <p:cNvPr id="17424" name="Left-Right Arrow 17423"/>
          <p:cNvSpPr/>
          <p:nvPr/>
        </p:nvSpPr>
        <p:spPr>
          <a:xfrm>
            <a:off x="4553712" y="3264408"/>
            <a:ext cx="182880" cy="128016"/>
          </a:xfrm>
          <a:prstGeom prst="left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4773168" y="1097280"/>
            <a:ext cx="2011680" cy="365760"/>
          </a:xfrm>
          <a:prstGeom prst="roundRect">
            <a:avLst/>
          </a:prstGeom>
          <a:solidFill>
            <a:srgbClr val="EDE7F6"/>
          </a:solidFill>
          <a:ln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4527A0"/>
                </a:solidFill>
                <a:latin typeface="Arial"/>
              </a:defRPr>
            </a:pPr>
            <a:r>
              <a:t>Zone 3: Backend (FastAPI)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773168" y="1536192"/>
            <a:ext cx="2011680" cy="3529584"/>
          </a:xfrm>
          <a:prstGeom prst="roundRect">
            <a:avLst/>
          </a:prstGeom>
          <a:solidFill>
            <a:srgbClr val="F6F3FB"/>
          </a:solidFill>
          <a:ln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4828032" y="15910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REST API Gateway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Point 11 compliant: async request routing, OpenAPI 3.0 &amp; auth.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828032" y="22768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Decoupled Central DB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&lt;15ms cached responses for 47 standardized statutory features.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828032" y="29626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Dual-Track Engine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Decouples physical civil road works from legal escrow disputes.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828032" y="36484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Statutory DFA Engine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Generates legally binding Section 3A, 3D, 3G, 3H notice drafts.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828032" y="43342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SHA-256 Ledger Service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Cryptographic block hashing ensuring immutable CAG audit trail.</a:t>
            </a:r>
          </a:p>
        </p:txBody>
      </p:sp>
      <p:sp>
        <p:nvSpPr>
          <p:cNvPr id="17432" name="Left-Right Arrow 17431"/>
          <p:cNvSpPr/>
          <p:nvPr/>
        </p:nvSpPr>
        <p:spPr>
          <a:xfrm>
            <a:off x="6803136" y="3264408"/>
            <a:ext cx="182880" cy="128016"/>
          </a:xfrm>
          <a:prstGeom prst="left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7022592" y="1097280"/>
            <a:ext cx="1965960" cy="365760"/>
          </a:xfrm>
          <a:prstGeom prst="roundRect">
            <a:avLst/>
          </a:prstGeom>
          <a:solidFill>
            <a:srgbClr val="E0F7FA"/>
          </a:solidFill>
          <a:ln>
            <a:solidFill>
              <a:srgbClr val="80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0838F"/>
                </a:solidFill>
                <a:latin typeface="Arial"/>
              </a:defRPr>
            </a:pPr>
            <a:r>
              <a:t>Zone 4: AI &amp; ML Engine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022592" y="1536192"/>
            <a:ext cx="1965960" cy="3529584"/>
          </a:xfrm>
          <a:prstGeom prst="roundRect">
            <a:avLst/>
          </a:prstGeom>
          <a:solidFill>
            <a:srgbClr val="F0FBFC"/>
          </a:solidFill>
          <a:ln>
            <a:solidFill>
              <a:srgbClr val="80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7077456" y="15910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Ensemble ML Predictor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LightGBM + XGBoost 2.1 regressors predict residual delay days.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077456" y="22768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TreeSHAP Attribution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Micro-level factor attribution quantifying additive day delays.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077456" y="29626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Kaplan-Meier Survival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Probabilistic time-to-lapse modeling for 365-day Sec 3D deadlines.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077456" y="36484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Prescriptive Rule Core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Statutory threshold trigger engine activating specific SOP orders.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077456" y="43342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Central DB (&lt;15ms)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High-speed normalized SQLite/PostgreSQL storage across 47 attributes.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5285232"/>
            <a:ext cx="8641080" cy="8778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Rounded Rectangle 17440"/>
          <p:cNvSpPr/>
          <p:nvPr/>
        </p:nvSpPr>
        <p:spPr>
          <a:xfrm>
            <a:off x="475488" y="5376672"/>
            <a:ext cx="1371600" cy="694944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F172A"/>
                </a:solidFill>
                <a:latin typeface="Arial"/>
              </a:defRPr>
            </a:pPr>
            <a:r>
              <a:t>Core Technology</a:t>
            </a:r>
            <a:br/>
            <a:r>
              <a:t>Stack &amp; Engine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901952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87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Python 3.13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FastAPI Core</a:t>
            </a:r>
          </a:p>
        </p:txBody>
      </p:sp>
      <p:pic>
        <p:nvPicPr>
          <p:cNvPr id="17443" name="Picture 17442" descr="python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1408" y="5394960"/>
            <a:ext cx="301752" cy="301752"/>
          </a:xfrm>
          <a:prstGeom prst="rect">
            <a:avLst/>
          </a:prstGeom>
        </p:spPr>
      </p:pic>
      <p:sp>
        <p:nvSpPr>
          <p:cNvPr id="17444" name="Rounded Rectangle 17443"/>
          <p:cNvSpPr/>
          <p:nvPr/>
        </p:nvSpPr>
        <p:spPr>
          <a:xfrm>
            <a:off x="2697480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FastAPI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REST Gateway</a:t>
            </a:r>
          </a:p>
        </p:txBody>
      </p:sp>
      <p:pic>
        <p:nvPicPr>
          <p:cNvPr id="17445" name="Picture 17444" descr="fastapi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6936" y="5394960"/>
            <a:ext cx="301752" cy="301752"/>
          </a:xfrm>
          <a:prstGeom prst="rect">
            <a:avLst/>
          </a:prstGeom>
        </p:spPr>
      </p:pic>
      <p:sp>
        <p:nvSpPr>
          <p:cNvPr id="17446" name="Rounded Rectangle 17445"/>
          <p:cNvSpPr/>
          <p:nvPr/>
        </p:nvSpPr>
        <p:spPr>
          <a:xfrm>
            <a:off x="3493008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20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React 19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Vite Frontend</a:t>
            </a:r>
          </a:p>
        </p:txBody>
      </p:sp>
      <p:pic>
        <p:nvPicPr>
          <p:cNvPr id="17447" name="Picture 17446" descr="react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2464" y="5394960"/>
            <a:ext cx="301752" cy="301752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4288536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XGBoost 2.1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ML Regressor</a:t>
            </a:r>
          </a:p>
        </p:txBody>
      </p:sp>
      <p:pic>
        <p:nvPicPr>
          <p:cNvPr id="17449" name="Picture 17448" descr="xgboost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7992" y="5394960"/>
            <a:ext cx="301752" cy="301752"/>
          </a:xfrm>
          <a:prstGeom prst="rect">
            <a:avLst/>
          </a:prstGeom>
        </p:spPr>
      </p:pic>
      <p:sp>
        <p:nvSpPr>
          <p:cNvPr id="17450" name="Rounded Rectangle 17449"/>
          <p:cNvSpPr/>
          <p:nvPr/>
        </p:nvSpPr>
        <p:spPr>
          <a:xfrm>
            <a:off x="5084064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LightGBM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Ensemble Trees</a:t>
            </a:r>
          </a:p>
        </p:txBody>
      </p:sp>
      <p:pic>
        <p:nvPicPr>
          <p:cNvPr id="17451" name="Picture 17450" descr="lightgbm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3520" y="5394960"/>
            <a:ext cx="301752" cy="301752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5879592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TreeSHAP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Statutory XAI</a:t>
            </a:r>
          </a:p>
        </p:txBody>
      </p:sp>
      <p:pic>
        <p:nvPicPr>
          <p:cNvPr id="17453" name="Picture 17452" descr="shap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9048" y="5394960"/>
            <a:ext cx="301752" cy="301752"/>
          </a:xfrm>
          <a:prstGeom prst="rect">
            <a:avLst/>
          </a:prstGeom>
        </p:spPr>
      </p:pic>
      <p:sp>
        <p:nvSpPr>
          <p:cNvPr id="17454" name="Rounded Rectangle 17453"/>
          <p:cNvSpPr/>
          <p:nvPr/>
        </p:nvSpPr>
        <p:spPr>
          <a:xfrm>
            <a:off x="6675120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74A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Leaflet GIS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EPSG:4326 Maps</a:t>
            </a:r>
          </a:p>
        </p:txBody>
      </p:sp>
      <p:pic>
        <p:nvPicPr>
          <p:cNvPr id="17455" name="Picture 17454" descr="leaflet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94576" y="5394960"/>
            <a:ext cx="301752" cy="301752"/>
          </a:xfrm>
          <a:prstGeom prst="rect">
            <a:avLst/>
          </a:prstGeom>
        </p:spPr>
      </p:pic>
      <p:sp>
        <p:nvSpPr>
          <p:cNvPr id="17456" name="Rounded Rectangle 17455"/>
          <p:cNvSpPr/>
          <p:nvPr/>
        </p:nvSpPr>
        <p:spPr>
          <a:xfrm>
            <a:off x="7470648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PostgreSQL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&lt;15ms DB Cache</a:t>
            </a:r>
          </a:p>
        </p:txBody>
      </p:sp>
      <p:pic>
        <p:nvPicPr>
          <p:cNvPr id="17457" name="Picture 17456" descr="postgresql_log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90104" y="5394960"/>
            <a:ext cx="301752" cy="301752"/>
          </a:xfrm>
          <a:prstGeom prst="rect">
            <a:avLst/>
          </a:prstGeom>
        </p:spPr>
      </p:pic>
      <p:sp>
        <p:nvSpPr>
          <p:cNvPr id="17458" name="Rounded Rectangle 17457"/>
          <p:cNvSpPr/>
          <p:nvPr/>
        </p:nvSpPr>
        <p:spPr>
          <a:xfrm>
            <a:off x="8266176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SHA-256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Audit Ledger</a:t>
            </a:r>
          </a:p>
        </p:txBody>
      </p:sp>
      <p:pic>
        <p:nvPicPr>
          <p:cNvPr id="17459" name="Picture 17458" descr="sha256_log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85632" y="5394960"/>
            <a:ext cx="301752" cy="301752"/>
          </a:xfrm>
          <a:prstGeom prst="rect">
            <a:avLst/>
          </a:prstGeom>
        </p:spPr>
      </p:pic>
      <p:sp>
        <p:nvSpPr>
          <p:cNvPr id="17460" name="Rounded Rectangle 17459"/>
          <p:cNvSpPr/>
          <p:nvPr/>
        </p:nvSpPr>
        <p:spPr>
          <a:xfrm>
            <a:off x="9189720" y="1024128"/>
            <a:ext cx="2560320" cy="5138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TextBox 17460"/>
          <p:cNvSpPr txBox="1"/>
          <p:nvPr/>
        </p:nvSpPr>
        <p:spPr>
          <a:xfrm>
            <a:off x="9189720" y="107899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C2185B"/>
                </a:solidFill>
                <a:latin typeface="Arial"/>
              </a:defRPr>
            </a:pPr>
            <a:r>
              <a:t>Implementation Process</a:t>
            </a:r>
          </a:p>
        </p:txBody>
      </p:sp>
      <p:sp>
        <p:nvSpPr>
          <p:cNvPr id="17462" name="Rectangle 17461"/>
          <p:cNvSpPr/>
          <p:nvPr/>
        </p:nvSpPr>
        <p:spPr>
          <a:xfrm>
            <a:off x="9537192" y="1572768"/>
            <a:ext cx="36576" cy="4297680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3" name="Picture 17462" descr="step1_inges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36024" y="1536192"/>
            <a:ext cx="420624" cy="420624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9811512" y="1463040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00695C"/>
                </a:solidFill>
                <a:latin typeface="Arial"/>
              </a:defRPr>
            </a:pPr>
            <a:r>
              <a:t>1. Multi-Modal Ingestion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Gazette PDFs, e-Courts stays, cadastral Jamabandi records &amp; BhoomiRashi data parsed into pipeline.</a:t>
            </a:r>
          </a:p>
        </p:txBody>
      </p:sp>
      <p:pic>
        <p:nvPicPr>
          <p:cNvPr id="17465" name="Picture 17464" descr="step2_centraldb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36024" y="2295144"/>
            <a:ext cx="420624" cy="420624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9811512" y="2221992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263238"/>
                </a:solidFill>
                <a:latin typeface="Arial"/>
              </a:defRPr>
            </a:pPr>
            <a:r>
              <a:t>2. Decoupled Central DB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Normalizes 47 statutory attributes into high-speed SQLite/PostgreSQL cache with &lt;15ms queries.</a:t>
            </a:r>
          </a:p>
        </p:txBody>
      </p:sp>
      <p:pic>
        <p:nvPicPr>
          <p:cNvPr id="17467" name="Picture 17466" descr="step3_ml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36024" y="3054096"/>
            <a:ext cx="420624" cy="420624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9811512" y="2980944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E65100"/>
                </a:solidFill>
                <a:latin typeface="Arial"/>
              </a:defRPr>
            </a:pPr>
            <a:r>
              <a:t>3. Ensemble ML Inference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XGBoost 2.1 &amp; LightGBM regressors predict residual acquisition days &amp; statutory lapse risks.</a:t>
            </a:r>
          </a:p>
        </p:txBody>
      </p:sp>
      <p:pic>
        <p:nvPicPr>
          <p:cNvPr id="17469" name="Picture 17468" descr="step4_sha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36024" y="3813048"/>
            <a:ext cx="420624" cy="420624"/>
          </a:xfrm>
          <a:prstGeom prst="rect">
            <a:avLst/>
          </a:prstGeom>
        </p:spPr>
      </p:pic>
      <p:sp>
        <p:nvSpPr>
          <p:cNvPr id="17470" name="TextBox 17469"/>
          <p:cNvSpPr txBox="1"/>
          <p:nvPr/>
        </p:nvSpPr>
        <p:spPr>
          <a:xfrm>
            <a:off x="9811512" y="3739896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33691E"/>
                </a:solidFill>
                <a:latin typeface="Arial"/>
              </a:defRPr>
            </a:pPr>
            <a:r>
              <a:t>4. TreeSHAP Attribution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Deconstructs prediction into exact additive marginal delay days per statutory obstacle.</a:t>
            </a:r>
          </a:p>
        </p:txBody>
      </p:sp>
      <p:pic>
        <p:nvPicPr>
          <p:cNvPr id="17471" name="Picture 17470" descr="step5_df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36024" y="4572000"/>
            <a:ext cx="420624" cy="420624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9811512" y="4498848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BF360C"/>
                </a:solidFill>
                <a:latin typeface="Arial"/>
              </a:defRPr>
            </a:pPr>
            <a:r>
              <a:t>5. Prescriptive Legal DFA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Automatically drafts statutory Section 3D, 3G &amp; 3H compliance orders for nodal officers.</a:t>
            </a:r>
          </a:p>
        </p:txBody>
      </p:sp>
      <p:pic>
        <p:nvPicPr>
          <p:cNvPr id="17473" name="Picture 17472" descr="step6_esign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36024" y="5330952"/>
            <a:ext cx="420624" cy="420624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9811512" y="5257800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880E4F"/>
                </a:solidFill>
                <a:latin typeface="Arial"/>
              </a:defRPr>
            </a:pPr>
            <a:r>
              <a:t>6. HITL e-Sign &amp; Audit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Nodal officer validates order via Aadhaar DSC; seals tamper-proof SHA-256 block ledger for CAG.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71500" y="-47626"/>
            <a:ext cx="11010900" cy="1171575"/>
          </a:xfrm>
        </p:spPr>
        <p:txBody>
          <a:bodyPr/>
          <a:lstStyle/>
          <a:p>
            <a:pPr algn="l">
              <a:defRPr sz="2400" b="1">
                <a:solidFill>
                  <a:srgbClr val="003366"/>
                </a:solidFill>
                <a:latin typeface="Arial"/>
              </a:defRPr>
            </a:pPr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38912" y="1051560"/>
            <a:ext cx="555955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1" name="Picture 17410" descr="feasibility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1161288"/>
            <a:ext cx="329184" cy="329184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950976" y="1143000"/>
            <a:ext cx="4114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070C0"/>
                </a:solidFill>
                <a:latin typeface="Arial"/>
              </a:defRPr>
            </a:pPr>
            <a:r>
              <a:t>FEASIBILITY :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85216" y="1508760"/>
            <a:ext cx="5266944" cy="2606040"/>
          </a:xfrm>
          <a:prstGeom prst="rect">
            <a:avLst/>
          </a:prstGeom>
          <a:noFill/>
        </p:spPr>
        <p:txBody>
          <a:bodyPr wrap="square" anchor="t" tIns="18288" lIns="36576" rIns="36576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950" b="1">
                <a:solidFill>
                  <a:srgbClr val="0F172A"/>
                </a:solidFill>
                <a:latin typeface="Arial"/>
              </a:defRPr>
            </a:pPr>
            <a:r>
              <a:t>Technical :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850" b="1">
                <a:solidFill>
                  <a:srgbClr val="0070C0"/>
                </a:solidFill>
                <a:latin typeface="Arial"/>
              </a:rPr>
              <a:t>•  </a:t>
            </a:r>
            <a:r>
              <a:rPr sz="850" b="1">
                <a:solidFill>
                  <a:srgbClr val="0070C0"/>
                </a:solidFill>
                <a:latin typeface="Arial"/>
              </a:rPr>
              <a:t>Proven Decoupled Stack : </a:t>
            </a:r>
            <a:r>
              <a:rPr sz="850">
                <a:solidFill>
                  <a:srgbClr val="334155"/>
                </a:solidFill>
                <a:latin typeface="Arial"/>
              </a:rPr>
              <a:t>Python 3.13, FastAPI, React 19, LightGBM, PostgreSQL — queries execute in &lt;15ms.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850" b="1">
                <a:solidFill>
                  <a:srgbClr val="0070C0"/>
                </a:solidFill>
                <a:latin typeface="Arial"/>
              </a:rPr>
              <a:t>•  </a:t>
            </a:r>
            <a:r>
              <a:rPr sz="850" b="1">
                <a:solidFill>
                  <a:srgbClr val="0070C0"/>
                </a:solidFill>
                <a:latin typeface="Arial"/>
              </a:rPr>
              <a:t>Statutory Compliance : </a:t>
            </a:r>
            <a:r>
              <a:rPr sz="850">
                <a:solidFill>
                  <a:srgbClr val="334155"/>
                </a:solidFill>
                <a:latin typeface="Arial"/>
              </a:rPr>
              <a:t>100% compliant with National Highways Act 1956 (§ 3A–3H) and RFCTLARR Act 2013.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950" b="1">
                <a:solidFill>
                  <a:srgbClr val="0F172A"/>
                </a:solidFill>
                <a:latin typeface="Arial"/>
              </a:defRPr>
            </a:pPr>
            <a:r>
              <a:t>Innovation :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850" b="1">
                <a:solidFill>
                  <a:srgbClr val="0070C0"/>
                </a:solidFill>
                <a:latin typeface="Arial"/>
              </a:rPr>
              <a:t>•  </a:t>
            </a:r>
            <a:r>
              <a:rPr sz="850" b="1">
                <a:solidFill>
                  <a:srgbClr val="0070C0"/>
                </a:solidFill>
                <a:latin typeface="Arial"/>
              </a:rPr>
              <a:t>Dual-Track Reality Engine : </a:t>
            </a:r>
            <a:r>
              <a:rPr sz="850">
                <a:solidFill>
                  <a:srgbClr val="334155"/>
                </a:solidFill>
                <a:latin typeface="Arial"/>
              </a:rPr>
              <a:t>Decouples physical civil road construction from court escrow disputes under Sec 3D(2) vesting.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950" b="1">
                <a:solidFill>
                  <a:srgbClr val="0F172A"/>
                </a:solidFill>
                <a:latin typeface="Arial"/>
              </a:defRPr>
            </a:pPr>
            <a:r>
              <a:t>Operational :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850" b="1">
                <a:solidFill>
                  <a:srgbClr val="0070C0"/>
                </a:solidFill>
                <a:latin typeface="Arial"/>
              </a:rPr>
              <a:t>•  </a:t>
            </a:r>
            <a:r>
              <a:rPr sz="850" b="1">
                <a:solidFill>
                  <a:srgbClr val="0070C0"/>
                </a:solidFill>
                <a:latin typeface="Arial"/>
              </a:rPr>
              <a:t>Plug-and-Play Integration : </a:t>
            </a:r>
            <a:r>
              <a:rPr sz="850">
                <a:solidFill>
                  <a:srgbClr val="334155"/>
                </a:solidFill>
                <a:latin typeface="Arial"/>
              </a:rPr>
              <a:t>Point 11 compliant REST API Gateway integrates directly into existing NHAI / BhoomiRashi systems.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950" b="1">
                <a:solidFill>
                  <a:srgbClr val="0F172A"/>
                </a:solidFill>
                <a:latin typeface="Arial"/>
              </a:defRPr>
            </a:pPr>
            <a:r>
              <a:t>Economic :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850" b="1">
                <a:solidFill>
                  <a:srgbClr val="0070C0"/>
                </a:solidFill>
                <a:latin typeface="Arial"/>
              </a:rPr>
              <a:t>•  </a:t>
            </a:r>
            <a:r>
              <a:rPr sz="850" b="1">
                <a:solidFill>
                  <a:srgbClr val="0070C0"/>
                </a:solidFill>
                <a:latin typeface="Arial"/>
              </a:rPr>
              <a:t>Zero Recurring Licensing : </a:t>
            </a:r>
            <a:r>
              <a:rPr sz="850">
                <a:solidFill>
                  <a:srgbClr val="334155"/>
                </a:solidFill>
                <a:latin typeface="Arial"/>
              </a:rPr>
              <a:t>Built on 100% open-source software stack with no proprietary per-seat vendor fees.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99632" y="1051560"/>
            <a:ext cx="555955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5" name="Picture 17414" descr="viability_ba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1161288"/>
            <a:ext cx="329184" cy="329184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6711696" y="1143000"/>
            <a:ext cx="4114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59669"/>
                </a:solidFill>
                <a:latin typeface="Arial"/>
              </a:defRPr>
            </a:pPr>
            <a:r>
              <a:t>VIABILITY :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345936" y="1508760"/>
            <a:ext cx="5266944" cy="2606040"/>
          </a:xfrm>
          <a:prstGeom prst="rect">
            <a:avLst/>
          </a:prstGeom>
          <a:noFill/>
        </p:spPr>
        <p:txBody>
          <a:bodyPr wrap="square" anchor="t" tIns="18288" lIns="36576" rIns="36576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National Market &amp; Scale :  </a:t>
            </a:r>
            <a:r>
              <a:rPr sz="850">
                <a:solidFill>
                  <a:srgbClr val="334155"/>
                </a:solidFill>
                <a:latin typeface="Arial"/>
              </a:rPr>
              <a:t>₹4,000+ Cr in stalled Section 3H escrow funds across 1,200+ km of national highway corridors; directly unfreezes national CAPEX.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Policy &amp; Statutory Alignment :  </a:t>
            </a:r>
            <a:r>
              <a:rPr sz="850">
                <a:solidFill>
                  <a:srgbClr val="334155"/>
                </a:solidFill>
                <a:latin typeface="Arial"/>
              </a:rPr>
              <a:t>Perfectly synergizes with PM GatiShakti National Master Plan, Cabinet Secretariat guidelines, and digital land modernization.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Investment &amp; National ROI :  </a:t>
            </a:r>
            <a:r>
              <a:rPr sz="850">
                <a:solidFill>
                  <a:srgbClr val="334155"/>
                </a:solidFill>
                <a:latin typeface="Arial"/>
              </a:rPr>
              <a:t>Eliminates contractor idling compensation claims (saving ₹4.5 Cr per month per delayed package); instantaneous fiscal breakeven.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Scalability &amp; Interstate Adoption :  </a:t>
            </a:r>
            <a:r>
              <a:rPr sz="850">
                <a:solidFill>
                  <a:srgbClr val="334155"/>
                </a:solidFill>
                <a:latin typeface="Arial"/>
              </a:rPr>
              <a:t>Scales horizontally across all 28 States and 8 Union Territories via universal state-land ontological harmonizer.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38912" y="4297680"/>
            <a:ext cx="5559552" cy="18105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challenge_bad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4407408"/>
            <a:ext cx="292608" cy="29260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932688" y="43891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70C0"/>
                </a:solidFill>
                <a:latin typeface="Arial"/>
              </a:defRPr>
            </a:pPr>
            <a:r>
              <a:t>TECHNICAL CHALLENGES :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85216" y="4736592"/>
            <a:ext cx="5266944" cy="1335024"/>
          </a:xfrm>
          <a:prstGeom prst="rect">
            <a:avLst/>
          </a:prstGeom>
          <a:noFill/>
        </p:spPr>
        <p:txBody>
          <a:bodyPr wrap="square" anchor="t" lIns="36576" rIns="36576" tIns="18288">
            <a:spAutoFit/>
          </a:bodyPr>
          <a:lstStyle/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Risk : </a:t>
            </a:r>
            <a:r>
              <a:rPr sz="850">
                <a:solidFill>
                  <a:srgbClr val="334155"/>
                </a:solidFill>
              </a:rPr>
              <a:t>Heterogeneous state land nomenclature (Khasra, Khatauni, Jamabandi) and missing cadastral coordinate data.</a:t>
            </a:r>
          </a:p>
          <a:p>
            <a:pPr>
              <a:spcBef>
                <a:spcPts val="200"/>
              </a:spcBef>
            </a:pPr>
            <a:r>
              <a:rPr b="1" sz="900">
                <a:solidFill>
                  <a:srgbClr val="0070C0"/>
                </a:solidFill>
              </a:rPr>
              <a:t>Mitigation : </a:t>
            </a:r>
            <a:r>
              <a:rPr sz="850">
                <a:solidFill>
                  <a:srgbClr val="334155"/>
                </a:solidFill>
              </a:rPr>
              <a:t>Universal Ontological Harmonizer normalizes all 47 state parameters into unified schema with automated missing-value imputation.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99632" y="4297680"/>
            <a:ext cx="5559552" cy="18105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3" name="Picture 17422" descr="governance_bad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936" y="4407408"/>
            <a:ext cx="292608" cy="292608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693408" y="43891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59669"/>
                </a:solidFill>
                <a:latin typeface="Arial"/>
              </a:defRPr>
            </a:pPr>
            <a:r>
              <a:t>STATUTORY &amp; ADOPTION CHALLENGES :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345936" y="4736592"/>
            <a:ext cx="5266944" cy="1335024"/>
          </a:xfrm>
          <a:prstGeom prst="rect">
            <a:avLst/>
          </a:prstGeom>
          <a:noFill/>
        </p:spPr>
        <p:txBody>
          <a:bodyPr wrap="square" anchor="t" lIns="36576" rIns="36576" tIns="18288">
            <a:spAutoFit/>
          </a:bodyPr>
          <a:lstStyle/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Risk : </a:t>
            </a:r>
            <a:r>
              <a:rPr sz="850">
                <a:solidFill>
                  <a:srgbClr val="334155"/>
                </a:solidFill>
              </a:rPr>
              <a:t>Bureaucratic apprehension towards automated 'black-box' decisions and pending Section 3H court litigation stays.</a:t>
            </a:r>
          </a:p>
          <a:p>
            <a:pPr>
              <a:spcBef>
                <a:spcPts val="200"/>
              </a:spcBef>
            </a:pPr>
            <a:r>
              <a:rPr b="1" sz="900">
                <a:solidFill>
                  <a:srgbClr val="059669"/>
                </a:solidFill>
              </a:rPr>
              <a:t>Mitigation : </a:t>
            </a:r>
            <a:r>
              <a:rPr sz="850">
                <a:solidFill>
                  <a:srgbClr val="334155"/>
                </a:solidFill>
              </a:rPr>
              <a:t>Constitutional HITL preserves sovereign statutory authority under Articles 77 &amp; 166 with Aadhaar DSC e-Sign, backed by TreeSHAP explainability.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IMPACT AND BENEFITS: ACCELERATING NATIONAL INFRASTRUCTURE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512064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1. Impact Across Key Target Stakeholders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NHAI Project Directors (PDs):
</a:t>
            </a:r>
            <a:r>
              <a:rPr sz="850">
                <a:solidFill>
                  <a:srgbClr val="1E293B"/>
                </a:solidFill>
                <a:latin typeface="Arial"/>
              </a:rPr>
              <a:t>  Eliminates contractor idling compensation claims (saving ₹4.5 Lakh/day per package) by re-sequencing earthwork machinery to 100% encumbrance-free stretches.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Competent Authority for Land Acquisition (CALA):
</a:t>
            </a:r>
            <a:r>
              <a:rPr sz="850">
                <a:solidFill>
                  <a:srgbClr val="1E293B"/>
                </a:solidFill>
                <a:latin typeface="Arial"/>
              </a:rPr>
              <a:t>  Autonomous 310-day statutory countdown watchdog prevents Section 3A notifications from lapsing under Section 3D(1); generates instant Section 3G awards.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Ministry of Road Transport (MoRTH) &amp; NPG:
</a:t>
            </a:r>
            <a:r>
              <a:rPr sz="850">
                <a:solidFill>
                  <a:srgbClr val="1E293B"/>
                </a:solidFill>
                <a:latin typeface="Arial"/>
              </a:rPr>
              <a:t>  Gives executive leadership real-time visibility across national highway corridors for unified Cabinet notes, inter-ministerial forest clearances, and utility shifting funds.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Project Affected Families (Farmers &amp; Landowners):
</a:t>
            </a:r>
            <a:r>
              <a:rPr sz="850">
                <a:solidFill>
                  <a:srgbClr val="1E293B"/>
                </a:solidFill>
                <a:latin typeface="Arial"/>
              </a:rPr>
              <a:t>  Accelerates fair compensation payouts by 40% through direct PFMS bank transfer linkages; automates amicable village mutation dispute resolution camps.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852160" y="1097280"/>
            <a:ext cx="548640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2. Quantified National Economic &amp; Governance Value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₹4,000+ Crore Escrow Unlocked:
</a:t>
            </a:r>
            <a:r>
              <a:rPr sz="850">
                <a:solidFill>
                  <a:srgbClr val="1E293B"/>
                </a:solidFill>
                <a:latin typeface="Arial"/>
              </a:rPr>
              <a:t>  Unlocks billions in stalled court escrow funds across national corridors, permanently terminating the accrual of 9% to 15% statutory penal interest under Section 34 of RFCTLARR Act 2013.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35% to 45% Timeline Compression:
</a:t>
            </a:r>
            <a:r>
              <a:rPr sz="850">
                <a:solidFill>
                  <a:srgbClr val="1E293B"/>
                </a:solidFill>
                <a:latin typeface="Arial"/>
              </a:rPr>
              <a:t>  Reduces average statutory land acquisition lifecycle from 32 months down to 18–22 months, directly preventing costly EPC highway contractor delay claims.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CVC &amp; CAG Compliant Governance:
</a:t>
            </a:r>
            <a:r>
              <a:rPr sz="850">
                <a:solidFill>
                  <a:srgbClr val="1E293B"/>
                </a:solidFill>
                <a:latin typeface="Arial"/>
              </a:rPr>
              <a:t>  Cryptographic SHA-256 block hashing permanently seals every administrative decision, compensation release, and stay filing into an immutable, tamper-evident audit ledger.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Zero-Click Autonomous Alerts (Point 8):
</a:t>
            </a:r>
            <a:r>
              <a:rPr sz="850">
                <a:solidFill>
                  <a:srgbClr val="1E293B"/>
                </a:solidFill>
                <a:latin typeface="Arial"/>
              </a:rPr>
              <a:t>  Backend statutory watchdog monitors project milestones 24/7 without human intervention, automatically dispatching SMS and official email alerts to nodal officers.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4852" y="-95250"/>
            <a:ext cx="8496300" cy="1143000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RESEARCH AND REFERENCES: STATUTORY &amp; DATA CITATIONS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1. Statutory &amp; Legal Authorities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National Highways Act, 1956:
</a:t>
            </a:r>
            <a:r>
              <a:rPr sz="850">
                <a:solidFill>
                  <a:srgbClr val="475569"/>
                </a:solidFill>
                <a:latin typeface="Arial"/>
              </a:rPr>
              <a:t>  Act No. 48 of 1956: Sections 3A (Preliminary Notification), 3B (Survey Demarcation), 3C (Objections), 3D (Declaration &amp; Absolute Vesting), 3G (Award Determination), 3H (Deposit &amp; Disbursement).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RFCTLARR Act, 2013:
</a:t>
            </a:r>
            <a:r>
              <a:rPr sz="850">
                <a:solidFill>
                  <a:srgbClr val="475569"/>
                </a:solidFill>
                <a:latin typeface="Arial"/>
              </a:rPr>
              <a:t>  Right to Fair Compensation &amp; Transparency in Land Acquisition, Rehabilitation and Resettlement Act: First Schedule multipliers, Second Schedule R&amp;R, Section 34 penal interest mandates.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PM GatiShakti National Master Plan:
</a:t>
            </a:r>
            <a:r>
              <a:rPr sz="850">
                <a:solidFill>
                  <a:srgbClr val="475569"/>
                </a:solidFill>
                <a:latin typeface="Arial"/>
              </a:rPr>
              <a:t>  Cabinet Secretariat &amp; DPIIT (2021) guidelines for synchronized institutional planning, multi-modal infrastructure data layer, and inter-ministerial clearance coordination.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02336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2. Technical &amp; AI Research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Lundberg &amp; Lee (NeurIPS 2017):
</a:t>
            </a:r>
            <a:r>
              <a:rPr sz="850">
                <a:solidFill>
                  <a:srgbClr val="475569"/>
                </a:solidFill>
                <a:latin typeface="Arial"/>
              </a:rPr>
              <a:t>  A Unified Approach to Interpreting Model Predictions: TreeSHAP algorithm providing local, game-theoretically optimal marginal feature attributions for ensemble models.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Chen &amp; Guestrin (KDD 2016):
</a:t>
            </a:r>
            <a:r>
              <a:rPr sz="850">
                <a:solidFill>
                  <a:srgbClr val="475569"/>
                </a:solidFill>
                <a:latin typeface="Arial"/>
              </a:rPr>
              <a:t>  XGBoost: A Scalable Tree Boosting System: High-efficiency gradient boosted decision tree implementation for structured tabular revenue data.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Kaplan &amp; Meier (JASA 1958):
</a:t>
            </a:r>
            <a:r>
              <a:rPr sz="850">
                <a:solidFill>
                  <a:srgbClr val="475569"/>
                </a:solidFill>
                <a:latin typeface="Arial"/>
              </a:rPr>
              <a:t>  Nonparametric estimation from incomplete observations: Survival analysis for statutory liquidation horizons and legal dispute resolution hazard curves.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NHAI / MoRTH Official Data:
</a:t>
            </a:r>
            <a:r>
              <a:rPr sz="850">
                <a:solidFill>
                  <a:srgbClr val="475569"/>
                </a:solidFill>
                <a:latin typeface="Arial"/>
              </a:rPr>
              <a:t>  Infrastructure Project Monitoring Division (IPMD) delay benchmarks and CAG Performance Audit Reports on National Highway Land Acquisition.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58952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1A365D"/>
                </a:solidFill>
                <a:latin typeface="Arial"/>
              </a:rPr>
              <a:t>3. Prototype &amp; Deployment Links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GitHub Source Code Repository:
</a:t>
            </a:r>
            <a:r>
              <a:rPr sz="850">
                <a:solidFill>
                  <a:srgbClr val="475569"/>
                </a:solidFill>
                <a:latin typeface="Arial"/>
              </a:rPr>
              <a:t>  Complete open repository with decoupled ML inference, ETL pipeline, and React frontend:
https://github.com/AryanSahu321/Land_Aquisition_Delay_pridictor.git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RESTful API Gateway (Point 11):
</a:t>
            </a:r>
            <a:r>
              <a:rPr sz="850">
                <a:solidFill>
                  <a:srgbClr val="475569"/>
                </a:solidFill>
                <a:latin typeface="Arial"/>
              </a:rPr>
              <a:t>  Publicly accessible endpoints for government &amp; developer integrations:
• /api/v1/projects/parse-and-predict
• /api/v1/projects/search-options
• /api/v1/corridor/geojson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Interactive Live Modules:
</a:t>
            </a:r>
            <a:r>
              <a:rPr sz="850">
                <a:solidFill>
                  <a:srgbClr val="475569"/>
                </a:solidFill>
                <a:latin typeface="Arial"/>
              </a:rPr>
              <a:t>  • All-in-One Dashboard (7 Stacked Cards)
• Purvanchal 340.8 km GIS Corridor (Point 7)
• 4-Tier Statutory Role RBAC &amp; e-Sign (Points 8, 9, 12)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8111</TotalTime>
  <Words>176</Words>
  <Application>Microsoft Office PowerPoint</Application>
  <PresentationFormat>Widescreen</PresentationFormat>
  <Paragraphs>40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RAKSHASCAN AI Border Identity Screening 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ARYAN123 SAHU</cp:lastModifiedBy>
  <cp:revision>151</cp:revision>
  <dcterms:created xsi:type="dcterms:W3CDTF">2013-12-12T18:46:50Z</dcterms:created>
  <dcterms:modified xsi:type="dcterms:W3CDTF">2026-09-27T07:51:10Z</dcterms:modified>
  <cp:category/>
</cp:coreProperties>
</file>