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CABCED-DC03-4397-A074-A5D1FA4069AE}" v="33" dt="2026-09-26T15:20:21.7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123 SAHU" userId="3dec31793afa8dc6" providerId="LiveId" clId="{5CEBEB97-9768-4C71-99BC-FB249B8C6A36}"/>
    <pc:docChg chg="undo custSel delSld modSld">
      <pc:chgData name="ARYAN123 SAHU" userId="3dec31793afa8dc6" providerId="LiveId" clId="{5CEBEB97-9768-4C71-99BC-FB249B8C6A36}" dt="2026-09-27T07:51:00.237" v="565" actId="14100"/>
      <pc:docMkLst>
        <pc:docMk/>
      </pc:docMkLst>
      <pc:sldChg chg="addSp delSp modSp mod">
        <pc:chgData name="ARYAN123 SAHU" userId="3dec31793afa8dc6" providerId="LiveId" clId="{5CEBEB97-9768-4C71-99BC-FB249B8C6A36}" dt="2026-09-26T15:44:32.476" v="564" actId="20577"/>
        <pc:sldMkLst>
          <pc:docMk/>
          <pc:sldMk cId="0" sldId="281"/>
        </pc:sldMkLst>
        <pc:spChg chg="add del">
          <ac:chgData name="ARYAN123 SAHU" userId="3dec31793afa8dc6" providerId="LiveId" clId="{5CEBEB97-9768-4C71-99BC-FB249B8C6A36}" dt="2026-09-26T13:43:11.384" v="287" actId="11529"/>
          <ac:spMkLst>
            <pc:docMk/>
            <pc:sldMk cId="0" sldId="281"/>
            <ac:spMk id="2" creationId="{EC672146-358B-1E25-A1D4-886291408F7A}"/>
          </ac:spMkLst>
        </pc:spChg>
        <pc:spChg chg="add del mod">
          <ac:chgData name="ARYAN123 SAHU" userId="3dec31793afa8dc6" providerId="LiveId" clId="{5CEBEB97-9768-4C71-99BC-FB249B8C6A36}" dt="2026-09-26T15:44:32.476" v="564" actId="20577"/>
          <ac:spMkLst>
            <pc:docMk/>
            <pc:sldMk cId="0" sldId="281"/>
            <ac:spMk id="3" creationId="{46D0E1B9-6A84-BA9C-A87B-74FF1721BAFE}"/>
          </ac:spMkLst>
        </pc:spChg>
        <pc:spChg chg="add del">
          <ac:chgData name="ARYAN123 SAHU" userId="3dec31793afa8dc6" providerId="LiveId" clId="{5CEBEB97-9768-4C71-99BC-FB249B8C6A36}" dt="2026-09-26T15:13:37.171" v="308" actId="11529"/>
          <ac:spMkLst>
            <pc:docMk/>
            <pc:sldMk cId="0" sldId="281"/>
            <ac:spMk id="4" creationId="{27C96C38-EE06-9E1A-9969-A102A09817E1}"/>
          </ac:spMkLst>
        </pc:spChg>
        <pc:spChg chg="add del mod">
          <ac:chgData name="ARYAN123 SAHU" userId="3dec31793afa8dc6" providerId="LiveId" clId="{5CEBEB97-9768-4C71-99BC-FB249B8C6A36}" dt="2026-09-26T15:14:30.580" v="316" actId="21"/>
          <ac:spMkLst>
            <pc:docMk/>
            <pc:sldMk cId="0" sldId="281"/>
            <ac:spMk id="5" creationId="{B6D50280-DA23-181C-6660-D91477480BCC}"/>
          </ac:spMkLst>
        </pc:spChg>
        <pc:spChg chg="add del">
          <ac:chgData name="ARYAN123 SAHU" userId="3dec31793afa8dc6" providerId="LiveId" clId="{5CEBEB97-9768-4C71-99BC-FB249B8C6A36}" dt="2026-09-26T15:14:25.554" v="314" actId="11529"/>
          <ac:spMkLst>
            <pc:docMk/>
            <pc:sldMk cId="0" sldId="281"/>
            <ac:spMk id="8" creationId="{65667EEB-B63B-5132-13F6-3C0C33EA7781}"/>
          </ac:spMkLst>
        </pc:spChg>
        <pc:spChg chg="add mod">
          <ac:chgData name="ARYAN123 SAHU" userId="3dec31793afa8dc6" providerId="LiveId" clId="{5CEBEB97-9768-4C71-99BC-FB249B8C6A36}" dt="2026-09-26T15:26:22.368" v="474" actId="207"/>
          <ac:spMkLst>
            <pc:docMk/>
            <pc:sldMk cId="0" sldId="281"/>
            <ac:spMk id="12" creationId="{4BE21E8C-12B1-11CD-33E8-71FF996AD98C}"/>
          </ac:spMkLst>
        </pc:spChg>
        <pc:spChg chg="add mod">
          <ac:chgData name="ARYAN123 SAHU" userId="3dec31793afa8dc6" providerId="LiveId" clId="{5CEBEB97-9768-4C71-99BC-FB249B8C6A36}" dt="2026-09-26T15:26:27.655" v="475" actId="207"/>
          <ac:spMkLst>
            <pc:docMk/>
            <pc:sldMk cId="0" sldId="281"/>
            <ac:spMk id="14" creationId="{0E28FC56-FB8D-85C4-AC7C-398B81C48EC2}"/>
          </ac:spMkLst>
        </pc:spChg>
        <pc:spChg chg="add del">
          <ac:chgData name="ARYAN123 SAHU" userId="3dec31793afa8dc6" providerId="LiveId" clId="{5CEBEB97-9768-4C71-99BC-FB249B8C6A36}" dt="2026-09-26T15:15:20.133" v="324" actId="11529"/>
          <ac:spMkLst>
            <pc:docMk/>
            <pc:sldMk cId="0" sldId="281"/>
            <ac:spMk id="15" creationId="{E06E2769-1D24-338D-0849-6986DEB22F34}"/>
          </ac:spMkLst>
        </pc:spChg>
        <pc:spChg chg="add mod">
          <ac:chgData name="ARYAN123 SAHU" userId="3dec31793afa8dc6" providerId="LiveId" clId="{5CEBEB97-9768-4C71-99BC-FB249B8C6A36}" dt="2026-09-26T15:28:33.758" v="497" actId="1076"/>
          <ac:spMkLst>
            <pc:docMk/>
            <pc:sldMk cId="0" sldId="281"/>
            <ac:spMk id="16" creationId="{60AAB1A7-E21D-E958-8562-E50040A5D015}"/>
          </ac:spMkLst>
        </pc:spChg>
        <pc:spChg chg="add mod">
          <ac:chgData name="ARYAN123 SAHU" userId="3dec31793afa8dc6" providerId="LiveId" clId="{5CEBEB97-9768-4C71-99BC-FB249B8C6A36}" dt="2026-09-26T15:28:37.554" v="498" actId="1076"/>
          <ac:spMkLst>
            <pc:docMk/>
            <pc:sldMk cId="0" sldId="281"/>
            <ac:spMk id="18" creationId="{D244A848-D5EB-6A1C-5108-76D0620D5839}"/>
          </ac:spMkLst>
        </pc:spChg>
        <pc:spChg chg="add mod">
          <ac:chgData name="ARYAN123 SAHU" userId="3dec31793afa8dc6" providerId="LiveId" clId="{5CEBEB97-9768-4C71-99BC-FB249B8C6A36}" dt="2026-09-26T15:28:40.700" v="499" actId="1076"/>
          <ac:spMkLst>
            <pc:docMk/>
            <pc:sldMk cId="0" sldId="281"/>
            <ac:spMk id="20" creationId="{FCDAB89E-44BA-B9D2-C2AF-2AE0AC55DCA1}"/>
          </ac:spMkLst>
        </pc:spChg>
        <pc:spChg chg="add del">
          <ac:chgData name="ARYAN123 SAHU" userId="3dec31793afa8dc6" providerId="LiveId" clId="{5CEBEB97-9768-4C71-99BC-FB249B8C6A36}" dt="2026-09-26T15:24:14.483" v="466" actId="11529"/>
          <ac:spMkLst>
            <pc:docMk/>
            <pc:sldMk cId="0" sldId="281"/>
            <ac:spMk id="21" creationId="{470C272D-4195-241D-A2D4-5223AFAF38C1}"/>
          </ac:spMkLst>
        </pc:spChg>
        <pc:spChg chg="add del">
          <ac:chgData name="ARYAN123 SAHU" userId="3dec31793afa8dc6" providerId="LiveId" clId="{5CEBEB97-9768-4C71-99BC-FB249B8C6A36}" dt="2026-09-26T15:24:52.957" v="468" actId="11529"/>
          <ac:spMkLst>
            <pc:docMk/>
            <pc:sldMk cId="0" sldId="281"/>
            <ac:spMk id="22" creationId="{9B2406BA-0961-FDB2-5FCB-B6C9A31E108F}"/>
          </ac:spMkLst>
        </pc:spChg>
        <pc:spChg chg="add mod">
          <ac:chgData name="ARYAN123 SAHU" userId="3dec31793afa8dc6" providerId="LiveId" clId="{5CEBEB97-9768-4C71-99BC-FB249B8C6A36}" dt="2026-09-26T15:28:54.749" v="500" actId="14100"/>
          <ac:spMkLst>
            <pc:docMk/>
            <pc:sldMk cId="0" sldId="281"/>
            <ac:spMk id="23" creationId="{EBF0EE69-72A6-9359-8950-4BB3A2307110}"/>
          </ac:spMkLst>
        </pc:spChg>
        <pc:spChg chg="add mod">
          <ac:chgData name="ARYAN123 SAHU" userId="3dec31793afa8dc6" providerId="LiveId" clId="{5CEBEB97-9768-4C71-99BC-FB249B8C6A36}" dt="2026-09-26T15:29:00.179" v="501" actId="1076"/>
          <ac:spMkLst>
            <pc:docMk/>
            <pc:sldMk cId="0" sldId="281"/>
            <ac:spMk id="24" creationId="{A7A7121F-3834-0B5F-2B5F-EE102B184FC1}"/>
          </ac:spMkLst>
        </pc:spChg>
        <pc:spChg chg="mod">
          <ac:chgData name="ARYAN123 SAHU" userId="3dec31793afa8dc6" providerId="LiveId" clId="{5CEBEB97-9768-4C71-99BC-FB249B8C6A36}" dt="2026-09-26T13:42:06.647" v="283" actId="255"/>
          <ac:spMkLst>
            <pc:docMk/>
            <pc:sldMk cId="0" sldId="281"/>
            <ac:spMk id="15361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3:42:28.486" v="285"/>
          <ac:spMkLst>
            <pc:docMk/>
            <pc:sldMk cId="0" sldId="281"/>
            <ac:spMk id="15362" creationId="{00000000-0000-0000-0000-000000000000}"/>
          </ac:spMkLst>
        </pc:spChg>
        <pc:picChg chg="mod">
          <ac:chgData name="ARYAN123 SAHU" userId="3dec31793afa8dc6" providerId="LiveId" clId="{5CEBEB97-9768-4C71-99BC-FB249B8C6A36}" dt="2026-09-26T15:28:11.471" v="496" actId="14100"/>
          <ac:picMkLst>
            <pc:docMk/>
            <pc:sldMk cId="0" sldId="281"/>
            <ac:picMk id="11" creationId="{00000000-0000-0000-0000-000000000000}"/>
          </ac:picMkLst>
        </pc:picChg>
        <pc:picChg chg="add del">
          <ac:chgData name="ARYAN123 SAHU" userId="3dec31793afa8dc6" providerId="LiveId" clId="{5CEBEB97-9768-4C71-99BC-FB249B8C6A36}" dt="2026-09-26T12:11:27.063" v="9" actId="478"/>
          <ac:picMkLst>
            <pc:docMk/>
            <pc:sldMk cId="0" sldId="281"/>
            <ac:picMk id="12" creationId="{2BE09C0F-617B-4B78-91E2-BA0CBC59A7AF}"/>
          </ac:picMkLst>
        </pc:picChg>
      </pc:sldChg>
      <pc:sldChg chg="addSp delSp">
        <pc:chgData name="ARYAN123 SAHU" userId="3dec31793afa8dc6" providerId="LiveId" clId="{5CEBEB97-9768-4C71-99BC-FB249B8C6A36}" dt="2026-09-26T12:11:30.609" v="10" actId="478"/>
        <pc:sldMkLst>
          <pc:docMk/>
          <pc:sldMk cId="0" sldId="290"/>
        </pc:sldMkLst>
        <pc:picChg chg="add del">
          <ac:chgData name="ARYAN123 SAHU" userId="3dec31793afa8dc6" providerId="LiveId" clId="{5CEBEB97-9768-4C71-99BC-FB249B8C6A36}" dt="2026-09-26T12:11:30.609" v="10" actId="478"/>
          <ac:picMkLst>
            <pc:docMk/>
            <pc:sldMk cId="0" sldId="290"/>
            <ac:picMk id="9" creationId="{0C916F30-8F55-484A-B509-A1A7E82E1DE4}"/>
          </ac:picMkLst>
        </pc:picChg>
      </pc:sldChg>
      <pc:sldChg chg="addSp delSp modSp mod">
        <pc:chgData name="ARYAN123 SAHU" userId="3dec31793afa8dc6" providerId="LiveId" clId="{5CEBEB97-9768-4C71-99BC-FB249B8C6A36}" dt="2026-09-27T07:51:00.237" v="565" actId="14100"/>
        <pc:sldMkLst>
          <pc:docMk/>
          <pc:sldMk cId="0" sldId="291"/>
        </pc:sldMkLst>
        <pc:spChg chg="add del mod">
          <ac:chgData name="ARYAN123 SAHU" userId="3dec31793afa8dc6" providerId="LiveId" clId="{5CEBEB97-9768-4C71-99BC-FB249B8C6A36}" dt="2026-09-26T13:12:49.734" v="272"/>
          <ac:spMkLst>
            <pc:docMk/>
            <pc:sldMk cId="0" sldId="291"/>
            <ac:spMk id="3" creationId="{D7190847-D28B-213C-0E0E-91CCC57108BD}"/>
          </ac:spMkLst>
        </pc:spChg>
        <pc:spChg chg="del mod">
          <ac:chgData name="ARYAN123 SAHU" userId="3dec31793afa8dc6" providerId="LiveId" clId="{5CEBEB97-9768-4C71-99BC-FB249B8C6A36}" dt="2026-09-26T13:11:46.517" v="261" actId="478"/>
          <ac:spMkLst>
            <pc:docMk/>
            <pc:sldMk cId="0" sldId="291"/>
            <ac:spMk id="4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2:46.808" v="270" actId="207"/>
          <ac:spMkLst>
            <pc:docMk/>
            <pc:sldMk cId="0" sldId="291"/>
            <ac:spMk id="8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0:42.762" v="256" actId="207"/>
          <ac:spMkLst>
            <pc:docMk/>
            <pc:sldMk cId="0" sldId="291"/>
            <ac:spMk id="10" creationId="{00000000-0000-0000-0000-000000000000}"/>
          </ac:spMkLst>
        </pc:spChg>
        <pc:picChg chg="mod">
          <ac:chgData name="ARYAN123 SAHU" userId="3dec31793afa8dc6" providerId="LiveId" clId="{5CEBEB97-9768-4C71-99BC-FB249B8C6A36}" dt="2026-09-27T07:51:00.237" v="565" actId="14100"/>
          <ac:picMkLst>
            <pc:docMk/>
            <pc:sldMk cId="0" sldId="291"/>
            <ac:picMk id="5" creationId="{9120848B-B2B4-45BE-A961-AEC0B06CF41B}"/>
          </ac:picMkLst>
        </pc:picChg>
        <pc:picChg chg="add del">
          <ac:chgData name="ARYAN123 SAHU" userId="3dec31793afa8dc6" providerId="LiveId" clId="{5CEBEB97-9768-4C71-99BC-FB249B8C6A36}" dt="2026-09-26T12:11:22.923" v="8" actId="478"/>
          <ac:picMkLst>
            <pc:docMk/>
            <pc:sldMk cId="0" sldId="291"/>
            <ac:picMk id="11" creationId="{F9FB5B73-D3AA-4E05-BE36-1752F7062681}"/>
          </ac:picMkLst>
        </pc:picChg>
      </pc:sldChg>
      <pc:sldChg chg="addSp delSp">
        <pc:chgData name="ARYAN123 SAHU" userId="3dec31793afa8dc6" providerId="LiveId" clId="{5CEBEB97-9768-4C71-99BC-FB249B8C6A36}" dt="2026-09-26T12:11:34.154" v="11" actId="478"/>
        <pc:sldMkLst>
          <pc:docMk/>
          <pc:sldMk cId="3753387913" sldId="293"/>
        </pc:sldMkLst>
        <pc:picChg chg="add del">
          <ac:chgData name="ARYAN123 SAHU" userId="3dec31793afa8dc6" providerId="LiveId" clId="{5CEBEB97-9768-4C71-99BC-FB249B8C6A36}" dt="2026-09-26T12:11:34.154" v="11" actId="478"/>
          <ac:picMkLst>
            <pc:docMk/>
            <pc:sldMk cId="3753387913" sldId="293"/>
            <ac:picMk id="9" creationId="{5DED807E-1EB1-4BF0-B896-7ABF0A786640}"/>
          </ac:picMkLst>
        </pc:picChg>
      </pc:sldChg>
      <pc:sldChg chg="delSp">
        <pc:chgData name="ARYAN123 SAHU" userId="3dec31793afa8dc6" providerId="LiveId" clId="{5CEBEB97-9768-4C71-99BC-FB249B8C6A36}" dt="2026-09-26T12:11:37.354" v="12" actId="478"/>
        <pc:sldMkLst>
          <pc:docMk/>
          <pc:sldMk cId="2997144140" sldId="294"/>
        </pc:sldMkLst>
        <pc:picChg chg="del">
          <ac:chgData name="ARYAN123 SAHU" userId="3dec31793afa8dc6" providerId="LiveId" clId="{5CEBEB97-9768-4C71-99BC-FB249B8C6A36}" dt="2026-09-26T12:11:37.354" v="12" actId="478"/>
          <ac:picMkLst>
            <pc:docMk/>
            <pc:sldMk cId="2997144140" sldId="294"/>
            <ac:picMk id="9" creationId="{380F3E00-5B46-42A0-A890-47AC05309301}"/>
          </ac:picMkLst>
        </pc:picChg>
      </pc:sldChg>
      <pc:sldChg chg="delSp">
        <pc:chgData name="ARYAN123 SAHU" userId="3dec31793afa8dc6" providerId="LiveId" clId="{5CEBEB97-9768-4C71-99BC-FB249B8C6A36}" dt="2026-09-26T12:11:40.760" v="13" actId="478"/>
        <pc:sldMkLst>
          <pc:docMk/>
          <pc:sldMk cId="3916788613" sldId="296"/>
        </pc:sldMkLst>
        <pc:picChg chg="del">
          <ac:chgData name="ARYAN123 SAHU" userId="3dec31793afa8dc6" providerId="LiveId" clId="{5CEBEB97-9768-4C71-99BC-FB249B8C6A36}" dt="2026-09-26T12:11:40.760" v="13" actId="478"/>
          <ac:picMkLst>
            <pc:docMk/>
            <pc:sldMk cId="3916788613" sldId="296"/>
            <ac:picMk id="11" creationId="{0B4E903E-6224-4327-84B7-A72A06F39DB4}"/>
          </ac:picMkLst>
        </pc:picChg>
      </pc:sldChg>
      <pc:sldChg chg="delSp modSp del mod">
        <pc:chgData name="ARYAN123 SAHU" userId="3dec31793afa8dc6" providerId="LiveId" clId="{5CEBEB97-9768-4C71-99BC-FB249B8C6A36}" dt="2026-09-26T12:12:30.076" v="32" actId="2696"/>
        <pc:sldMkLst>
          <pc:docMk/>
          <pc:sldMk cId="1588084416" sldId="297"/>
        </pc:sldMkLst>
        <pc:spChg chg="del">
          <ac:chgData name="ARYAN123 SAHU" userId="3dec31793afa8dc6" providerId="LiveId" clId="{5CEBEB97-9768-4C71-99BC-FB249B8C6A36}" dt="2026-09-26T12:11:55.988" v="17" actId="478"/>
          <ac:spMkLst>
            <pc:docMk/>
            <pc:sldMk cId="1588084416" sldId="297"/>
            <ac:spMk id="3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8.101" v="30" actId="478"/>
          <ac:spMkLst>
            <pc:docMk/>
            <pc:sldMk cId="1588084416" sldId="297"/>
            <ac:spMk id="4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0.044" v="19" actId="478"/>
          <ac:spMkLst>
            <pc:docMk/>
            <pc:sldMk cId="1588084416" sldId="297"/>
            <ac:spMk id="5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6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7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10" creationId="{AD4F69D3-EEB0-4C4C-9434-B9960FB5854C}"/>
          </ac:spMkLst>
        </pc:spChg>
        <pc:spChg chg="del mod">
          <ac:chgData name="ARYAN123 SAHU" userId="3dec31793afa8dc6" providerId="LiveId" clId="{5CEBEB97-9768-4C71-99BC-FB249B8C6A36}" dt="2026-09-26T12:11:53.991" v="16" actId="478"/>
          <ac:spMkLst>
            <pc:docMk/>
            <pc:sldMk cId="1588084416" sldId="297"/>
            <ac:spMk id="12" creationId="{00000000-0000-0000-0000-000000000000}"/>
          </ac:spMkLst>
        </pc:spChg>
        <pc:picChg chg="del">
          <ac:chgData name="ARYAN123 SAHU" userId="3dec31793afa8dc6" providerId="LiveId" clId="{5CEBEB97-9768-4C71-99BC-FB249B8C6A36}" dt="2026-09-26T12:12:23.224" v="31" actId="478"/>
          <ac:picMkLst>
            <pc:docMk/>
            <pc:sldMk cId="1588084416" sldId="297"/>
            <ac:picMk id="13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163" y="2255255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778208" y="189132"/>
            <a:ext cx="7043789" cy="930922"/>
          </a:xfrm>
        </p:spPr>
        <p:txBody>
          <a:bodyPr/>
          <a:lstStyle/>
          <a:p>
            <a:r>
              <a:rPr lang="en-IN" sz="4000" dirty="0">
                <a:solidFill>
                  <a:schemeClr val="accent1"/>
                </a:solidFill>
              </a:rPr>
              <a:t>SMART INDIA HACKATHON 2026</a:t>
            </a:r>
            <a:endParaRPr lang="en-IN" sz="4000" b="1" dirty="0">
              <a:solidFill>
                <a:schemeClr val="accent1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ID : </a:t>
            </a:r>
            <a:r>
              <a:rPr sz="1500" b="0">
                <a:solidFill>
                  <a:srgbClr val="00B050"/>
                </a:solidFill>
                <a:latin typeface="Arial"/>
              </a:rPr>
              <a:t>26017</a:t>
            </a:r>
            <a:endParaRPr lang="en-US" sz="1600" dirty="0"/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Title: </a:t>
            </a:r>
            <a:r>
              <a:rPr sz="1500" b="0">
                <a:solidFill>
                  <a:srgbClr val="00B050"/>
                </a:solidFill>
                <a:latin typeface="Arial"/>
              </a:rPr>
              <a:t>Predictive Analytics System for Early Detection of Land Acquisition Delays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Theme: </a:t>
            </a:r>
            <a:r>
              <a:rPr sz="1500" b="0">
                <a:solidFill>
                  <a:srgbClr val="00B050"/>
                </a:solidFill>
                <a:latin typeface="Arial"/>
              </a:rPr>
              <a:t>Smart Automation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PS Category: </a:t>
            </a:r>
            <a:r>
              <a:rPr sz="1500" b="0">
                <a:solidFill>
                  <a:srgbClr val="00B050"/>
                </a:solidFill>
                <a:latin typeface="Arial"/>
              </a:rPr>
              <a:t>Software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ID: </a:t>
            </a:r>
            <a:r>
              <a:rPr sz="1500" b="0">
                <a:solidFill>
                  <a:srgbClr val="00B050"/>
                </a:solidFill>
                <a:latin typeface="Arial"/>
              </a:rPr>
              <a:t>128333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Name: </a:t>
            </a:r>
            <a:r>
              <a:rPr sz="1500" b="0">
                <a:solidFill>
                  <a:srgbClr val="00B050"/>
                </a:solidFill>
                <a:latin typeface="Arial"/>
              </a:rPr>
              <a:t>FusionX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552" y="25024"/>
            <a:ext cx="1971536" cy="930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86526" y="80662"/>
            <a:ext cx="6251074" cy="1062337"/>
          </a:xfrm>
        </p:spPr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IDEA &amp; 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560" y="1500"/>
            <a:ext cx="1453376" cy="68625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38912" y="1051560"/>
            <a:ext cx="20116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PROBLEM EXISTING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38912" y="1371600"/>
            <a:ext cx="553212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₹4,000+ Cr Escrow Lockup : </a:t>
            </a:r>
            <a:r>
              <a:rPr sz="950">
                <a:solidFill>
                  <a:srgbClr val="1E293B"/>
                </a:solidFill>
                <a:latin typeface="Arial"/>
              </a:rPr>
              <a:t>Sub-judice compensation under Section 3H stalls critical national corridors for 1,200+ days.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Section 3D Statutory Lapse : </a:t>
            </a:r>
            <a:r>
              <a:rPr sz="950">
                <a:solidFill>
                  <a:srgbClr val="1E293B"/>
                </a:solidFill>
                <a:latin typeface="Arial"/>
              </a:rPr>
              <a:t>Section 3A notifications automatically lapse at Day 365 if environmental/revenue clearances stall.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Disconnected Land Silos : </a:t>
            </a:r>
            <a:r>
              <a:rPr sz="950">
                <a:solidFill>
                  <a:srgbClr val="1E293B"/>
                </a:solidFill>
                <a:latin typeface="Arial"/>
              </a:rPr>
              <a:t>Gazette notices, e-Courts stays, cadastral Khasra maps, and civil road works operate in blind silos.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38912" y="2834640"/>
            <a:ext cx="210312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38912" y="3154680"/>
            <a:ext cx="5532120" cy="144475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Decoupled Central DB (&lt;15ms) : </a:t>
            </a:r>
            <a:r>
              <a:rPr sz="950">
                <a:solidFill>
                  <a:srgbClr val="1E293B"/>
                </a:solidFill>
                <a:latin typeface="Arial"/>
              </a:rPr>
              <a:t>Pre-ingests 47 standardized statutory features across civil, revenue, and court databases.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Dual-Track Reality Engine : </a:t>
            </a:r>
            <a:r>
              <a:rPr sz="950">
                <a:solidFill>
                  <a:srgbClr val="1E293B"/>
                </a:solidFill>
                <a:latin typeface="Arial"/>
              </a:rPr>
              <a:t>Decouples physical civil road construction from court escrow disputes under Section 3D(2) vesting.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TreeSHAP Statutory XAI : </a:t>
            </a:r>
            <a:r>
              <a:rPr sz="950">
                <a:solidFill>
                  <a:srgbClr val="1E293B"/>
                </a:solidFill>
                <a:latin typeface="Arial"/>
              </a:rPr>
              <a:t>Quantifies exact additive day delays per bottleneck and automates pre-drafted DFA legal notices.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38912" y="4681728"/>
            <a:ext cx="29260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UVP (UNIQUE VALUE PROPOSITION)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38912" y="5001768"/>
            <a:ext cx="553212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Constitutional HITL (Arts. 77 &amp; 166) : </a:t>
            </a:r>
            <a:r>
              <a:rPr sz="950">
                <a:solidFill>
                  <a:srgbClr val="1E293B"/>
                </a:solidFill>
                <a:latin typeface="Arial"/>
              </a:rPr>
              <a:t>Strict human-in-the-loop governance; zero auto-execution without Aadhaar DSC e-Sign.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340.8 km Interactive RoW GIS : </a:t>
            </a:r>
            <a:r>
              <a:rPr sz="950">
                <a:solidFill>
                  <a:srgbClr val="1E293B"/>
                </a:solidFill>
                <a:latin typeface="Arial"/>
              </a:rPr>
              <a:t>Hierarchical drill-down: Macro Alignment ➔ 8 Packages ➔ 156 Villages ➔ Khasra Plots.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SHA-256 Tamper-Proof Audit : </a:t>
            </a:r>
            <a:r>
              <a:rPr sz="950">
                <a:solidFill>
                  <a:srgbClr val="1E293B"/>
                </a:solidFill>
                <a:latin typeface="Arial"/>
              </a:rPr>
              <a:t>Cryptographic block hashing permanently seals all risk scores and SOP orders for CAG/CVC scrutiny.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126480" y="1051560"/>
            <a:ext cx="5669280" cy="2697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6126480" y="10972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GATISHAKTI AI End-to-end workflow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263640" y="1417320"/>
            <a:ext cx="960120" cy="365760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880E4F"/>
                </a:solidFill>
              </a:defRPr>
            </a:pPr>
            <a:r>
              <a:t>Start Ingestion</a:t>
            </a:r>
          </a:p>
        </p:txBody>
      </p:sp>
      <p:sp>
        <p:nvSpPr>
          <p:cNvPr id="15371" name="Right Arrow 15370"/>
          <p:cNvSpPr/>
          <p:nvPr/>
        </p:nvSpPr>
        <p:spPr>
          <a:xfrm>
            <a:off x="729691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7543800" y="1389888"/>
            <a:ext cx="1691640" cy="420624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5D4037"/>
                </a:solidFill>
              </a:defRPr>
            </a:pPr>
            <a:r>
              <a:t>Multi-Modal Ingestion</a:t>
            </a:r>
            <a:br/>
            <a:r>
              <a:t>(Gazette, e-Courts, Revenue)</a:t>
            </a:r>
          </a:p>
        </p:txBody>
      </p:sp>
      <p:sp>
        <p:nvSpPr>
          <p:cNvPr id="15373" name="Right Arrow 15372"/>
          <p:cNvSpPr/>
          <p:nvPr/>
        </p:nvSpPr>
        <p:spPr>
          <a:xfrm>
            <a:off x="930859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9555480" y="1389888"/>
            <a:ext cx="1600200" cy="420624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E2723"/>
                </a:solidFill>
              </a:defRPr>
            </a:pPr>
            <a:r>
              <a:t>Decoupled Central DB</a:t>
            </a:r>
            <a:br/>
            <a:r>
              <a:t>(47 Standardized Features)</a:t>
            </a:r>
          </a:p>
        </p:txBody>
      </p:sp>
      <p:sp>
        <p:nvSpPr>
          <p:cNvPr id="15375" name="Down Arrow 15374"/>
          <p:cNvSpPr/>
          <p:nvPr/>
        </p:nvSpPr>
        <p:spPr>
          <a:xfrm>
            <a:off x="10287000" y="1847088"/>
            <a:ext cx="128016" cy="164592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9400032" y="2048256"/>
            <a:ext cx="1828800" cy="402336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3E2723"/>
                </a:solidFill>
              </a:defRPr>
            </a:pPr>
            <a:r>
              <a:t>LightGBM + XGBoost Regressor</a:t>
            </a:r>
            <a:br/>
            <a:r>
              <a:t>(Predicts Residual Delay Days)</a:t>
            </a:r>
          </a:p>
        </p:txBody>
      </p:sp>
      <p:sp>
        <p:nvSpPr>
          <p:cNvPr id="15377" name="Left Arrow 15376"/>
          <p:cNvSpPr/>
          <p:nvPr/>
        </p:nvSpPr>
        <p:spPr>
          <a:xfrm>
            <a:off x="9162288" y="2176272"/>
            <a:ext cx="182880" cy="128016"/>
          </a:xfrm>
          <a:prstGeom prst="lef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Diamond 15377"/>
          <p:cNvSpPr/>
          <p:nvPr/>
        </p:nvSpPr>
        <p:spPr>
          <a:xfrm>
            <a:off x="7818120" y="1920240"/>
            <a:ext cx="1280160" cy="658368"/>
          </a:xfrm>
          <a:prstGeom prst="diamond">
            <a:avLst/>
          </a:prstGeom>
          <a:solidFill>
            <a:srgbClr val="1565C0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Delay Risk</a:t>
            </a:r>
            <a:br/>
            <a:r>
              <a:t>&gt; 60 Days?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452360" y="199339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2E7D32"/>
                </a:solidFill>
              </a:defRPr>
            </a:pPr>
            <a:r>
              <a:t>No</a:t>
            </a:r>
          </a:p>
        </p:txBody>
      </p:sp>
      <p:sp>
        <p:nvSpPr>
          <p:cNvPr id="15380" name="Left Arrow 15379"/>
          <p:cNvSpPr/>
          <p:nvPr/>
        </p:nvSpPr>
        <p:spPr>
          <a:xfrm>
            <a:off x="7589520" y="2176272"/>
            <a:ext cx="182880" cy="128016"/>
          </a:xfrm>
          <a:prstGeom prst="leftArrow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Rounded Rectangle 15380"/>
          <p:cNvSpPr/>
          <p:nvPr/>
        </p:nvSpPr>
        <p:spPr>
          <a:xfrm>
            <a:off x="6263640" y="2048256"/>
            <a:ext cx="1280160" cy="402336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1B5E20"/>
                </a:solidFill>
              </a:defRPr>
            </a:pPr>
            <a:r>
              <a:t>Fast-Track Notice</a:t>
            </a:r>
            <a:br/>
            <a:r>
              <a:t>(Sec 3A ➔ 3D)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8485632" y="2468880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E65100"/>
                </a:solidFill>
              </a:defRPr>
            </a:pPr>
            <a:r>
              <a:t>Yes</a:t>
            </a:r>
          </a:p>
        </p:txBody>
      </p:sp>
      <p:sp>
        <p:nvSpPr>
          <p:cNvPr id="15383" name="Down Arrow 15382"/>
          <p:cNvSpPr/>
          <p:nvPr/>
        </p:nvSpPr>
        <p:spPr>
          <a:xfrm>
            <a:off x="8394192" y="2615184"/>
            <a:ext cx="128016" cy="164592"/>
          </a:xfrm>
          <a:prstGeom prst="downArrow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6263640" y="2816352"/>
            <a:ext cx="1719072" cy="420624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BF360C"/>
                </a:solidFill>
              </a:defRPr>
            </a:pPr>
            <a:r>
              <a:t>TreeSHAP Attribution</a:t>
            </a:r>
            <a:br/>
            <a:r>
              <a:t>+ Automated Legal DFA SOP</a:t>
            </a:r>
          </a:p>
        </p:txBody>
      </p:sp>
      <p:sp>
        <p:nvSpPr>
          <p:cNvPr id="15385" name="Right Arrow 15384"/>
          <p:cNvSpPr/>
          <p:nvPr/>
        </p:nvSpPr>
        <p:spPr>
          <a:xfrm>
            <a:off x="8046720" y="2962656"/>
            <a:ext cx="182880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6" name="Rounded Rectangle 15385"/>
          <p:cNvSpPr/>
          <p:nvPr/>
        </p:nvSpPr>
        <p:spPr>
          <a:xfrm>
            <a:off x="8275320" y="2816352"/>
            <a:ext cx="1783080" cy="420624"/>
          </a:xfrm>
          <a:prstGeom prst="roundRect">
            <a:avLst/>
          </a:prstGeom>
          <a:solidFill>
            <a:srgbClr val="FFECB3"/>
          </a:solidFill>
          <a:ln w="127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4E342E"/>
                </a:solidFill>
              </a:defRPr>
            </a:pPr>
            <a:r>
              <a:t>Officer HITL Review</a:t>
            </a:r>
            <a:br/>
            <a:r>
              <a:t>+ Aadhaar DSC e-Sign</a:t>
            </a:r>
          </a:p>
        </p:txBody>
      </p:sp>
      <p:sp>
        <p:nvSpPr>
          <p:cNvPr id="15387" name="Right Arrow 15386"/>
          <p:cNvSpPr/>
          <p:nvPr/>
        </p:nvSpPr>
        <p:spPr>
          <a:xfrm>
            <a:off x="10113264" y="2962656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10332720" y="2816352"/>
            <a:ext cx="1325880" cy="420624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880E4F"/>
                </a:solidFill>
              </a:defRPr>
            </a:pPr>
            <a:r>
              <a:t>CAG-Ready</a:t>
            </a:r>
            <a:br/>
            <a:r>
              <a:t>SHA-256 Ledger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7589520" y="3858768"/>
            <a:ext cx="2743200" cy="310896"/>
          </a:xfrm>
          <a:prstGeom prst="roundRect">
            <a:avLst/>
          </a:prstGeom>
          <a:solidFill>
            <a:srgbClr val="4B6F44"/>
          </a:solidFill>
          <a:ln>
            <a:solidFill>
              <a:srgbClr val="385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Innovation and Uniqueness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6126480" y="4224528"/>
            <a:ext cx="1051560" cy="2194560"/>
          </a:xfrm>
          <a:prstGeom prst="roundRect">
            <a:avLst/>
          </a:prstGeom>
          <a:solidFill>
            <a:srgbClr val="A8443C"/>
          </a:solidFill>
          <a:ln w="1905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Decoupled DB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[&lt;15ms Direct Query]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Direct normalized cache of 47 statutory attributes eliminates slow manual OCR bottlenecks.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6199632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8443C"/>
                </a:solidFill>
                <a:latin typeface="Arial"/>
              </a:defRPr>
            </a:pPr>
            <a:r>
              <a:t>⚡ Fast Cache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7278624" y="4224528"/>
            <a:ext cx="1051560" cy="2194560"/>
          </a:xfrm>
          <a:prstGeom prst="roundRect">
            <a:avLst/>
          </a:prstGeom>
          <a:solidFill>
            <a:srgbClr val="A66B24"/>
          </a:solidFill>
          <a:ln w="1905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Dual-Track ML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[Civil vs Legal]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Decouples active physical road works from sub-judice court disputes under Sec 3D(2) vesting.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351776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66B24"/>
                </a:solidFill>
                <a:latin typeface="Arial"/>
              </a:defRPr>
            </a:pPr>
            <a:r>
              <a:t>⚖️ Sec 3D(2)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8430768" y="4224528"/>
            <a:ext cx="1051560" cy="2194560"/>
          </a:xfrm>
          <a:prstGeom prst="roundRect">
            <a:avLst/>
          </a:prstGeom>
          <a:solidFill>
            <a:srgbClr val="767E34"/>
          </a:solidFill>
          <a:ln w="1905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TreeSHAP XAI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[Statutory Attribution]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Quantifies exact additive day delays per bottleneck and automates pre-drafted legal DFA SOPs.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503920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767E34"/>
                </a:solidFill>
                <a:latin typeface="Arial"/>
              </a:defRPr>
            </a:pPr>
            <a:r>
              <a:t>🔍 Factor XAI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9582912" y="4224528"/>
            <a:ext cx="1051560" cy="2194560"/>
          </a:xfrm>
          <a:prstGeom prst="roundRect">
            <a:avLst/>
          </a:prstGeom>
          <a:solidFill>
            <a:srgbClr val="C45537"/>
          </a:solidFill>
          <a:ln w="1905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340.8km GIS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[Corridor Telemetry]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Hierarchical drill-down: 8 Packages, 156 Villages, and Khasra plots with chainage telemetry.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9656064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5537"/>
                </a:solidFill>
                <a:latin typeface="Arial"/>
              </a:defRPr>
            </a:pPr>
            <a:r>
              <a:t>🗺️ RoW GIS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10735056" y="4224528"/>
            <a:ext cx="1051560" cy="2194560"/>
          </a:xfrm>
          <a:prstGeom prst="roundRect">
            <a:avLst/>
          </a:prstGeom>
          <a:solidFill>
            <a:srgbClr val="546E7A"/>
          </a:solidFill>
          <a:ln w="1905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Const. HITL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[Arts. 77 &amp; 166]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Aadhaar DSC e-Sign validation with immutable SHA-256 cryptographic audit trails for CAG.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10808208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546E7A"/>
                </a:solidFill>
                <a:latin typeface="Arial"/>
              </a:defRPr>
            </a:pPr>
            <a:r>
              <a:t>🛡️ SHA-256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TECHNICAL APPROACH: DECOUPLED ML &amp; STATUTORY XAI STACK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Core Technology Stack &amp; Libraries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Machine Learning &amp; XAI Core: </a:t>
            </a:r>
            <a:r>
              <a:rPr sz="850">
                <a:solidFill>
                  <a:srgbClr val="1E293B"/>
                </a:solidFill>
                <a:latin typeface="Arial"/>
              </a:rPr>
              <a:t>XGBoost 2.1 &amp; LightGBM Ensemble (Gradient Boosted Trees), TreeSHAP (Marginal Attribution), Scikit-Learn (Pipelines, RobustScaler, Imputer), Lifelines (Kaplan-Meier Survival Analysis).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Geospatial &amp; Mapping (Point 7): </a:t>
            </a:r>
            <a:r>
              <a:rPr sz="850">
                <a:solidFill>
                  <a:srgbClr val="1E293B"/>
                </a:solidFill>
                <a:latin typeface="Arial"/>
              </a:rPr>
              <a:t>Leaflet.js, React-Leaflet, GeoJSON standard, WGS84 EPSG:4326 Datum, CartoDB Voyager tiles, Turf.js for spatial intersection calculations.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High-Performance Backend (Point 11): </a:t>
            </a:r>
            <a:r>
              <a:rPr sz="850">
                <a:solidFill>
                  <a:srgbClr val="1E293B"/>
                </a:solidFill>
                <a:latin typeface="Arial"/>
              </a:rPr>
              <a:t>Python 3.13, FastAPI (Asynchronous ASGI server), Pydantic v2 (Strict Schema Validation), SQLite / PostgreSQL-Ready Central DB, RESTful Integration Gateway.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Frontend &amp; Interactive Analytics: </a:t>
            </a:r>
            <a:r>
              <a:rPr sz="850">
                <a:solidFill>
                  <a:srgbClr val="1E293B"/>
                </a:solidFill>
                <a:latin typeface="Arial"/>
              </a:rPr>
              <a:t>React 19, Vite 6, Tailwind CSS v3, Apache ECharts (Dynamic comparative dual-track &amp; survival charts), Lucide React Vector Icons.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Statutory Audit &amp; e-Sign (Point 12): </a:t>
            </a:r>
            <a:r>
              <a:rPr sz="850">
                <a:solidFill>
                  <a:srgbClr val="1E293B"/>
                </a:solidFill>
                <a:latin typeface="Arial"/>
              </a:rPr>
              <a:t>SHA-256 Cryptographic Hash Engine, NIC Jan-Parichay / Aadhaar e-Authentication Bridge, Class-3 Digital Signature Certificate (DSC) Stamping.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End-to-End Implementation Workflow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1: Multi-Modal Ingestion &amp; Normalization
</a:t>
            </a:r>
            <a:r>
              <a:rPr sz="850">
                <a:solidFill>
                  <a:srgbClr val="1E293B"/>
                </a:solidFill>
                <a:latin typeface="Arial"/>
              </a:rPr>
              <a:t>   Central DB pre-extracts 47 statutory attributes across land, legal, and engineering categories. Maps regional variations (Khasra, Jamabandi, 7/12) into standard NH Act stages.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2: Dual Ensemble Model Inference (&lt;100ms)
</a:t>
            </a:r>
            <a:r>
              <a:rPr sz="850">
                <a:solidFill>
                  <a:srgbClr val="1E293B"/>
                </a:solidFill>
                <a:latin typeface="Arial"/>
              </a:rPr>
              <a:t>   LightGBM + XGBoost regressors predict residual delay days (R²=0.89, RMSE=14.2d); classification head stratifies corridor risk into Critical (&gt;90d), Moderate (30-90d), and Low (&lt;30d).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3: TreeSHAP Marginal Factor Attribution
</a:t>
            </a:r>
            <a:r>
              <a:rPr sz="850">
                <a:solidFill>
                  <a:srgbClr val="1E293B"/>
                </a:solidFill>
                <a:latin typeface="Arial"/>
              </a:rPr>
              <a:t>   Computes exact additive day impacts for each feature (court stays, compensation lag, missing deeds, environmental clearances) relative to base expected horizon (70.0d).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4: Geospatial Alignment &amp; Package Stratification
</a:t>
            </a:r>
            <a:r>
              <a:rPr sz="850">
                <a:solidFill>
                  <a:srgbClr val="1E293B"/>
                </a:solidFill>
                <a:latin typeface="Arial"/>
              </a:rPr>
              <a:t>   Aligns 340.8 km Purvanchal corridor into 8 construction packages and 18 RoW cadastral strips, rendering interactive choropleth maps and ECharts package delay breakdowns.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Step 5: Prescriptive SOP Orders &amp; e-Sign Execution
</a:t>
            </a:r>
            <a:r>
              <a:rPr sz="850">
                <a:solidFill>
                  <a:srgbClr val="1E293B"/>
                </a:solidFill>
                <a:latin typeface="Arial"/>
              </a:rPr>
              <a:t>   Translates model attributions into pre-drafted Drafts for Approval (DFA) under NH Act § 3D, § 3G, § 3H; enables 1-click Aadhaar DSC e-signing and SHA-256 audit ledger commitment.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71500" y="-47626"/>
            <a:ext cx="11010900" cy="1171575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FEASIBILITY AND VIABILITY: REGULATORY COMPLIANCE &amp; RIGOR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Feasibility Analysis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Technical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Decoupled Central DB eliminates slow OCR parsing; queries execute in &lt;15ms. Low-overhead CPU-optimized models run without requiring expensive GPU clusters.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Operational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Plug-and-play REST API Gateway (Point 11) integrates seamlessly into existing NIC systems (Bhoomi Rashi, PM GatiShakti NMP, PRAGATI portal).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Financial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Built on 100% open-source software with zero proprietary recurring per-seat licensing fees, making national deployment highly cost-effective.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2. Challenges &amp; Statutory Risks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State Revenue Nomenclature:
</a:t>
            </a:r>
            <a:r>
              <a:rPr sz="850">
                <a:solidFill>
                  <a:srgbClr val="475569"/>
                </a:solidFill>
                <a:latin typeface="Arial"/>
              </a:rPr>
              <a:t>  Diverse land record formats across Indian states (Khasra/Khatauni in UP, Jamabandi in Punjab, 7/12 in Maharashtra) create integration friction.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Sub-Judice Legal Stays:
</a:t>
            </a:r>
            <a:r>
              <a:rPr sz="850">
                <a:solidFill>
                  <a:srgbClr val="475569"/>
                </a:solidFill>
                <a:latin typeface="Arial"/>
              </a:rPr>
              <a:t>  Judicial stays under Section 3H escrow often remain stalled indefinitely in district courts without transparent tracking.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Bureaucratic Adoption Resistance:
</a:t>
            </a:r>
            <a:r>
              <a:rPr sz="850">
                <a:solidFill>
                  <a:srgbClr val="475569"/>
                </a:solidFill>
                <a:latin typeface="Arial"/>
              </a:rPr>
              <a:t>  Field revenue officers (CALA, Tehsildars) are cautious of black-box AI algorithms that fail to cite statutory legal provisions.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3. Robust Mitigation Strategies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Universal Ontological Harmonizer:
</a:t>
            </a:r>
            <a:r>
              <a:rPr sz="850">
                <a:solidFill>
                  <a:srgbClr val="475569"/>
                </a:solidFill>
                <a:latin typeface="Arial"/>
              </a:rPr>
              <a:t>  Built-in semantic dictionary maps all state-specific revenue nomenclature into standard NH Act statutory milestone stages.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Section 3D(2) Vesting Separation:
</a:t>
            </a:r>
            <a:r>
              <a:rPr sz="850">
                <a:solidFill>
                  <a:srgbClr val="475569"/>
                </a:solidFill>
                <a:latin typeface="Arial"/>
              </a:rPr>
              <a:t>  Decouples physical civil works from court escrow disputes; carriageway works continue while compensation is adjudicated in court.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Explainable AI with Nodal Agency:
</a:t>
            </a:r>
            <a:r>
              <a:rPr sz="850">
                <a:solidFill>
                  <a:srgbClr val="475569"/>
                </a:solidFill>
                <a:latin typeface="Arial"/>
              </a:rPr>
              <a:t>  TreeSHAP explains exact reasons for delay, empowering the officer with full statutory authority via official digital signature (e-Sign).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IMPACT AND BENEFITS: ACCELERATING NATIONAL INFRASTRUCTURE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Impact Across Key Target Stakeholders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NHAI Project Directors (PDs):
</a:t>
            </a:r>
            <a:r>
              <a:rPr sz="850">
                <a:solidFill>
                  <a:srgbClr val="1E293B"/>
                </a:solidFill>
                <a:latin typeface="Arial"/>
              </a:rPr>
              <a:t>  Eliminates contractor idling compensation claims (saving ₹4.5 Lakh/day per package) by re-sequencing earthwork machinery to 100% encumbrance-free stretches.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Competent Authority for Land Acquisition (CALA):
</a:t>
            </a:r>
            <a:r>
              <a:rPr sz="850">
                <a:solidFill>
                  <a:srgbClr val="1E293B"/>
                </a:solidFill>
                <a:latin typeface="Arial"/>
              </a:rPr>
              <a:t>  Autonomous 310-day statutory countdown watchdog prevents Section 3A notifications from lapsing under Section 3D(1); generates instant Section 3G awards.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Ministry of Road Transport (MoRTH) &amp; NPG:
</a:t>
            </a:r>
            <a:r>
              <a:rPr sz="850">
                <a:solidFill>
                  <a:srgbClr val="1E293B"/>
                </a:solidFill>
                <a:latin typeface="Arial"/>
              </a:rPr>
              <a:t>  Gives executive leadership real-time visibility across national highway corridors for unified Cabinet notes, inter-ministerial forest clearances, and utility shifting funds.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Project Affected Families (Farmers &amp; Landowners):
</a:t>
            </a:r>
            <a:r>
              <a:rPr sz="850">
                <a:solidFill>
                  <a:srgbClr val="1E293B"/>
                </a:solidFill>
                <a:latin typeface="Arial"/>
              </a:rPr>
              <a:t>  Accelerates fair compensation payouts by 40% through direct PFMS bank transfer linkages; automates amicable village mutation dispute resolution camps.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Quantified National Economic &amp; Governance Value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₹4,000+ Crore Escrow Unlocked:
</a:t>
            </a:r>
            <a:r>
              <a:rPr sz="850">
                <a:solidFill>
                  <a:srgbClr val="1E293B"/>
                </a:solidFill>
                <a:latin typeface="Arial"/>
              </a:rPr>
              <a:t>  Unlocks billions in stalled court escrow funds across national corridors, permanently terminating the accrual of 9% to 15% statutory penal interest under Section 34 of RFCTLARR Act 2013.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35% to 45% Timeline Compression:
</a:t>
            </a:r>
            <a:r>
              <a:rPr sz="850">
                <a:solidFill>
                  <a:srgbClr val="1E293B"/>
                </a:solidFill>
                <a:latin typeface="Arial"/>
              </a:rPr>
              <a:t>  Reduces average statutory land acquisition lifecycle from 32 months down to 18–22 months, directly preventing costly EPC highway contractor delay claims.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CVC &amp; CAG Compliant Governance:
</a:t>
            </a:r>
            <a:r>
              <a:rPr sz="850">
                <a:solidFill>
                  <a:srgbClr val="1E293B"/>
                </a:solidFill>
                <a:latin typeface="Arial"/>
              </a:rPr>
              <a:t>  Cryptographic SHA-256 block hashing permanently seals every administrative decision, compensation release, and stay filing into an immutable, tamper-evident audit ledger.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Zero-Click Autonomous Alerts (Point 8):
</a:t>
            </a:r>
            <a:r>
              <a:rPr sz="850">
                <a:solidFill>
                  <a:srgbClr val="1E293B"/>
                </a:solidFill>
                <a:latin typeface="Arial"/>
              </a:rPr>
              <a:t>  Backend statutory watchdog monitors project milestones 24/7 without human intervention, automatically dispatching SMS and official email alerts to nodal officers.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4852" y="-95250"/>
            <a:ext cx="8496300" cy="1143000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RESEARCH AND REFERENCES: STATUTORY &amp; DATA CITATIONS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Statutory &amp; Legal Authorities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National Highways Act, 1956:
</a:t>
            </a:r>
            <a:r>
              <a:rPr sz="850">
                <a:solidFill>
                  <a:srgbClr val="475569"/>
                </a:solidFill>
                <a:latin typeface="Arial"/>
              </a:rPr>
              <a:t>  Act No. 48 of 1956: Sections 3A (Preliminary Notification), 3B (Survey Demarcation), 3C (Objections), 3D (Declaration &amp; Absolute Vesting), 3G (Award Determination), 3H (Deposit &amp; Disbursement).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RFCTLARR Act, 2013:
</a:t>
            </a:r>
            <a:r>
              <a:rPr sz="850">
                <a:solidFill>
                  <a:srgbClr val="475569"/>
                </a:solidFill>
                <a:latin typeface="Arial"/>
              </a:rPr>
              <a:t>  Right to Fair Compensation &amp; Transparency in Land Acquisition, Rehabilitation and Resettlement Act: First Schedule multipliers, Second Schedule R&amp;R, Section 34 penal interest mandates.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PM GatiShakti National Master Plan:
</a:t>
            </a:r>
            <a:r>
              <a:rPr sz="850">
                <a:solidFill>
                  <a:srgbClr val="475569"/>
                </a:solidFill>
                <a:latin typeface="Arial"/>
              </a:rPr>
              <a:t>  Cabinet Secretariat &amp; DPIIT (2021) guidelines for synchronized institutional planning, multi-modal infrastructure data layer, and inter-ministerial clearance coordination.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2. Technical &amp; AI Research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Lundberg &amp; Lee (NeurIPS 2017):
</a:t>
            </a:r>
            <a:r>
              <a:rPr sz="850">
                <a:solidFill>
                  <a:srgbClr val="475569"/>
                </a:solidFill>
                <a:latin typeface="Arial"/>
              </a:rPr>
              <a:t>  A Unified Approach to Interpreting Model Predictions: TreeSHAP algorithm providing local, game-theoretically optimal marginal feature attributions for ensemble models.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Chen &amp; Guestrin (KDD 2016):
</a:t>
            </a:r>
            <a:r>
              <a:rPr sz="850">
                <a:solidFill>
                  <a:srgbClr val="475569"/>
                </a:solidFill>
                <a:latin typeface="Arial"/>
              </a:rPr>
              <a:t>  XGBoost: A Scalable Tree Boosting System: High-efficiency gradient boosted decision tree implementation for structured tabular revenue data.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Kaplan &amp; Meier (JASA 1958):
</a:t>
            </a:r>
            <a:r>
              <a:rPr sz="850">
                <a:solidFill>
                  <a:srgbClr val="475569"/>
                </a:solidFill>
                <a:latin typeface="Arial"/>
              </a:rPr>
              <a:t>  Nonparametric estimation from incomplete observations: Survival analysis for statutory liquidation horizons and legal dispute resolution hazard curves.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NHAI / MoRTH Official Data:
</a:t>
            </a:r>
            <a:r>
              <a:rPr sz="850">
                <a:solidFill>
                  <a:srgbClr val="475569"/>
                </a:solidFill>
                <a:latin typeface="Arial"/>
              </a:rPr>
              <a:t>  Infrastructure Project Monitoring Division (IPMD) delay benchmarks and CAG Performance Audit Reports on National Highway Land Acquisition.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1A365D"/>
                </a:solidFill>
                <a:latin typeface="Arial"/>
              </a:rPr>
              <a:t>3. Prototype &amp; Deployment Links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GitHub Source Code Repository:
</a:t>
            </a:r>
            <a:r>
              <a:rPr sz="850">
                <a:solidFill>
                  <a:srgbClr val="475569"/>
                </a:solidFill>
                <a:latin typeface="Arial"/>
              </a:rPr>
              <a:t>  Complete open repository with decoupled ML inference, ETL pipeline, and React frontend:
https://github.com/AryanSahu321/Land_Aquisition_Delay_pridictor.git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RESTful API Gateway (Point 11):
</a:t>
            </a:r>
            <a:r>
              <a:rPr sz="850">
                <a:solidFill>
                  <a:srgbClr val="475569"/>
                </a:solidFill>
                <a:latin typeface="Arial"/>
              </a:rPr>
              <a:t>  Publicly accessible endpoints for government &amp; developer integrations:
• /api/v1/projects/parse-and-predict
• /api/v1/projects/search-options
• /api/v1/corridor/geojson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Interactive Live Modules:
</a:t>
            </a:r>
            <a:r>
              <a:rPr sz="850">
                <a:solidFill>
                  <a:srgbClr val="475569"/>
                </a:solidFill>
                <a:latin typeface="Arial"/>
              </a:rPr>
              <a:t>  • All-in-One Dashboard (7 Stacked Cards)
• Purvanchal 340.8 km GIS Corridor (Point 7)
• 4-Tier Statutory Role RBAC &amp; e-Sign (Points 8, 9, 12)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176</Words>
  <Application>Microsoft Office PowerPoint</Application>
  <PresentationFormat>Widescreen</PresentationFormat>
  <Paragraphs>40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RAKSHASCAN AI Border Identity Screening 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ARYAN123 SAHU</cp:lastModifiedBy>
  <cp:revision>151</cp:revision>
  <dcterms:created xsi:type="dcterms:W3CDTF">2013-12-12T18:46:50Z</dcterms:created>
  <dcterms:modified xsi:type="dcterms:W3CDTF">2026-09-27T07:51:10Z</dcterms:modified>
  <cp:category/>
</cp:coreProperties>
</file>